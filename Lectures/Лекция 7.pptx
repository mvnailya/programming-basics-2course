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50"/>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05" r:id="rId44"/>
    <p:sldId id="299" r:id="rId45"/>
    <p:sldId id="300" r:id="rId46"/>
    <p:sldId id="301" r:id="rId47"/>
    <p:sldId id="302" r:id="rId48"/>
    <p:sldId id="303" r:id="rId4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1895" autoAdjust="0"/>
  </p:normalViewPr>
  <p:slideViewPr>
    <p:cSldViewPr snapToGrid="0">
      <p:cViewPr varScale="1">
        <p:scale>
          <a:sx n="42" d="100"/>
          <a:sy n="42" d="100"/>
        </p:scale>
        <p:origin x="222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EB6EA5-BBE7-43BF-8BFD-25EDB7B77679}"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453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Задача: хранить оценки группы и обработать их одним алгоритмом.</a:t>
            </a:r>
          </a:p>
          <a:p>
            <a:r>
              <a:t>Отдельная переменная для каждого студента усложняет обработку.</a:t>
            </a:r>
          </a:p>
          <a:p>
            <a:endParaRPr/>
          </a:p>
          <a:p>
            <a:r>
              <a:t>int mark1 = 4;</a:t>
            </a:r>
          </a:p>
          <a:p>
            <a:r>
              <a:t>int mark2 = 5;</a:t>
            </a:r>
          </a:p>
          <a:p>
            <a:r>
              <a:t>int mark3 = 3;</a:t>
            </a:r>
          </a:p>
          <a:p>
            <a:endParaRPr/>
          </a:p>
          <a:p>
            <a:r>
              <a:t>int[] marks = { 4, 5, 3 };</a:t>
            </a:r>
          </a:p>
          <a:p>
            <a:endParaRPr/>
          </a:p>
          <a:p>
            <a:r>
              <a:t>for (int i = 0; i &lt; marks.Length; i++)</a:t>
            </a:r>
          </a:p>
          <a:p>
            <a:r>
              <a:t>{</a:t>
            </a:r>
          </a:p>
          <a:p>
            <a:r>
              <a:t>    Console.WriteLine(marks[i]);</a:t>
            </a:r>
          </a:p>
          <a:p>
            <a:r>
              <a:t>}</a:t>
            </a:r>
          </a:p>
          <a:p>
            <a:endParaRPr/>
          </a:p>
          <a:p>
            <a:r>
              <a:t>Один массив объединяет данные, один цикл обрабатывает все элементы.</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мы использовали отдельные переменные для хранения отдельных значений. Например, одна переменная могла содержать оценку одного студента. Если нужно сохранить оценки целой группы, создание отдельной переменной для каждого студента становится неудобным. Для хранения и обработки таких наборов данных используют массивы.</a:t>
            </a:r>
          </a:p>
          <a:p>
            <a:r>
              <a:rPr lang="ru-RU" dirty="0"/>
              <a:t>Массив — это структура данных, которая позволяет хранить несколько элементов одного типа под общим именем. Например, массив целых чисел может содержать оценки, количество проданных товаров или результаты измерений.</a:t>
            </a:r>
          </a:p>
          <a:p>
            <a:r>
              <a:rPr lang="ru-RU" dirty="0"/>
              <a:t>Одномерный массив представляет собой последовательность элементов. Каждый элемент занимает определённую позицию, к которой можно обратиться с помощью одного индекса. Именно поэтому массив называется одномерным: для указания нужного элемента достаточно одного числа. Каждое значение является отдельным элементом массива. </a:t>
            </a:r>
          </a:p>
          <a:p>
            <a:r>
              <a:rPr lang="ru-RU" dirty="0"/>
              <a:t>В C# индексация начинается с нуля. Поэтому первый элемент имеет индекс 0, второй — индекс 1, а пятый — индекс 4. Количество элементов называют длиной массива. </a:t>
            </a:r>
          </a:p>
          <a:p>
            <a:r>
              <a:rPr lang="ru-RU" dirty="0"/>
              <a:t>Длина конкретного экземпляра массива задаётся при его создании и затем остаётся постоянной. При этом значения элементов можно изменять.</a:t>
            </a:r>
          </a:p>
          <a:p>
            <a:r>
              <a:rPr lang="ru-RU" dirty="0"/>
              <a:t>Массивы особенно удобны в сочетании с циклами. Вместо того чтобы отдельно обрабатывать каждую оценку, можно одним циклом перебрать весь массив, найти максимальную оценку, подсчитать количество пятёрок или вычислить средний балл.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Значения могут повторяться, индексы обозначают разные позиции. Для a длина равна 5, последний допустимый индекс равен 4.</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 задаёт тип «массив целых чисел».</a:t>
            </a:r>
          </a:p>
          <a:p>
            <a:r>
              <a:t>new int[5] создаёт пять элементов, каждый из которых равен 0.</a:t>
            </a:r>
          </a:p>
          <a:p>
            <a:r>
              <a:t>Объявление переменной само по себе массив не создаёт.</a:t>
            </a:r>
          </a:p>
          <a:p>
            <a:endParaRPr/>
          </a:p>
          <a:p>
            <a:r>
              <a:t>int[] a;</a:t>
            </a:r>
          </a:p>
          <a:p>
            <a:r>
              <a:t>a = new int[5];</a:t>
            </a:r>
          </a:p>
          <a:p>
            <a:endParaRPr/>
          </a:p>
          <a:p>
            <a:r>
              <a:t>// Или одной строкой</a:t>
            </a:r>
          </a:p>
          <a:p>
            <a:r>
              <a:t>int[] b = new int[5];</a:t>
            </a:r>
          </a:p>
          <a:p>
            <a:endParaRPr/>
          </a:p>
          <a:p>
            <a:r>
              <a:t>Console.WriteLine(b.Length); // 5</a:t>
            </a:r>
          </a:p>
          <a:p>
            <a:r>
              <a:t>Console.WriteLine(b[0]);     // 0</a:t>
            </a:r>
          </a:p>
          <a:p>
            <a:endParaRPr/>
          </a:p>
          <a:p>
            <a:r>
              <a:t>У int[] начальные значения — 0, у bool[] — false.</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Инициализатор задаёт элементы при создании. Длина определяется их количеством.</a:t>
            </a:r>
          </a:p>
          <a:p>
            <a:r>
              <a:t>Тип указывают перед []. Все элементы должны быть совместимы с этим типом.</a:t>
            </a:r>
          </a:p>
          <a:p>
            <a:endParaRPr/>
          </a:p>
          <a:p>
            <a:r>
              <a:t>int[] a = { 7, -2, 7, 0, 5 };</a:t>
            </a:r>
          </a:p>
          <a:p>
            <a:endParaRPr/>
          </a:p>
          <a:p>
            <a:r>
              <a:t>int[] b = new int[] { 2, 4, 6 };</a:t>
            </a:r>
          </a:p>
          <a:p>
            <a:endParaRPr/>
          </a:p>
          <a:p>
            <a:r>
              <a:t>double[] prices = { 9.5, 12.0 };</a:t>
            </a:r>
          </a:p>
          <a:p>
            <a:endParaRPr/>
          </a:p>
          <a:p>
            <a:r>
              <a:t>string[] names = { "Аня", "Илья" };</a:t>
            </a:r>
          </a:p>
          <a:p>
            <a:endParaRPr/>
          </a:p>
          <a:p>
            <a:r>
              <a:t>bool[] flags = new bool[3];</a:t>
            </a:r>
          </a:p>
          <a:p>
            <a:endParaRPr/>
          </a:p>
          <a:p>
            <a:r>
              <a:t>Для примеров далее используем преимущественно int[].</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Чтение: переменная получает значение элемента.</a:t>
            </a:r>
          </a:p>
          <a:p>
            <a:r>
              <a:t>Запись: элемент получает новое значение.</a:t>
            </a:r>
          </a:p>
          <a:p>
            <a:r>
              <a:t>Допустимые индексы: от 0 до a.Length - 1.</a:t>
            </a:r>
          </a:p>
          <a:p>
            <a:endParaRPr/>
          </a:p>
          <a:p>
            <a:r>
              <a:t>int[] a = { 7, -2, 7, 0, 5 };</a:t>
            </a:r>
          </a:p>
          <a:p>
            <a:r>
              <a:t>int x = a[1];       // x = -2</a:t>
            </a:r>
          </a:p>
          <a:p>
            <a:r>
              <a:t>a[3] = 9;</a:t>
            </a:r>
          </a:p>
          <a:p>
            <a:r>
              <a:t>Console.WriteLine(a[3]); // 9</a:t>
            </a:r>
          </a:p>
          <a:p>
            <a:endParaRPr/>
          </a:p>
          <a:p>
            <a:r>
              <a:t>// Так обращаться нельзя:</a:t>
            </a:r>
          </a:p>
          <a:p>
            <a:r>
              <a:t>// a[-1]</a:t>
            </a:r>
          </a:p>
          <a:p>
            <a:r>
              <a:t>// a[a.Length]</a:t>
            </a:r>
          </a:p>
          <a:p>
            <a:r>
              <a:t>// Ошибка IndexOutOfRangeException</a:t>
            </a:r>
          </a:p>
          <a:p>
            <a:endParaRPr/>
          </a:p>
          <a:p>
            <a:r>
              <a:t>a.Length — свойство без круглых скобок. Здесь a.Length равно 5.</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Цикл последовательно присваивает значение каждому элементу.</a:t>
            </a:r>
          </a:p>
          <a:p>
            <a:r>
              <a:t>Формула может зависеть от индекса. Здесь получаем первые пять положительных чётных чисел.</a:t>
            </a:r>
          </a:p>
          <a:p>
            <a:endParaRPr/>
          </a:p>
          <a:p>
            <a:r>
              <a:t>int[] a = new int[5];</a:t>
            </a:r>
          </a:p>
          <a:p>
            <a:endParaRPr/>
          </a:p>
          <a:p>
            <a:r>
              <a:t>for (int i = 0; i &lt; a.Length; i++)</a:t>
            </a:r>
          </a:p>
          <a:p>
            <a:r>
              <a:t>{</a:t>
            </a:r>
          </a:p>
          <a:p>
            <a:r>
              <a:t>    a[i] = 2 * (i + 1);</a:t>
            </a:r>
          </a:p>
          <a:p>
            <a:r>
              <a:t>}</a:t>
            </a:r>
          </a:p>
          <a:p>
            <a:endParaRPr/>
          </a:p>
          <a:p>
            <a:r>
              <a:t>// a: 2 4 6 8 10</a:t>
            </a:r>
          </a:p>
          <a:p>
            <a:endParaRPr/>
          </a:p>
          <a:p>
            <a:r>
              <a:t>При i = 0 выражение 2 * (i + 1) равно 2.</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следующего примера длина должна быть положительным целым числом.</a:t>
            </a:r>
          </a:p>
          <a:p>
            <a:endParaRPr/>
          </a:p>
          <a:p>
            <a:r>
              <a:t>int n;</a:t>
            </a:r>
          </a:p>
          <a:p>
            <a:r>
              <a:t>Console.Write("Количество элементов: ");</a:t>
            </a:r>
          </a:p>
          <a:p>
            <a:r>
              <a:t>while (!int.TryParse(Console.ReadLine(), out n)</a:t>
            </a:r>
          </a:p>
          <a:p>
            <a:r>
              <a:t>       || n &lt;= 0)</a:t>
            </a:r>
          </a:p>
          <a:p>
            <a:r>
              <a:t>{</a:t>
            </a:r>
          </a:p>
          <a:p>
            <a:r>
              <a:t>    Console.Write("Введите целое n &gt; 0: ");</a:t>
            </a:r>
          </a:p>
          <a:p>
            <a:r>
              <a:t>}</a:t>
            </a:r>
          </a:p>
          <a:p>
            <a:r>
              <a:t>int[] a = new int[n];</a:t>
            </a:r>
          </a:p>
          <a:p>
            <a:endParaRPr/>
          </a:p>
          <a:p>
            <a:r>
              <a:t>TryParse возвращает true при успешном преобразовании строки в int.</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Продолжение: массив a уже создан. Вводим по одному элементу в строке.</a:t>
            </a:r>
          </a:p>
          <a:p>
            <a:r>
              <a:t>Для подсказки человеку используем i + 1, для доступа к массиву — i.</a:t>
            </a:r>
          </a:p>
          <a:p>
            <a:endParaRPr/>
          </a:p>
          <a:p>
            <a:r>
              <a:t>for (int i = 0; i &lt; a.Length; i++)</a:t>
            </a:r>
          </a:p>
          <a:p>
            <a:r>
              <a:t>{</a:t>
            </a:r>
          </a:p>
          <a:p>
            <a:r>
              <a:t>    Console.Write($"Элемент {i + 1}: ");</a:t>
            </a:r>
          </a:p>
          <a:p>
            <a:r>
              <a:t>    while (!int.TryParse(</a:t>
            </a:r>
          </a:p>
          <a:p>
            <a:r>
              <a:t>        Console.ReadLine(), out a[i]))</a:t>
            </a:r>
          </a:p>
          <a:p>
            <a:r>
              <a:t>    {</a:t>
            </a:r>
          </a:p>
          <a:p>
            <a:r>
              <a:t>        Console.Write("Повторите ввод: ");</a:t>
            </a:r>
          </a:p>
          <a:p>
            <a:r>
              <a:t>    }</a:t>
            </a:r>
          </a:p>
          <a:p>
            <a:r>
              <a:t>}</a:t>
            </a:r>
          </a:p>
          <a:p>
            <a:endParaRPr/>
          </a:p>
          <a:p>
            <a:r>
              <a:t>После цикла каждый элемент содержит корректное целое число.</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Метод Next(minValue, maxValue) возвращает псевдослучайное целое число в полуинтервале: нижняя граница включается, верхняя исключается. Пример вывода каждый запуск может отличаться.</a:t>
            </a:r>
          </a:p>
          <a:p>
            <a:endParaRPr/>
          </a:p>
          <a:p>
            <a:r>
              <a:t>Источник: https://learn.microsoft.com/en-us/dotnet/api/system.random.next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Перебор — последовательное обращение к элементам массива.</a:t>
            </a:r>
          </a:p>
          <a:p>
            <a:r>
              <a:t>for позволяет использовать индекс и изменять a[i].</a:t>
            </a:r>
          </a:p>
          <a:p>
            <a:r>
              <a:t>Условие i &lt; a.Length защищает верхнюю границу.</a:t>
            </a:r>
          </a:p>
          <a:p>
            <a:endParaRPr/>
          </a:p>
          <a:p>
            <a:r>
              <a:t>int[] a = { 7, -2, 7, 0, 5 };</a:t>
            </a:r>
          </a:p>
          <a:p>
            <a:endParaRPr/>
          </a:p>
          <a:p>
            <a:r>
              <a:t>for (int i = 0; i &lt; a.Length; i++)</a:t>
            </a:r>
          </a:p>
          <a:p>
            <a:r>
              <a:t>{</a:t>
            </a:r>
          </a:p>
          <a:p>
            <a:r>
              <a:t>    Console.WriteLine(</a:t>
            </a:r>
          </a:p>
          <a:p>
            <a:r>
              <a:t>        $"a[{i}] = {a[i]}");</a:t>
            </a:r>
          </a:p>
          <a:p>
            <a:r>
              <a:t>}</a:t>
            </a:r>
          </a:p>
          <a:p>
            <a:endParaRPr/>
          </a:p>
          <a:p>
            <a:r>
              <a:t>// a[0] = 7</a:t>
            </a:r>
          </a:p>
          <a:p>
            <a:r>
              <a:t>// a[1] = -2</a:t>
            </a:r>
          </a:p>
          <a:p>
            <a:r>
              <a:t>// ...</a:t>
            </a:r>
          </a:p>
          <a:p>
            <a:endParaRPr/>
          </a:p>
          <a:p>
            <a:r>
              <a:t>При a.Length == 0 тело этого цикла не выполнится.</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foreach последовательно получает значения элементов.</a:t>
            </a:r>
          </a:p>
          <a:p>
            <a:r>
              <a:t>Удобен для чтения, вывода и подсчёта, когда индекс не нужен.</a:t>
            </a:r>
          </a:p>
          <a:p>
            <a:r>
              <a:t>Обычной переменной x в этом цикле нельзя присвоить новое значение.</a:t>
            </a:r>
          </a:p>
          <a:p>
            <a:endParaRPr/>
          </a:p>
          <a:p>
            <a:r>
              <a:t>int[] a = { 7, -2, 7, 0, 5 };</a:t>
            </a:r>
          </a:p>
          <a:p>
            <a:endParaRPr/>
          </a:p>
          <a:p>
            <a:r>
              <a:t>foreach (int x in a)</a:t>
            </a:r>
          </a:p>
          <a:p>
            <a:r>
              <a:t>{</a:t>
            </a:r>
          </a:p>
          <a:p>
            <a:r>
              <a:t>    Console.Write($"{x} ");</a:t>
            </a:r>
          </a:p>
          <a:p>
            <a:r>
              <a:t>}</a:t>
            </a:r>
          </a:p>
          <a:p>
            <a:endParaRPr/>
          </a:p>
          <a:p>
            <a:r>
              <a:t>// 7 -2 7 0 5</a:t>
            </a:r>
          </a:p>
          <a:p>
            <a:endParaRPr/>
          </a:p>
          <a:p>
            <a:r>
              <a:t>Для замены элементов массива int[] используем for и a[i].</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Задача: заменить отрицательные значения нулями.</a:t>
            </a:r>
          </a:p>
          <a:p>
            <a:r>
              <a:t>Проверяем значение a[i] и записываем результат в ту же позицию.</a:t>
            </a:r>
          </a:p>
          <a:p>
            <a:endParaRPr/>
          </a:p>
          <a:p>
            <a:r>
              <a:t>int[] a = { 7, -2, 7, 0, -5 };</a:t>
            </a:r>
          </a:p>
          <a:p>
            <a:endParaRPr/>
          </a:p>
          <a:p>
            <a:r>
              <a:t>for (int i = 0; i &lt; a.Length; i++)</a:t>
            </a:r>
          </a:p>
          <a:p>
            <a:r>
              <a:t>{</a:t>
            </a:r>
          </a:p>
          <a:p>
            <a:r>
              <a:t>    if (a[i] &lt; 0)</a:t>
            </a:r>
          </a:p>
          <a:p>
            <a:r>
              <a:t>    {</a:t>
            </a:r>
          </a:p>
          <a:p>
            <a:r>
              <a:t>        a[i] = 0;</a:t>
            </a:r>
          </a:p>
          <a:p>
            <a:r>
              <a:t>    }</a:t>
            </a:r>
          </a:p>
          <a:p>
            <a:r>
              <a:t>}</a:t>
            </a:r>
          </a:p>
          <a:p>
            <a:endParaRPr/>
          </a:p>
          <a:p>
            <a:r>
              <a:t>// a: 7 0 7 0 0</a:t>
            </a:r>
          </a:p>
          <a:p>
            <a:endParaRPr/>
          </a:p>
          <a:p>
            <a:r>
              <a:t>Количество элементов и их индексы сохраняются.</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Ответ: после первого цикла a = {2, 5, 8}. Второй цикл идёт по индексам 2, 1, 0, вывод: 8 5 2.</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Накопитель sum до цикла равен нулю. На каждом шаге к нему прибавляется элемент.</a:t>
            </a:r>
          </a:p>
          <a:p>
            <a:r>
              <a:t>Для среднего необходим непустой массив. Приведение к double сохраняет дробную часть.</a:t>
            </a:r>
          </a:p>
          <a:p>
            <a:endParaRPr/>
          </a:p>
          <a:p>
            <a:r>
              <a:t>int[] a = { 4, 2, 7 };</a:t>
            </a:r>
          </a:p>
          <a:p>
            <a:r>
              <a:t>long sum = 0;</a:t>
            </a:r>
          </a:p>
          <a:p>
            <a:r>
              <a:t>foreach (int x in a)</a:t>
            </a:r>
          </a:p>
          <a:p>
            <a:r>
              <a:t>{</a:t>
            </a:r>
          </a:p>
          <a:p>
            <a:r>
              <a:t>    sum += x;</a:t>
            </a:r>
          </a:p>
          <a:p>
            <a:r>
              <a:t>}</a:t>
            </a:r>
          </a:p>
          <a:p>
            <a:r>
              <a:t>if (a.Length &gt; 0)</a:t>
            </a:r>
          </a:p>
          <a:p>
            <a:r>
              <a:t>{</a:t>
            </a:r>
          </a:p>
          <a:p>
            <a:r>
              <a:t>    double average = (double)sum / a.Length;</a:t>
            </a:r>
          </a:p>
          <a:p>
            <a:r>
              <a:t>    Console.WriteLine(average);</a:t>
            </a:r>
          </a:p>
          <a:p>
            <a:r>
              <a:t>}</a:t>
            </a:r>
          </a:p>
          <a:p>
            <a:endParaRPr/>
          </a:p>
          <a:p>
            <a:r>
              <a:t>Сумма = 13. Среднее ≈ 4,3333. Тип long расширяет диапазон суммы.</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Задача: определить количество положительных элементов.</a:t>
            </a:r>
          </a:p>
          <a:p>
            <a:r>
              <a:t>Счётчик увеличивается на 1 только при выполнении условия.</a:t>
            </a:r>
          </a:p>
          <a:p>
            <a:r>
              <a:t>Ноль не является положительным числом.</a:t>
            </a:r>
          </a:p>
          <a:p>
            <a:endParaRPr/>
          </a:p>
          <a:p>
            <a:r>
              <a:t>int[] a = { 7, -2, 7, 0, 5 };</a:t>
            </a:r>
          </a:p>
          <a:p>
            <a:r>
              <a:t>int count = 0;</a:t>
            </a:r>
          </a:p>
          <a:p>
            <a:endParaRPr/>
          </a:p>
          <a:p>
            <a:r>
              <a:t>foreach (int x in a)</a:t>
            </a:r>
          </a:p>
          <a:p>
            <a:r>
              <a:t>{</a:t>
            </a:r>
          </a:p>
          <a:p>
            <a:r>
              <a:t>    if (x &gt; 0)</a:t>
            </a:r>
          </a:p>
          <a:p>
            <a:r>
              <a:t>    {</a:t>
            </a:r>
          </a:p>
          <a:p>
            <a:r>
              <a:t>        count++;</a:t>
            </a:r>
          </a:p>
          <a:p>
            <a:r>
              <a:t>    }</a:t>
            </a:r>
          </a:p>
          <a:p>
            <a:r>
              <a:t>}</a:t>
            </a:r>
          </a:p>
          <a:p>
            <a:r>
              <a:t>Console.WriteLine(count); // 3</a:t>
            </a:r>
          </a:p>
          <a:p>
            <a:endParaRPr/>
          </a:p>
          <a:p>
            <a:r>
              <a:t>count++ считает элементы. sum += x суммирует их значения.</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Чётные значения: -2 и 0. Чётные индексы: 0,2,4, соответствующие значения 7,7,5. Значения в отрезке [0,7]: 7,7,0,5. Ни одного положительного чётного значения в массиве нет. Ноль делится на 2 без остатка.</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Таблица показывает состояние после обработки текущего элемента. Значение счётчика сохраняется между итерациями.</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Линейный поиск работает и на неотсортированном массиве. В худшем случае требуется проверить все n элементов. Алгоритм поиска создан для лекции. Метод Array.IndexOf использует ту же семантику первого индекса или -1 для T[].</a:t>
            </a:r>
          </a:p>
          <a:p>
            <a:endParaRPr/>
          </a:p>
          <a:p>
            <a:r>
              <a:t>Источник: https://learn.microsoft.com/en-us/dotnet/api/system.array.indexof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Алгоритм возвращает первый индекс. Начальное значение -1 лежит вне диапазона обычного массива T[]. При первом совпадении break прекращает цикл.</a:t>
            </a:r>
          </a:p>
          <a:p>
            <a:endParaRPr/>
          </a:p>
          <a:p>
            <a:r>
              <a:t>Источник: https://learn.microsoft.com/en-us/dotnet/api/system.array.indexof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Продолжение предыдущего примера.</a:t>
            </a:r>
          </a:p>
          <a:p>
            <a:r>
              <a:t>Сначала проверяем index. Обращение a[-1] вызвало бы ошибку.</a:t>
            </a:r>
          </a:p>
          <a:p>
            <a:r>
              <a:t>Позицию для человека получаем как index + 1.</a:t>
            </a:r>
          </a:p>
          <a:p>
            <a:endParaRPr/>
          </a:p>
          <a:p>
            <a:r>
              <a:t>if (index == -1)</a:t>
            </a:r>
          </a:p>
          <a:p>
            <a:r>
              <a:t>{</a:t>
            </a:r>
          </a:p>
          <a:p>
            <a:r>
              <a:t>    Console.WriteLine("Не найден");</a:t>
            </a:r>
          </a:p>
          <a:p>
            <a:r>
              <a:t>}</a:t>
            </a:r>
          </a:p>
          <a:p>
            <a:r>
              <a:t>else</a:t>
            </a:r>
          </a:p>
          <a:p>
            <a:r>
              <a:t>{</a:t>
            </a:r>
          </a:p>
          <a:p>
            <a:r>
              <a:t>    Console.WriteLine($"Индекс: {index}");</a:t>
            </a:r>
          </a:p>
          <a:p>
            <a:r>
              <a:t>    Console.WriteLine(</a:t>
            </a:r>
          </a:p>
          <a:p>
            <a:r>
              <a:t>        $"Позиция: {index + 1}");</a:t>
            </a:r>
          </a:p>
          <a:p>
            <a:r>
              <a:t>}</a:t>
            </a:r>
          </a:p>
          <a:p>
            <a:endParaRPr/>
          </a:p>
          <a:p>
            <a:r>
              <a:t>key = 7: индекс 0, позиция 1. key = 9: «Не найден».</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всех совпадений продолжаем перебор до конца.</a:t>
            </a:r>
          </a:p>
          <a:p>
            <a:r>
              <a:t>last хранит индекс последнего найденного элемента.</a:t>
            </a:r>
          </a:p>
          <a:p>
            <a:r>
              <a:t>count хранит количество совпадений.</a:t>
            </a:r>
          </a:p>
          <a:p>
            <a:endParaRPr/>
          </a:p>
          <a:p>
            <a:r>
              <a:t>int[] a = { 7, -2, 7, 0, 5 };</a:t>
            </a:r>
          </a:p>
          <a:p>
            <a:r>
              <a:t>int key = 7, count = 0, last = -1;</a:t>
            </a:r>
          </a:p>
          <a:p>
            <a:r>
              <a:t>for (int i = 0; i &lt; a.Length; i++)</a:t>
            </a:r>
          </a:p>
          <a:p>
            <a:r>
              <a:t>{</a:t>
            </a:r>
          </a:p>
          <a:p>
            <a:r>
              <a:t>    if (a[i] == key)</a:t>
            </a:r>
          </a:p>
          <a:p>
            <a:r>
              <a:t>    {</a:t>
            </a:r>
          </a:p>
          <a:p>
            <a:r>
              <a:t>        Console.WriteLine(i);</a:t>
            </a:r>
          </a:p>
          <a:p>
            <a:r>
              <a:t>        count++;</a:t>
            </a:r>
          </a:p>
          <a:p>
            <a:r>
              <a:t>        last = i;</a:t>
            </a:r>
          </a:p>
          <a:p>
            <a:r>
              <a:t>    }</a:t>
            </a:r>
          </a:p>
          <a:p>
            <a:r>
              <a:t>}</a:t>
            </a:r>
          </a:p>
          <a:p>
            <a:endParaRPr/>
          </a:p>
          <a:p>
            <a:r>
              <a:t>Вывод индексов: 0 и 2. count = 2. last = 2.</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 обработке массива часто требуется определить наименьшее и наибольшее значения. Например, найти самую низкую и самую высокую температуру за неделю, минимальную и максимальную оценку или лучший и худший результат измерений.</a:t>
            </a:r>
          </a:p>
          <a:p>
            <a:r>
              <a:rPr lang="ru-RU" dirty="0"/>
              <a:t>Минимальный элемент массива — это элемент, значение которого не больше любого другого значения в массиве. Максимальный элемент — элемент, значение которого не меньше любого другого. Минимальное и максимальное значения называют экстремумами массива.</a:t>
            </a:r>
          </a:p>
          <a:p>
            <a:r>
              <a:rPr lang="ru-RU" dirty="0"/>
              <a:t>В этом массиве минимальное значение равно -2, а максимальное — 7. При этом максимальное значение встречается дважды. Экстремум не обязательно должен быть единственным.</a:t>
            </a:r>
          </a:p>
          <a:p>
            <a:r>
              <a:rPr lang="ru-RU" dirty="0"/>
              <a:t>Для поиска экстремумов будем последовательно просматривать элементы и хранить найденные значения в переменных </a:t>
            </a:r>
            <a:r>
              <a:rPr lang="ru-RU" dirty="0" err="1"/>
              <a:t>min</a:t>
            </a:r>
            <a:r>
              <a:rPr lang="ru-RU" dirty="0"/>
              <a:t> и </a:t>
            </a:r>
            <a:r>
              <a:rPr lang="ru-RU" dirty="0" err="1"/>
              <a:t>max</a:t>
            </a:r>
            <a:r>
              <a:rPr lang="ru-RU" dirty="0"/>
              <a:t>.</a:t>
            </a:r>
          </a:p>
          <a:p>
            <a:r>
              <a:rPr lang="ru-RU" dirty="0"/>
              <a:t>Сначала принимаем первый элемент одновременно за текущий минимум и текущий максимум:</a:t>
            </a:r>
          </a:p>
          <a:p>
            <a:r>
              <a:rPr lang="ru-RU" dirty="0"/>
              <a:t>Затем перебираем оставшиеся элементы, начиная с индекса 1:</a:t>
            </a:r>
          </a:p>
          <a:p>
            <a:r>
              <a:rPr lang="ru-RU" dirty="0"/>
              <a:t>Если очередной элемент меньше текущего минимума, записываем его значение в </a:t>
            </a:r>
            <a:r>
              <a:rPr lang="ru-RU" dirty="0" err="1"/>
              <a:t>min</a:t>
            </a:r>
            <a:r>
              <a:rPr lang="ru-RU" dirty="0"/>
              <a:t>. Если он больше текущего максимума, обновляем </a:t>
            </a:r>
            <a:r>
              <a:rPr lang="ru-RU" dirty="0" err="1"/>
              <a:t>max</a:t>
            </a:r>
            <a:r>
              <a:rPr lang="ru-RU" dirty="0"/>
              <a:t>.</a:t>
            </a:r>
          </a:p>
          <a:p>
            <a:r>
              <a:rPr lang="ru-RU" dirty="0"/>
              <a:t>В нашем примере первоначально обе переменные равны 7. Следующий элемент равен -2. Он меньше текущего минимума, поэтому </a:t>
            </a:r>
            <a:r>
              <a:rPr lang="ru-RU" dirty="0" err="1"/>
              <a:t>min</a:t>
            </a:r>
            <a:r>
              <a:rPr lang="ru-RU" dirty="0"/>
              <a:t> становится равным -2. Максимум остаётся равным 7. Остальные элементы не изменят эти результаты.</a:t>
            </a:r>
          </a:p>
          <a:p>
            <a:r>
              <a:rPr lang="ru-RU" dirty="0"/>
              <a:t>Начальные значения экстремумов следует брать из самого массива. Если задать </a:t>
            </a:r>
            <a:r>
              <a:rPr lang="ru-RU" dirty="0" err="1"/>
              <a:t>max</a:t>
            </a:r>
            <a:r>
              <a:rPr lang="ru-RU" dirty="0"/>
              <a:t> = 0, а все элементы окажутся отрицательными, программа ошибочно оставит максимум равным нулю, хотя такого значения в массиве нет.</a:t>
            </a:r>
          </a:p>
          <a:p>
            <a:r>
              <a:rPr lang="ru-RU" dirty="0"/>
              <a:t>Перед обращением к a[0] необходимо убедиться, что массив непустой. У пустого массива нет минимального и максимального элементов. Если элемент всего один, его значение одновременно является минимумом и максимумом.</a:t>
            </a:r>
          </a:p>
          <a:p>
            <a:r>
              <a:rPr lang="ru-RU" dirty="0"/>
              <a:t>Также важно различать значение экстремума и его индекс. В нашем примере минимум равен -2, а его индекс — 1. Если задача требует определить положение экстремума, во время поиска нужно дополнительно сохранять индекс соответствующего элемента.</a:t>
            </a:r>
          </a:p>
          <a:p>
            <a:endParaRPr lang="ru-RU"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Предусловие: a.Length &gt; 0.</a:t>
            </a:r>
          </a:p>
          <a:p>
            <a:r>
              <a:t>Первый элемент принимаем за текущий максимум.</a:t>
            </a:r>
          </a:p>
          <a:p>
            <a:r>
              <a:t>При поиске максимума используем сравнение &gt;.</a:t>
            </a:r>
          </a:p>
          <a:p>
            <a:endParaRPr/>
          </a:p>
          <a:p>
            <a:r>
              <a:t>int[] a = { 7, -2, 7, 0, 5 };</a:t>
            </a:r>
          </a:p>
          <a:p>
            <a:r>
              <a:t>int max = a[0];</a:t>
            </a:r>
          </a:p>
          <a:p>
            <a:endParaRPr/>
          </a:p>
          <a:p>
            <a:r>
              <a:t>for (int i = 1; i &lt; a.Length; i++)</a:t>
            </a:r>
          </a:p>
          <a:p>
            <a:r>
              <a:t>{</a:t>
            </a:r>
          </a:p>
          <a:p>
            <a:r>
              <a:t>    if (a[i] &gt; max)</a:t>
            </a:r>
          </a:p>
          <a:p>
            <a:r>
              <a:t>    {</a:t>
            </a:r>
          </a:p>
          <a:p>
            <a:r>
              <a:t>        max = a[i];</a:t>
            </a:r>
          </a:p>
          <a:p>
            <a:r>
              <a:t>    }</a:t>
            </a:r>
          </a:p>
          <a:p>
            <a:r>
              <a:t>}</a:t>
            </a:r>
          </a:p>
          <a:p>
            <a:r>
              <a:t>Console.WriteLine(max); // 7</a:t>
            </a:r>
          </a:p>
          <a:p>
            <a:endParaRPr/>
          </a:p>
          <a:p>
            <a:r>
              <a:t>Цикл начинается с 1, потому что a[0] уже учтён.</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После инициализации проверяют элементы с индексами 1-4. min обновляется на индексе 1, max на индексе 2. На индексе 3 встречается ещё одно -3, но строгое сравнение &lt; ложно.</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Храним индексы. Значения доступны через a[minIndex] и a[maxIndex].</a:t>
            </a:r>
          </a:p>
          <a:p>
            <a:r>
              <a:t>При строгих сравнениях сохраняем первое вхождение экстремума.</a:t>
            </a:r>
          </a:p>
          <a:p>
            <a:endParaRPr/>
          </a:p>
          <a:p>
            <a:r>
              <a:t>int[] a = { 4, -3, 8, -3, 2 };</a:t>
            </a:r>
          </a:p>
          <a:p>
            <a:r>
              <a:t>int minIndex = 0, maxIndex = 0;</a:t>
            </a:r>
          </a:p>
          <a:p>
            <a:r>
              <a:t>for (int i = 1; i &lt; a.Length; i++)</a:t>
            </a:r>
          </a:p>
          <a:p>
            <a:r>
              <a:t>{</a:t>
            </a:r>
          </a:p>
          <a:p>
            <a:r>
              <a:t>    if (a[i] &lt; a[minIndex])</a:t>
            </a:r>
          </a:p>
          <a:p>
            <a:r>
              <a:t>        minIndex = i;</a:t>
            </a:r>
          </a:p>
          <a:p>
            <a:r>
              <a:t>    if (a[i] &gt; a[maxIndex])</a:t>
            </a:r>
          </a:p>
          <a:p>
            <a:r>
              <a:t>        maxIndex = i;</a:t>
            </a:r>
          </a:p>
          <a:p>
            <a:r>
              <a:t>}</a:t>
            </a:r>
          </a:p>
          <a:p>
            <a:r>
              <a:t>// minIndex = 1, maxIndex = 2</a:t>
            </a:r>
          </a:p>
          <a:p>
            <a:endParaRPr/>
          </a:p>
          <a:p>
            <a:r>
              <a:t>Значения: −3 и 8. Индексы: 1 и 2. Позиции: 2 и 3.</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Проверку выполняют до a[0]. Пустой массив допустим: new int[0]. Здесь return расположен внутри Main или программы с операторами верхнего уровня и завершает её. Если этот фрагмент находится в другом методе, return завершит этот метод.</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Комплексный пример разбит на два фрагмента. Фрагменты слайдов 31,32,33 выполняются последовательно в Main. Эталон: count = 3, sum = 17, min=-3, minIndex=1, max=8, maxIndex=2, index=1. Положительные значения: 4,8,5.</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Продолжение: a и key объявлены на предыдущем слайде. Массив непустой.</a:t>
            </a:r>
          </a:p>
          <a:p>
            <a:endParaRPr/>
          </a:p>
          <a:p>
            <a:r>
              <a:t>int count = 0, minIndex = 0, maxIndex = 0;</a:t>
            </a:r>
          </a:p>
          <a:p>
            <a:r>
              <a:t>long sum = 0;</a:t>
            </a:r>
          </a:p>
          <a:p>
            <a:r>
              <a:t>for (int i = 0; i &lt; a.Length; i++)</a:t>
            </a:r>
          </a:p>
          <a:p>
            <a:r>
              <a:t>{</a:t>
            </a:r>
          </a:p>
          <a:p>
            <a:r>
              <a:t>    if (a[i] &gt; 0) { count++; sum += a[i]; }</a:t>
            </a:r>
          </a:p>
          <a:p>
            <a:r>
              <a:t>    if (a[i] &lt; a[minIndex]) minIndex = i;</a:t>
            </a:r>
          </a:p>
          <a:p>
            <a:r>
              <a:t>    if (a[i] &gt; a[maxIndex]) maxIndex = i;</a:t>
            </a:r>
          </a:p>
          <a:p>
            <a:r>
              <a:t>}</a:t>
            </a:r>
          </a:p>
          <a:p>
            <a:r>
              <a:t>Console.WriteLine($"Количество: {count}, сумма: {sum}");</a:t>
            </a:r>
          </a:p>
          <a:p>
            <a:r>
              <a:t>Console.WriteLine($"min = {a[minIndex]}, индекс = {minIndex}");</a:t>
            </a:r>
          </a:p>
          <a:p>
            <a:r>
              <a:t>Console.WriteLine($"max = {a[maxIndex]}, индекс = {maxIndex}");</a:t>
            </a:r>
          </a:p>
          <a:p>
            <a:endParaRPr/>
          </a:p>
          <a:p>
            <a:r>
              <a:t>Один перебор обновляет несколько независимых результатов.</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После полного анализа выполняем поиск первого вхождения key.</a:t>
            </a:r>
          </a:p>
          <a:p>
            <a:endParaRPr/>
          </a:p>
          <a:p>
            <a:r>
              <a:t>int index = -1;</a:t>
            </a:r>
          </a:p>
          <a:p>
            <a:r>
              <a:t>for (int i = 0; i &lt; a.Length; i++)</a:t>
            </a:r>
          </a:p>
          <a:p>
            <a:r>
              <a:t>{</a:t>
            </a:r>
          </a:p>
          <a:p>
            <a:r>
              <a:t>    if (a[i] == key) { index = i; break; }</a:t>
            </a:r>
          </a:p>
          <a:p>
            <a:r>
              <a:t>}</a:t>
            </a:r>
          </a:p>
          <a:p>
            <a:r>
              <a:t>if (index == -1) Console.WriteLine("Не найден");</a:t>
            </a:r>
          </a:p>
          <a:p>
            <a:r>
              <a:t>else Console.WriteLine($"Первый индекс: {index}");</a:t>
            </a:r>
          </a:p>
          <a:p>
            <a:endParaRPr/>
          </a:p>
          <a:p>
            <a:r>
              <a:t>count = 3, sum = 17, min = −3 (индекс 1), max = 8 (индекс 2), index = 1.</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Сортировка массива — это изменение порядка его элементов по определённому правилу. Чаще всего элементы располагают по возрастанию или по убыванию.</a:t>
            </a:r>
          </a:p>
          <a:p>
            <a:r>
              <a:rPr lang="ru-RU" dirty="0"/>
              <a:t>При сортировке по возрастанию каждый следующий элемент должен быть не меньше предыдущего.</a:t>
            </a:r>
          </a:p>
          <a:p>
            <a:r>
              <a:rPr lang="ru-RU" dirty="0"/>
              <a:t>Равные значения при этом допустимы.</a:t>
            </a:r>
          </a:p>
          <a:p>
            <a:r>
              <a:rPr lang="ru-RU" dirty="0"/>
              <a:t>При сортировке по убыванию каждый следующий элемент должен быть не больше предыдущего. </a:t>
            </a:r>
          </a:p>
          <a:p>
            <a:r>
              <a:rPr lang="ru-RU" dirty="0"/>
              <a:t>Сортировка сохраняет количество элементов и все исходные значения. Меняются только их позиции. Если в массиве было два одинаковых числа, после сортировки оба должны сохраниться.</a:t>
            </a:r>
          </a:p>
          <a:p>
            <a:r>
              <a:rPr lang="ru-RU" dirty="0"/>
              <a:t>Поскольку позиции элементов изменяются, найденные до сортировки индексы могут потерять своё значение.</a:t>
            </a:r>
          </a:p>
          <a:p>
            <a:r>
              <a:rPr lang="ru-RU" dirty="0"/>
              <a:t>Один и тот же результат можно получить разными алгоритмами. Мы рассмотрим сортировку пузырьком, сортировку вставками и выбором.</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Сортировка пузырьком основана на сравнении соседних элементов массива. Мы начинаем с левого края и последовательно рассматриваем пары: первый и второй элементы, второй и третий, третий и четвёртый.</a:t>
            </a:r>
          </a:p>
          <a:p>
            <a:r>
              <a:rPr lang="ru-RU" dirty="0"/>
              <a:t>В программе левый элемент пары обозначается как a[j], а правый — как a[j + 1].</a:t>
            </a:r>
          </a:p>
          <a:p>
            <a:r>
              <a:rPr lang="ru-RU" dirty="0"/>
              <a:t>Если мы сортируем по возрастанию, меньший элемент должен находиться левее большего. Поэтому при выполнении условия a[j] &gt; a[j + 1] элементы необходимо поменять местами. Если порядок уже правильный, значения остаются на своих местах.</a:t>
            </a:r>
          </a:p>
          <a:p>
            <a:r>
              <a:rPr lang="ru-RU" dirty="0"/>
              <a:t>Чтобы выполнить обмен, используем временную переменную.</a:t>
            </a:r>
          </a:p>
          <a:p>
            <a:r>
              <a:rPr lang="ru-RU" dirty="0"/>
              <a:t>Первая строка сохраняет исходное значение левого элемента в переменной </a:t>
            </a:r>
            <a:r>
              <a:rPr lang="ru-RU" dirty="0" err="1"/>
              <a:t>temp</a:t>
            </a:r>
            <a:r>
              <a:rPr lang="ru-RU" dirty="0"/>
              <a:t>. Вторая строка записывает на его место правое значение. Третья строка помещает сохранённое левое значение на правую позицию.</a:t>
            </a:r>
          </a:p>
          <a:p>
            <a:r>
              <a:rPr lang="ru-RU" dirty="0"/>
              <a:t>Например, если соседние элементы равны 5 и 1, сначала в </a:t>
            </a:r>
            <a:r>
              <a:rPr lang="ru-RU" dirty="0" err="1"/>
              <a:t>temp</a:t>
            </a:r>
            <a:r>
              <a:rPr lang="ru-RU" dirty="0"/>
              <a:t> сохраняется число 5. Затем вместо левого элемента записывается 1, а вместо правого — сохранённое число 5. Получается пара 1, 5.</a:t>
            </a:r>
          </a:p>
          <a:p>
            <a:r>
              <a:rPr lang="ru-RU" dirty="0"/>
              <a:t>Без временной переменной первое значение можно потерять. После присваивания a[j] = a[j + 1] в обеих ячейках находилось бы одинаковое число.</a:t>
            </a:r>
          </a:p>
          <a:p>
            <a:r>
              <a:rPr lang="ru-RU" dirty="0"/>
              <a:t>После одного полного прохода слева направо максимальный элемент рассматриваемой части массива оказывается на её правой границе. При следующем проходе эту позицию уже можно не проверять.</a:t>
            </a:r>
          </a:p>
          <a:p>
            <a:endParaRPr lang="ru-RU"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массив 5, 1, 4, 2, 3.</a:t>
            </a:r>
          </a:p>
          <a:p>
            <a:r>
              <a:rPr lang="ru-RU" dirty="0"/>
              <a:t>Сначала j равен нулю. Сравниваем элементы a[0] и a[1], то есть числа 5 и 1. Поскольку 5 больше 1, выполняем обмен. Получаем: 1 5 4 2 3</a:t>
            </a:r>
          </a:p>
          <a:p>
            <a:r>
              <a:rPr lang="ru-RU" dirty="0"/>
              <a:t>Теперь j увеличивается до единицы. Сравниваем элементы с индексами 1 и 2. После предыдущего обмена это числа 5 и 4. Они также стоят в неправильном порядке, поэтому меняем их местами.</a:t>
            </a:r>
          </a:p>
          <a:p>
            <a:r>
              <a:rPr lang="ru-RU" dirty="0"/>
              <a:t>При j = 2 сравниваем числа 5 и 2. Снова выполняем обмен.</a:t>
            </a:r>
          </a:p>
          <a:p>
            <a:r>
              <a:rPr lang="ru-RU" dirty="0"/>
              <a:t>При j = 3 сравниваем числа 5 и 3. </a:t>
            </a:r>
          </a:p>
          <a:p>
            <a:r>
              <a:rPr lang="ru-RU" dirty="0"/>
              <a:t>Первый проход завершён. Число 5 последовательно перемещалось вправо и заняло последнюю позицию. Это максимальный элемент массива, поэтому его место уже окончательное.</a:t>
            </a:r>
          </a:p>
          <a:p>
            <a:r>
              <a:rPr lang="ru-RU" dirty="0"/>
              <a:t>Однако весь массив ещё не отсортирован: число 4 находится перед числами 2 и 3. Для упорядочивания оставшейся части понадобятся следующие проходы.</a:t>
            </a:r>
          </a:p>
          <a:p>
            <a:endParaRPr lang="ru-RU"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программе используются два вложенных цикла. Внешний цикл отвечает за проходы по массиву, внутренний — за сравнение соседних элементов в пределах одного прохода. Переменная </a:t>
            </a:r>
            <a:r>
              <a:rPr lang="ru-RU" dirty="0" err="1"/>
              <a:t>pass</a:t>
            </a:r>
            <a:r>
              <a:rPr lang="ru-RU" dirty="0"/>
              <a:t> хранит номер прохода, начиная с нуля:</a:t>
            </a:r>
          </a:p>
          <a:p>
            <a:r>
              <a:rPr lang="ru-RU" dirty="0" err="1"/>
              <a:t>for</a:t>
            </a:r>
            <a:r>
              <a:rPr lang="ru-RU" dirty="0"/>
              <a:t> (</a:t>
            </a:r>
            <a:r>
              <a:rPr lang="ru-RU" dirty="0" err="1"/>
              <a:t>int</a:t>
            </a:r>
            <a:r>
              <a:rPr lang="ru-RU" dirty="0"/>
              <a:t> </a:t>
            </a:r>
            <a:r>
              <a:rPr lang="ru-RU" dirty="0" err="1"/>
              <a:t>pass</a:t>
            </a:r>
            <a:r>
              <a:rPr lang="ru-RU" dirty="0"/>
              <a:t> = 0; </a:t>
            </a:r>
            <a:r>
              <a:rPr lang="ru-RU" dirty="0" err="1"/>
              <a:t>pass</a:t>
            </a:r>
            <a:r>
              <a:rPr lang="ru-RU" dirty="0"/>
              <a:t> &lt; </a:t>
            </a:r>
            <a:r>
              <a:rPr lang="ru-RU" dirty="0" err="1"/>
              <a:t>a.Length</a:t>
            </a:r>
            <a:r>
              <a:rPr lang="ru-RU" dirty="0"/>
              <a:t> - 1; </a:t>
            </a:r>
            <a:r>
              <a:rPr lang="ru-RU" dirty="0" err="1"/>
              <a:t>pass</a:t>
            </a:r>
            <a:r>
              <a:rPr lang="ru-RU" dirty="0"/>
              <a:t>++)</a:t>
            </a:r>
          </a:p>
          <a:p>
            <a:r>
              <a:rPr lang="ru-RU" dirty="0"/>
              <a:t>Для массива из пяти элементов значения </a:t>
            </a:r>
            <a:r>
              <a:rPr lang="ru-RU" dirty="0" err="1"/>
              <a:t>pass</a:t>
            </a:r>
            <a:r>
              <a:rPr lang="ru-RU" dirty="0"/>
              <a:t> будут равны 0, 1, 2 и 3. Всего выполняются четыре прохода.</a:t>
            </a:r>
          </a:p>
          <a:p>
            <a:r>
              <a:rPr lang="ru-RU" dirty="0"/>
              <a:t>Почему достаточно количества проходов, равного длине массива минус один? После каждого прохода ещё один наибольший элемент занимает окончательное место справа. Когда на своих местах окажутся четыре элемента из пяти, положение последнего будет определено автоматически.</a:t>
            </a:r>
          </a:p>
          <a:p>
            <a:r>
              <a:rPr lang="ru-RU" dirty="0"/>
              <a:t>Внутренний цикл выглядит так:</a:t>
            </a:r>
          </a:p>
          <a:p>
            <a:r>
              <a:rPr lang="ru-RU" dirty="0" err="1"/>
              <a:t>for</a:t>
            </a:r>
            <a:r>
              <a:rPr lang="ru-RU" dirty="0"/>
              <a:t> (</a:t>
            </a:r>
            <a:r>
              <a:rPr lang="ru-RU" dirty="0" err="1"/>
              <a:t>int</a:t>
            </a:r>
            <a:r>
              <a:rPr lang="ru-RU" dirty="0"/>
              <a:t> j = 0; j &lt; </a:t>
            </a:r>
            <a:r>
              <a:rPr lang="ru-RU" dirty="0" err="1"/>
              <a:t>a.Length</a:t>
            </a:r>
            <a:r>
              <a:rPr lang="ru-RU" dirty="0"/>
              <a:t> - 1 - </a:t>
            </a:r>
            <a:r>
              <a:rPr lang="ru-RU" dirty="0" err="1"/>
              <a:t>pass</a:t>
            </a:r>
            <a:r>
              <a:rPr lang="ru-RU" dirty="0"/>
              <a:t>; j++)</a:t>
            </a:r>
          </a:p>
          <a:p>
            <a:r>
              <a:rPr lang="ru-RU" dirty="0"/>
              <a:t>Переменная j обозначает индекс левого элемента сравниваемой пары.</a:t>
            </a:r>
          </a:p>
          <a:p>
            <a:r>
              <a:rPr lang="ru-RU" dirty="0"/>
              <a:t>В условии присутствует выражение </a:t>
            </a:r>
            <a:r>
              <a:rPr lang="ru-RU" dirty="0" err="1"/>
              <a:t>a.Length</a:t>
            </a:r>
            <a:r>
              <a:rPr lang="ru-RU" dirty="0"/>
              <a:t> - 1, поскольку мы обращаемся не только к a[j], но и к a[j + 1]. Правый элемент пары должен оставаться в пределах массива.</a:t>
            </a:r>
          </a:p>
          <a:p>
            <a:r>
              <a:rPr lang="ru-RU" dirty="0"/>
              <a:t>Дополнительно вычитается </a:t>
            </a:r>
            <a:r>
              <a:rPr lang="ru-RU" dirty="0" err="1"/>
              <a:t>pass</a:t>
            </a:r>
            <a:r>
              <a:rPr lang="ru-RU" dirty="0"/>
              <a:t>. После каждого прохода справа увеличивается часть массива, элементы которой уже находятся на окончательных местах. Повторно сравнивать их не требуется.</a:t>
            </a:r>
          </a:p>
          <a:p>
            <a:r>
              <a:rPr lang="ru-RU" dirty="0"/>
              <a:t>При первом проходе по массиву из пяти элементов j принимает значения от 0 до 3. При втором — от 0 до 2. Затем остаются два сравнения и одно сравнение.</a:t>
            </a:r>
          </a:p>
          <a:p>
            <a:r>
              <a:rPr lang="ru-RU" dirty="0"/>
              <a:t>Внутри цикла проверяется условие:</a:t>
            </a:r>
          </a:p>
          <a:p>
            <a:r>
              <a:rPr lang="ru-RU" dirty="0" err="1"/>
              <a:t>if</a:t>
            </a:r>
            <a:r>
              <a:rPr lang="ru-RU" dirty="0"/>
              <a:t> (a[j] &gt; a[j + 1])</a:t>
            </a:r>
          </a:p>
          <a:p>
            <a:r>
              <a:rPr lang="ru-RU" dirty="0"/>
              <a:t>Если левый элемент больше правого, выполняются три присваивания для обмена. Если условие ложно, программа просто переходит к следующей паре.</a:t>
            </a:r>
          </a:p>
          <a:p>
            <a:r>
              <a:rPr lang="ru-RU" dirty="0"/>
              <a:t>После завершения обоих циклов массив будет отсортирован по возрастанию.</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Сортировка вставками постепенно формирует отсортированную часть массива слева.</a:t>
            </a:r>
          </a:p>
          <a:p>
            <a:r>
              <a:rPr lang="ru-RU" dirty="0"/>
              <a:t>В начале считаем, что первый элемент уже образует отсортированную часть. Один элемент всегда упорядочен относительно самого себя.</a:t>
            </a:r>
          </a:p>
          <a:p>
            <a:r>
              <a:rPr lang="ru-RU" dirty="0"/>
              <a:t>Затем берём второй элемент и определяем его место среди уже рассмотренных значений. После этого первые два элемента будут расположены правильно.</a:t>
            </a:r>
          </a:p>
          <a:p>
            <a:r>
              <a:rPr lang="ru-RU" dirty="0"/>
              <a:t>Далее берём третий элемент и вставляем его на нужное место среди первых двух. Таким образом, отсортированная часть увеличивается на один элемент после каждого шага.</a:t>
            </a:r>
          </a:p>
          <a:p>
            <a:r>
              <a:rPr lang="ru-RU" dirty="0"/>
              <a:t>Этот способ похож на упорядочивание карточек в руках. Мы берём очередную карточку, находим для неё место и раздвигаем остальные, чтобы её вставить.</a:t>
            </a:r>
          </a:p>
          <a:p>
            <a:r>
              <a:rPr lang="ru-RU" dirty="0"/>
              <a:t>В программе значение очередного элемента сохраняется в переменной </a:t>
            </a:r>
            <a:r>
              <a:rPr lang="ru-RU" dirty="0" err="1"/>
              <a:t>key</a:t>
            </a:r>
            <a:r>
              <a:rPr lang="ru-RU" dirty="0"/>
              <a:t>. Затем мы движемся по отсортированной части справа налево.</a:t>
            </a:r>
          </a:p>
          <a:p>
            <a:r>
              <a:rPr lang="ru-RU" dirty="0"/>
              <a:t>Если очередное значение больше </a:t>
            </a:r>
            <a:r>
              <a:rPr lang="ru-RU" dirty="0" err="1"/>
              <a:t>key</a:t>
            </a:r>
            <a:r>
              <a:rPr lang="ru-RU" dirty="0"/>
              <a:t>, его нужно сдвинуть на одну позицию вправо. Сдвиги продолжаются, пока не встретится значение, которое меньше или равно </a:t>
            </a:r>
            <a:r>
              <a:rPr lang="ru-RU" dirty="0" err="1"/>
              <a:t>key</a:t>
            </a:r>
            <a:r>
              <a:rPr lang="ru-RU" dirty="0"/>
              <a:t>, либо пока мы не достигнем начала массива.</a:t>
            </a:r>
          </a:p>
          <a:p>
            <a:r>
              <a:rPr lang="ru-RU" dirty="0"/>
              <a:t>После этого сохранённое значение записывается в освободившуюся позицию.</a:t>
            </a:r>
          </a:p>
          <a:p>
            <a:r>
              <a:rPr lang="ru-RU" dirty="0"/>
              <a:t>В этой реализации вставок используются сдвиги. Значение </a:t>
            </a:r>
            <a:r>
              <a:rPr lang="ru-RU" dirty="0" err="1"/>
              <a:t>key</a:t>
            </a:r>
            <a:r>
              <a:rPr lang="ru-RU" dirty="0"/>
              <a:t> хранится отдельно, а остальные элементы освобождают для него место.</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промежуточное состояние массива:</a:t>
            </a:r>
          </a:p>
          <a:p>
            <a:r>
              <a:rPr lang="ru-RU" dirty="0"/>
              <a:t>1 4 5 2 3</a:t>
            </a:r>
          </a:p>
          <a:p>
            <a:r>
              <a:rPr lang="ru-RU" dirty="0"/>
              <a:t>Первые три элемента — 1, 4, 5 — уже отсортированы. Теперь нужно вставить число 2 в эту левую часть.</a:t>
            </a:r>
          </a:p>
          <a:p>
            <a:r>
              <a:rPr lang="ru-RU" dirty="0"/>
              <a:t>Индекс вставляемого элемента равен 3. Сохраняем его значение:</a:t>
            </a:r>
          </a:p>
          <a:p>
            <a:r>
              <a:rPr lang="ru-RU" dirty="0" err="1"/>
              <a:t>int</a:t>
            </a:r>
            <a:r>
              <a:rPr lang="ru-RU" dirty="0"/>
              <a:t> </a:t>
            </a:r>
            <a:r>
              <a:rPr lang="ru-RU" dirty="0" err="1"/>
              <a:t>key</a:t>
            </a:r>
            <a:r>
              <a:rPr lang="ru-RU" dirty="0"/>
              <a:t> = a[i];</a:t>
            </a:r>
          </a:p>
          <a:p>
            <a:r>
              <a:rPr lang="ru-RU" dirty="0"/>
              <a:t>Теперь </a:t>
            </a:r>
            <a:r>
              <a:rPr lang="ru-RU" dirty="0" err="1"/>
              <a:t>key</a:t>
            </a:r>
            <a:r>
              <a:rPr lang="ru-RU" dirty="0"/>
              <a:t> равен 2. Это значение сохранится, даже если соответствующая ячейка массива будет перезаписана.</a:t>
            </a:r>
          </a:p>
          <a:p>
            <a:r>
              <a:rPr lang="ru-RU" dirty="0"/>
              <a:t>Начинаем сравнение справа. Число 5 больше 2, поэтому сдвигаем его на одну позицию вправо. Получаем:</a:t>
            </a:r>
          </a:p>
          <a:p>
            <a:r>
              <a:rPr lang="ru-RU" dirty="0"/>
              <a:t>1 4 5 5 3</a:t>
            </a:r>
          </a:p>
          <a:p>
            <a:r>
              <a:rPr lang="ru-RU" dirty="0"/>
              <a:t>Число 5 временно присутствует в двух ячейках. Это ожидаемое промежуточное состояние. Число 2 при этом не потерялось: оно хранится в </a:t>
            </a:r>
            <a:r>
              <a:rPr lang="ru-RU" dirty="0" err="1"/>
              <a:t>key</a:t>
            </a:r>
            <a:r>
              <a:rPr lang="ru-RU" dirty="0"/>
              <a:t>.</a:t>
            </a:r>
          </a:p>
          <a:p>
            <a:r>
              <a:rPr lang="ru-RU" dirty="0"/>
              <a:t>Переходим к числу 4. Оно также больше 2, поэтому сдвигаем его вправо:</a:t>
            </a:r>
          </a:p>
          <a:p>
            <a:r>
              <a:rPr lang="ru-RU" dirty="0"/>
              <a:t>1 4 4 5 3</a:t>
            </a:r>
          </a:p>
          <a:p>
            <a:r>
              <a:rPr lang="ru-RU" dirty="0"/>
              <a:t>Следующее число слева — 1. Условие 1 &gt; 2 ложно. Значит, число 2 должно находиться сразу после единицы.</a:t>
            </a:r>
          </a:p>
          <a:p>
            <a:r>
              <a:rPr lang="ru-RU" dirty="0"/>
              <a:t>Записываем </a:t>
            </a:r>
            <a:r>
              <a:rPr lang="ru-RU" dirty="0" err="1"/>
              <a:t>key</a:t>
            </a:r>
            <a:r>
              <a:rPr lang="ru-RU" dirty="0"/>
              <a:t> в ячейку с индексом 1. Получаем:</a:t>
            </a:r>
          </a:p>
          <a:p>
            <a:r>
              <a:rPr lang="ru-RU" dirty="0"/>
              <a:t>1 2 4 5 3</a:t>
            </a:r>
          </a:p>
          <a:p>
            <a:r>
              <a:rPr lang="ru-RU" dirty="0"/>
              <a:t>Теперь первые четыре элемента отсортированы. Последнее число 3 будет обработано на следующем шаге.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Внешний цикл начинается с индекса 1:</a:t>
            </a:r>
          </a:p>
          <a:p>
            <a:r>
              <a:rPr lang="ru-RU" dirty="0" err="1"/>
              <a:t>for</a:t>
            </a:r>
            <a:r>
              <a:rPr lang="ru-RU" dirty="0"/>
              <a:t> (</a:t>
            </a:r>
            <a:r>
              <a:rPr lang="ru-RU" dirty="0" err="1"/>
              <a:t>int</a:t>
            </a:r>
            <a:r>
              <a:rPr lang="ru-RU" dirty="0"/>
              <a:t> i = 1; i &lt; </a:t>
            </a:r>
            <a:r>
              <a:rPr lang="ru-RU" dirty="0" err="1"/>
              <a:t>a.Length</a:t>
            </a:r>
            <a:r>
              <a:rPr lang="ru-RU" dirty="0"/>
              <a:t>; i++)</a:t>
            </a:r>
          </a:p>
          <a:p>
            <a:r>
              <a:rPr lang="ru-RU" dirty="0"/>
              <a:t>Первый элемент с индексом 0 уже считается отсортированной частью. Поэтому первым вставляемым значением становится второй элемент массива.</a:t>
            </a:r>
          </a:p>
          <a:p>
            <a:r>
              <a:rPr lang="ru-RU" dirty="0"/>
              <a:t>На каждой итерации сохраняем очередное значение:</a:t>
            </a:r>
          </a:p>
          <a:p>
            <a:r>
              <a:rPr lang="ru-RU" dirty="0" err="1"/>
              <a:t>int</a:t>
            </a:r>
            <a:r>
              <a:rPr lang="ru-RU" dirty="0"/>
              <a:t> </a:t>
            </a:r>
            <a:r>
              <a:rPr lang="ru-RU" dirty="0" err="1"/>
              <a:t>key</a:t>
            </a:r>
            <a:r>
              <a:rPr lang="ru-RU" dirty="0"/>
              <a:t> = a[i];</a:t>
            </a:r>
          </a:p>
          <a:p>
            <a:r>
              <a:rPr lang="ru-RU" dirty="0"/>
              <a:t>Затем создаём переменную j:</a:t>
            </a:r>
          </a:p>
          <a:p>
            <a:r>
              <a:rPr lang="ru-RU" dirty="0" err="1"/>
              <a:t>int</a:t>
            </a:r>
            <a:r>
              <a:rPr lang="ru-RU" dirty="0"/>
              <a:t> j = i - 1;</a:t>
            </a:r>
          </a:p>
          <a:p>
            <a:r>
              <a:rPr lang="ru-RU" dirty="0"/>
              <a:t>Она указывает на элемент непосредственно слева от вставляемого. Именно с него начинается поиск подходящей позиции.</a:t>
            </a:r>
          </a:p>
          <a:p>
            <a:r>
              <a:rPr lang="ru-RU" dirty="0"/>
              <a:t>Цикл </a:t>
            </a:r>
            <a:r>
              <a:rPr lang="ru-RU" dirty="0" err="1"/>
              <a:t>while</a:t>
            </a:r>
            <a:r>
              <a:rPr lang="ru-RU" dirty="0"/>
              <a:t> выполняется при условии:</a:t>
            </a:r>
          </a:p>
          <a:p>
            <a:r>
              <a:rPr lang="ru-RU" dirty="0"/>
              <a:t>j &gt;= 0 &amp;&amp; a[j] &gt; </a:t>
            </a:r>
            <a:r>
              <a:rPr lang="ru-RU" dirty="0" err="1"/>
              <a:t>key</a:t>
            </a:r>
            <a:endParaRPr lang="ru-RU" dirty="0"/>
          </a:p>
          <a:p>
            <a:r>
              <a:rPr lang="ru-RU" dirty="0"/>
              <a:t>Здесь объединены две проверки.</a:t>
            </a:r>
          </a:p>
          <a:p>
            <a:r>
              <a:rPr lang="ru-RU" dirty="0"/>
              <a:t>Проверка j &gt;= 0 означает, что мы ещё не вышли за левую границу массива. Проверка a[j] &gt; </a:t>
            </a:r>
            <a:r>
              <a:rPr lang="ru-RU" dirty="0" err="1"/>
              <a:t>key</a:t>
            </a:r>
            <a:r>
              <a:rPr lang="ru-RU" dirty="0"/>
              <a:t> означает, что рассматриваемое значение необходимо сдвинуть вправо.</a:t>
            </a:r>
          </a:p>
          <a:p>
            <a:r>
              <a:rPr lang="ru-RU" dirty="0"/>
              <a:t>Порядок этих проверок имеет значение. Оператор &amp;&amp; не вычисляет правую часть, если левая уже равна </a:t>
            </a:r>
            <a:r>
              <a:rPr lang="ru-RU" dirty="0" err="1"/>
              <a:t>false</a:t>
            </a:r>
            <a:r>
              <a:rPr lang="ru-RU" dirty="0"/>
              <a:t>. Поэтому при j = -1 программа не станет обращаться к несуществующему элементу a[-1].</a:t>
            </a:r>
          </a:p>
          <a:p>
            <a:r>
              <a:rPr lang="ru-RU" dirty="0"/>
              <a:t>Внутри цикла выполняется сдвиг:</a:t>
            </a:r>
          </a:p>
          <a:p>
            <a:r>
              <a:rPr lang="ru-RU" dirty="0"/>
              <a:t>a[j + 1] = a[j]; j--;</a:t>
            </a:r>
          </a:p>
          <a:p>
            <a:r>
              <a:rPr lang="ru-RU" dirty="0"/>
              <a:t>Сначала значение переносится на одну позицию вправо. Затем j уменьшается, и мы переходим к следующему элементу слева.</a:t>
            </a:r>
          </a:p>
          <a:p>
            <a:r>
              <a:rPr lang="ru-RU" dirty="0"/>
              <a:t>Когда цикл заканчивается, выполняется строка:</a:t>
            </a:r>
          </a:p>
          <a:p>
            <a:r>
              <a:rPr lang="ru-RU" dirty="0"/>
              <a:t>a[j + 1] = </a:t>
            </a:r>
            <a:r>
              <a:rPr lang="ru-RU" dirty="0" err="1"/>
              <a:t>key</a:t>
            </a:r>
            <a:r>
              <a:rPr lang="ru-RU" dirty="0"/>
              <a:t>;</a:t>
            </a:r>
          </a:p>
          <a:p>
            <a:r>
              <a:rPr lang="ru-RU" dirty="0"/>
              <a:t>Именно она помещает сохранённое значение на нужное место.</a:t>
            </a:r>
          </a:p>
          <a:p>
            <a:r>
              <a:rPr lang="ru-RU" dirty="0"/>
              <a:t>Почему используется j + 1? Если цикл остановился на элементе, который меньше или равен </a:t>
            </a:r>
            <a:r>
              <a:rPr lang="ru-RU" dirty="0" err="1"/>
              <a:t>key</a:t>
            </a:r>
            <a:r>
              <a:rPr lang="ru-RU" dirty="0"/>
              <a:t>, вставляемое значение должно находиться сразу после него. Если же j стал равен -1, выражение j + 1 даст 0, и значение будет записано в начало массива.</a:t>
            </a:r>
          </a:p>
          <a:p>
            <a:r>
              <a:rPr lang="ru-RU" dirty="0"/>
              <a:t>Строка вставки находится после цикла </a:t>
            </a:r>
            <a:r>
              <a:rPr lang="ru-RU" dirty="0" err="1"/>
              <a:t>while</a:t>
            </a:r>
            <a:r>
              <a:rPr lang="ru-RU" dirty="0"/>
              <a:t>, поскольку сначала нужно завершить все необходимые сдвиги.</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Проследим сортировку массива 5, 1, 4, 2, 3 целиком.</a:t>
            </a:r>
          </a:p>
          <a:p>
            <a:r>
              <a:rPr lang="ru-RU" dirty="0"/>
              <a:t>До начала цикла отсортированная часть состоит только из первого элемента — числа 5.</a:t>
            </a:r>
          </a:p>
          <a:p>
            <a:r>
              <a:rPr lang="ru-RU" dirty="0"/>
              <a:t>При i = 1 сохраняем </a:t>
            </a:r>
            <a:r>
              <a:rPr lang="ru-RU" dirty="0" err="1"/>
              <a:t>key</a:t>
            </a:r>
            <a:r>
              <a:rPr lang="ru-RU" dirty="0"/>
              <a:t> = 1. Число 5 больше единицы, поэтому сдвигаем его вправо и записываем единицу в начало. Получаем 1, 5, 4, 2, 3. Первые два элемента отсортированы.</a:t>
            </a:r>
          </a:p>
          <a:p>
            <a:r>
              <a:rPr lang="ru-RU" dirty="0"/>
              <a:t>При i = 2 сохраняем </a:t>
            </a:r>
            <a:r>
              <a:rPr lang="ru-RU" dirty="0" err="1"/>
              <a:t>key</a:t>
            </a:r>
            <a:r>
              <a:rPr lang="ru-RU" dirty="0"/>
              <a:t> = 4. Число 5 сдвигается вправо, а число 1 остаётся на месте. Вставляем четвёрку между ними. Получаем 1, 4, 5, 2, 3. Теперь отсортированы первые три элемента.</a:t>
            </a:r>
          </a:p>
          <a:p>
            <a:r>
              <a:rPr lang="ru-RU" dirty="0"/>
              <a:t>При i = 3 вставляем число 2. Для него сдвигаются вправо числа 5 и 4. Результат: 1, 2, 4, 5, 3.</a:t>
            </a:r>
          </a:p>
          <a:p>
            <a:r>
              <a:rPr lang="ru-RU" dirty="0"/>
              <a:t>При i = 4 вставляем число 3. Числа 5 и 4 сдвигаются вправо. На числе 2 сдвиги заканчиваются, и тройка записывается после него.</a:t>
            </a:r>
          </a:p>
          <a:p>
            <a:r>
              <a:rPr lang="ru-RU" dirty="0"/>
              <a:t>Получаем итоговый массив 1, 2, 3, 4, 5.</a:t>
            </a:r>
          </a:p>
          <a:p>
            <a:r>
              <a:rPr lang="ru-RU" dirty="0"/>
              <a:t>После завершения шага с индексом i часть массива от a[0] до a[i] уже упорядочена. При обработке последнего элемента эта часть охватывает весь массив.</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Берётся элемент </a:t>
            </a:r>
            <a:r>
              <a:rPr lang="ru-RU" dirty="0" err="1"/>
              <a:t>arr</a:t>
            </a:r>
            <a:r>
              <a:rPr lang="ru-RU" dirty="0"/>
              <a:t>[i]</a:t>
            </a:r>
          </a:p>
          <a:p>
            <a:r>
              <a:rPr lang="ru-RU" dirty="0"/>
              <a:t>Он сравнивается </a:t>
            </a:r>
            <a:r>
              <a:rPr lang="ru-RU" b="1" dirty="0"/>
              <a:t>со всеми последующими элементами</a:t>
            </a:r>
            <a:endParaRPr lang="ru-RU" dirty="0"/>
          </a:p>
          <a:p>
            <a:r>
              <a:rPr lang="ru-RU" dirty="0"/>
              <a:t>Если найден элемент меньше — выполняется обмен</a:t>
            </a:r>
          </a:p>
          <a:p>
            <a:r>
              <a:rPr lang="ru-RU" dirty="0"/>
              <a:t>В итоге на позиции i оказывается минимальный элемент</a:t>
            </a:r>
          </a:p>
          <a:p>
            <a:endParaRPr lang="ru-RU" dirty="0"/>
          </a:p>
          <a:p>
            <a:endParaRPr lang="ru-RU" dirty="0"/>
          </a:p>
        </p:txBody>
      </p:sp>
      <p:sp>
        <p:nvSpPr>
          <p:cNvPr id="4" name="Номер слайда 3"/>
          <p:cNvSpPr>
            <a:spLocks noGrp="1"/>
          </p:cNvSpPr>
          <p:nvPr>
            <p:ph type="sldNum" sz="quarter" idx="5"/>
          </p:nvPr>
        </p:nvSpPr>
        <p:spPr/>
        <p:txBody>
          <a:bodyPr/>
          <a:lstStyle/>
          <a:p>
            <a:fld id="{F5E509EF-A798-4BDE-86D6-B7AA1DB2DC7B}" type="slidenum">
              <a:rPr lang="ru-RU" smtClean="0"/>
              <a:t>42</a:t>
            </a:fld>
            <a:endParaRPr lang="ru-RU"/>
          </a:p>
        </p:txBody>
      </p:sp>
    </p:spTree>
    <p:extLst>
      <p:ext uri="{BB962C8B-B14F-4D97-AF65-F5344CB8AC3E}">
        <p14:creationId xmlns:p14="http://schemas.microsoft.com/office/powerpoint/2010/main" val="1421026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Самостоятельная задача предполагает применение обоих алгоритмов без Array.Sort. Копирование нужно для сравнения алгоритмов на одинаковом исходном порядке. Дополнительные проверки: {1,2,3,4}, {7,7,7,7}, обратный порядок {4,3,2,1}, один элемент, пустой массив. Обе показанные сортировки корректно пропускают циклы для пустого и одноэлементного массива.</a:t>
            </a:r>
          </a:p>
          <a:p>
            <a:endParaRPr/>
          </a:p>
          <a:p>
            <a:r>
              <a:t>Источник: https://algs4.cs.princeton.edu/cheatsheet/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первой копии вместо a в коде пузырька используется bubble, для второй в коде вставок используется insertion. Обе сортировки дают -4,-4,-1,0,2,6,9,9. Присваивание int[] bubble = source не создаёт копию: обе переменные ссылаются на один массив. В коде на слайде созданы отдельные экземпляры и скопированы значения. Для сортировки вставками по убыванию условие while: j &gt;= 0 &amp;&amp; a[j] &lt; key, для пузырька if (a[j] &lt; a[j+1]).</a:t>
            </a:r>
          </a:p>
          <a:p>
            <a:endParaRPr/>
          </a:p>
          <a:p>
            <a:r>
              <a:t>Источник: https://algs4.cs.princeton.edu/cheatsheet/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Четыре ошибки: max = 0 при всех отрицательных значениях, условие i &lt;= a.Length, обнуление count внутри цикла, проверка чётности индекса вместо значения. Исправление и результаты на следующем слайде.</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max начинается с a[0].</a:t>
            </a:r>
          </a:p>
          <a:p>
            <a:r>
              <a:t>Условие i &lt; a.Length исключает выход за границу.</a:t>
            </a:r>
          </a:p>
          <a:p>
            <a:r>
              <a:t>count обнуляем до цикла. Проверяем a[i] % 2.</a:t>
            </a:r>
          </a:p>
          <a:p>
            <a:endParaRPr/>
          </a:p>
          <a:p>
            <a:r>
              <a:t>int[] a = { -5, -2, -8 };</a:t>
            </a:r>
          </a:p>
          <a:p>
            <a:r>
              <a:t>int max = a[0];</a:t>
            </a:r>
          </a:p>
          <a:p>
            <a:r>
              <a:t>int count = 0;</a:t>
            </a:r>
          </a:p>
          <a:p>
            <a:r>
              <a:t>for (int i = 0; i &lt; a.Length; i++)</a:t>
            </a:r>
          </a:p>
          <a:p>
            <a:r>
              <a:t>{</a:t>
            </a:r>
          </a:p>
          <a:p>
            <a:r>
              <a:t>    if (a[i] % 2 == 0) count++;</a:t>
            </a:r>
          </a:p>
          <a:p>
            <a:r>
              <a:t>    if (a[i] &gt; max) max = a[i];</a:t>
            </a:r>
          </a:p>
          <a:p>
            <a:r>
              <a:t>}</a:t>
            </a:r>
          </a:p>
          <a:p>
            <a:r>
              <a:t>Console.WriteLine(max);   // -2</a:t>
            </a:r>
          </a:p>
          <a:p>
            <a:r>
              <a:t>Console.WriteLine(count); // 2</a:t>
            </a:r>
          </a:p>
          <a:p>
            <a:endParaRPr/>
          </a:p>
          <a:p>
            <a:r>
              <a:t>Проверка: чётные значения −2 и −8. Максимальное значение −2.</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Самостоятельное задание использует только изученные операции, циклы, условия, ввод и вывод. Для количества максимумов после определения max выполняется ещё один проход с условием a[i] == max. Для последнего минимума сравнение &lt;= заменяет &lt; при обновлении minIndex.</a:t>
            </a:r>
          </a:p>
          <a:p>
            <a:endParaRPr/>
          </a:p>
          <a:p>
            <a:r>
              <a:t>Источник: https://learn.microsoft.com/en-us/dotnet/csharp/language-reference/builtin-types/arrays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4911671-B4D5-4652-9074-AA58A19E33C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31D2CF0-F317-428C-9D8B-32644300FA0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5B3C98D-3674-4161-AD2B-81AE05AB085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7254C54-D261-43A5-BA20-113F0A24992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0D4F72E-6CF8-40C6-A7C8-820BBF97239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09F9B77-64DD-490B-A2A7-46A543B3EA3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98D7173-33F9-4EF9-9526-D2DDFA8CA33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FAF0ED5-6A69-4DE4-85DC-3777E270B6E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4698005-0120-4163-9FBB-AE20555725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359112A-E6C5-42A3-B17F-A5C1227E4AA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Титульный слайд" type="title" userDrawn="1">
  <p:cSld name="Титульный слайд">
    <p:spTree>
      <p:nvGrpSpPr>
        <p:cNvPr id="1" name=""/>
        <p:cNvGrpSpPr/>
        <p:nvPr/>
      </p:nvGrpSpPr>
      <p:grpSpPr bwMode="auto">
        <a:xfrm>
          <a:off x="0" y="0"/>
          <a:ext cx="0" cy="0"/>
          <a:chOff x="0" y="0"/>
          <a:chExt cx="0" cy="0"/>
        </a:xfrm>
      </p:grpSpPr>
      <p:sp>
        <p:nvSpPr>
          <p:cNvPr id="16" name="Google Shape;16;p2"/>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 name="Google Shape;17;p2"/>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8" name="Google Shape;18;p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 name="Google Shape;19;p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 name="Google Shape;20;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918570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Заголовок и объект" type="obj" userDrawn="1">
  <p:cSld name="Заголовок и объект">
    <p:spTree>
      <p:nvGrpSpPr>
        <p:cNvPr id="1" name=""/>
        <p:cNvGrpSpPr/>
        <p:nvPr/>
      </p:nvGrpSpPr>
      <p:grpSpPr bwMode="auto">
        <a:xfrm>
          <a:off x="0" y="0"/>
          <a:ext cx="0" cy="0"/>
          <a:chOff x="0" y="0"/>
          <a:chExt cx="0" cy="0"/>
        </a:xfrm>
      </p:grpSpPr>
      <p:sp>
        <p:nvSpPr>
          <p:cNvPr id="22" name="Google Shape;22;p3"/>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 name="Google Shape;23;p3"/>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4" name="Google Shape;24;p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 name="Google Shape;25;p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 name="Google Shape;26;p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69215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Заголовок раздела" type="secHead" userDrawn="1">
  <p:cSld name="Заголовок раздела">
    <p:spTree>
      <p:nvGrpSpPr>
        <p:cNvPr id="1" name=""/>
        <p:cNvGrpSpPr/>
        <p:nvPr/>
      </p:nvGrpSpPr>
      <p:grpSpPr bwMode="auto">
        <a:xfrm>
          <a:off x="0" y="0"/>
          <a:ext cx="0" cy="0"/>
          <a:chOff x="0" y="0"/>
          <a:chExt cx="0" cy="0"/>
        </a:xfrm>
      </p:grpSpPr>
      <p:sp>
        <p:nvSpPr>
          <p:cNvPr id="28" name="Google Shape;28;p4"/>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 name="Google Shape;29;p4"/>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30" name="Google Shape;30;p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1" name="Google Shape;31;p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 name="Google Shape;32;p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891837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Два объекта" type="twoObj" userDrawn="1">
  <p:cSld name="Два объекта">
    <p:spTree>
      <p:nvGrpSpPr>
        <p:cNvPr id="1" name=""/>
        <p:cNvGrpSpPr/>
        <p:nvPr/>
      </p:nvGrpSpPr>
      <p:grpSpPr bwMode="auto">
        <a:xfrm>
          <a:off x="0" y="0"/>
          <a:ext cx="0" cy="0"/>
          <a:chOff x="0" y="0"/>
          <a:chExt cx="0" cy="0"/>
        </a:xfrm>
      </p:grpSpPr>
      <p:sp>
        <p:nvSpPr>
          <p:cNvPr id="34" name="Google Shape;34;p5"/>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 name="Google Shape;35;p5"/>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6" name="Google Shape;36;p5"/>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7" name="Google Shape;37;p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8" name="Google Shape;38;p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 name="Google Shape;39;p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656901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Сравнение" type="twoTxTwoObj" userDrawn="1">
  <p:cSld name="Сравнение">
    <p:spTree>
      <p:nvGrpSpPr>
        <p:cNvPr id="1" name=""/>
        <p:cNvGrpSpPr/>
        <p:nvPr/>
      </p:nvGrpSpPr>
      <p:grpSpPr bwMode="auto">
        <a:xfrm>
          <a:off x="0" y="0"/>
          <a:ext cx="0" cy="0"/>
          <a:chOff x="0" y="0"/>
          <a:chExt cx="0" cy="0"/>
        </a:xfrm>
      </p:grpSpPr>
      <p:sp>
        <p:nvSpPr>
          <p:cNvPr id="41" name="Google Shape;41;p6"/>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2" name="Google Shape;42;p6"/>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3" name="Google Shape;43;p6"/>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4" name="Google Shape;44;p6"/>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5" name="Google Shape;45;p6"/>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6" name="Google Shape;46;p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7" name="Google Shape;47;p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 name="Google Shape;48;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92900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matchingName="Только заголовок" type="titleOnly" userDrawn="1">
  <p:cSld name="Только заголовок">
    <p:spTree>
      <p:nvGrpSpPr>
        <p:cNvPr id="1" name=""/>
        <p:cNvGrpSpPr/>
        <p:nvPr/>
      </p:nvGrpSpPr>
      <p:grpSpPr bwMode="auto">
        <a:xfrm>
          <a:off x="0" y="0"/>
          <a:ext cx="0" cy="0"/>
          <a:chOff x="0" y="0"/>
          <a:chExt cx="0" cy="0"/>
        </a:xfrm>
      </p:grpSpPr>
      <p:sp>
        <p:nvSpPr>
          <p:cNvPr id="50" name="Google Shape;50;p7"/>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1" name="Google Shape;51;p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 name="Google Shape;52;p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 name="Google Shape;53;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79730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matchingName="Пустой слайд" type="blank" userDrawn="1">
  <p:cSld name="Пустой слайд">
    <p:spTree>
      <p:nvGrpSpPr>
        <p:cNvPr id="1" name=""/>
        <p:cNvGrpSpPr/>
        <p:nvPr/>
      </p:nvGrpSpPr>
      <p:grpSpPr bwMode="auto">
        <a:xfrm>
          <a:off x="0" y="0"/>
          <a:ext cx="0" cy="0"/>
          <a:chOff x="0" y="0"/>
          <a:chExt cx="0" cy="0"/>
        </a:xfrm>
      </p:grpSpPr>
      <p:sp>
        <p:nvSpPr>
          <p:cNvPr id="55" name="Google Shape;55;p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6" name="Google Shape;56;p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7" name="Google Shape;57;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3855319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matchingName="Объект с подписью" type="objTx" userDrawn="1">
  <p:cSld name="Объект с подписью">
    <p:spTree>
      <p:nvGrpSpPr>
        <p:cNvPr id="1" name=""/>
        <p:cNvGrpSpPr/>
        <p:nvPr/>
      </p:nvGrpSpPr>
      <p:grpSpPr bwMode="auto">
        <a:xfrm>
          <a:off x="0" y="0"/>
          <a:ext cx="0" cy="0"/>
          <a:chOff x="0" y="0"/>
          <a:chExt cx="0" cy="0"/>
        </a:xfrm>
      </p:grpSpPr>
      <p:sp>
        <p:nvSpPr>
          <p:cNvPr id="59" name="Google Shape;59;p9"/>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 name="Google Shape;60;p9"/>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61" name="Google Shape;61;p9"/>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2" name="Google Shape;62;p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3" name="Google Shape;63;p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4" name="Google Shape;6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537610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matchingName="Рисунок с подписью" type="picTx" userDrawn="1">
  <p:cSld name="Рисунок с подписью">
    <p:spTree>
      <p:nvGrpSpPr>
        <p:cNvPr id="1" name=""/>
        <p:cNvGrpSpPr/>
        <p:nvPr/>
      </p:nvGrpSpPr>
      <p:grpSpPr bwMode="auto">
        <a:xfrm>
          <a:off x="0" y="0"/>
          <a:ext cx="0" cy="0"/>
          <a:chOff x="0" y="0"/>
          <a:chExt cx="0" cy="0"/>
        </a:xfrm>
      </p:grpSpPr>
      <p:sp>
        <p:nvSpPr>
          <p:cNvPr id="66" name="Google Shape;66;p10"/>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 name="Google Shape;67;p10"/>
          <p:cNvSpPr>
            <a:spLocks noGrp="1"/>
          </p:cNvSpPr>
          <p:nvPr>
            <p:ph type="pic" idx="2"/>
          </p:nvPr>
        </p:nvSpPr>
        <p:spPr bwMode="auto">
          <a:xfrm>
            <a:off x="5183188" y="987425"/>
            <a:ext cx="6172200" cy="4873625"/>
          </a:xfrm>
          <a:prstGeom prst="rect">
            <a:avLst/>
          </a:prstGeom>
          <a:noFill/>
          <a:ln>
            <a:noFill/>
          </a:ln>
        </p:spPr>
      </p:sp>
      <p:sp>
        <p:nvSpPr>
          <p:cNvPr id="68" name="Google Shape;68;p10"/>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9" name="Google Shape;69;p1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0" name="Google Shape;70;p1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1" name="Google Shape;71;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519749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matchingName="Заголовок и вертикальный текст" type="vertTx" userDrawn="1">
  <p:cSld name="Заголовок и вертикальный текст">
    <p:spTree>
      <p:nvGrpSpPr>
        <p:cNvPr id="1" name=""/>
        <p:cNvGrpSpPr/>
        <p:nvPr/>
      </p:nvGrpSpPr>
      <p:grpSpPr bwMode="auto">
        <a:xfrm>
          <a:off x="0" y="0"/>
          <a:ext cx="0" cy="0"/>
          <a:chOff x="0" y="0"/>
          <a:chExt cx="0" cy="0"/>
        </a:xfrm>
      </p:grpSpPr>
      <p:sp>
        <p:nvSpPr>
          <p:cNvPr id="73" name="Google Shape;73;p1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 name="Google Shape;74;p11"/>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75" name="Google Shape;75;p1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6" name="Google Shape;76;p1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 name="Google Shape;77;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838321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Вертикальный заголовок и текст" type="vertTitleAndTx" userDrawn="1">
  <p:cSld name="Вертикальный заголовок и текст">
    <p:spTree>
      <p:nvGrpSpPr>
        <p:cNvPr id="1" name=""/>
        <p:cNvGrpSpPr/>
        <p:nvPr/>
      </p:nvGrpSpPr>
      <p:grpSpPr bwMode="auto">
        <a:xfrm>
          <a:off x="0" y="0"/>
          <a:ext cx="0" cy="0"/>
          <a:chOff x="0" y="0"/>
          <a:chExt cx="0" cy="0"/>
        </a:xfrm>
      </p:grpSpPr>
      <p:sp>
        <p:nvSpPr>
          <p:cNvPr id="79" name="Google Shape;79;p12"/>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0" name="Google Shape;80;p12"/>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81" name="Google Shape;81;p1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2" name="Google Shape;82;p1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3" name="Google Shape;8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4901531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0" name="Google Shape;10;p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1" name="Google Shape;11;p1"/>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2" name="Google Shape;12;p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3" name="Google Shape;13;p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4" name="Google Shape;14;p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403851954"/>
      </p:ext>
    </p:extLst>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3">
            <a:alphaModFix/>
          </a:blip>
          <a:stretch/>
        </a:blipFill>
        <a:effectLst/>
      </p:bgPr>
    </p:bg>
    <p:spTree>
      <p:nvGrpSpPr>
        <p:cNvPr id="1" name=""/>
        <p:cNvGrpSpPr/>
        <p:nvPr/>
      </p:nvGrpSpPr>
      <p:grpSpPr bwMode="auto">
        <a:xfrm>
          <a:off x="0" y="0"/>
          <a:ext cx="0" cy="0"/>
          <a:chOff x="0" y="0"/>
          <a:chExt cx="0" cy="0"/>
        </a:xfrm>
      </p:grpSpPr>
      <p:sp>
        <p:nvSpPr>
          <p:cNvPr id="88" name="Google Shape;88;p13"/>
          <p:cNvSpPr txBox="1"/>
          <p:nvPr/>
        </p:nvSpPr>
        <p:spPr bwMode="auto">
          <a:xfrm>
            <a:off x="3633585" y="2280112"/>
            <a:ext cx="8558415"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000" b="1" i="0" u="none" strike="noStrike" kern="0" cap="none" spc="0" normalizeH="0" baseline="0" noProof="0" dirty="0">
                <a:ln>
                  <a:noFill/>
                </a:ln>
                <a:solidFill>
                  <a:srgbClr val="283CF5"/>
                </a:solidFill>
                <a:effectLst/>
                <a:uLnTx/>
                <a:uFillTx/>
                <a:latin typeface="Arial"/>
                <a:cs typeface="Arial"/>
              </a:rPr>
              <a:t>Одномерные массивы </a:t>
            </a:r>
            <a:endParaRPr kumimoji="0" lang="en-US" sz="2000" b="1" i="0" u="none" strike="noStrike" kern="0" cap="none" spc="0" normalizeH="0" baseline="0" noProof="0" dirty="0">
              <a:ln>
                <a:noFill/>
              </a:ln>
              <a:solidFill>
                <a:srgbClr val="283CF5"/>
              </a:solidFill>
              <a:effectLst/>
              <a:uLnTx/>
              <a:uFillTx/>
              <a:latin typeface="Arial"/>
              <a:cs typeface="Arial"/>
            </a:endParaRPr>
          </a:p>
        </p:txBody>
      </p:sp>
      <p:sp>
        <p:nvSpPr>
          <p:cNvPr id="92" name="Google Shape;92;p13"/>
          <p:cNvSpPr txBox="1"/>
          <p:nvPr/>
        </p:nvSpPr>
        <p:spPr bwMode="auto">
          <a:xfrm>
            <a:off x="3722075" y="5189207"/>
            <a:ext cx="7885206"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400" b="0" i="0" u="none" strike="noStrike" kern="0" cap="none" spc="0" normalizeH="0" baseline="0" noProof="0" dirty="0">
                <a:ln>
                  <a:noFill/>
                </a:ln>
                <a:solidFill>
                  <a:srgbClr val="FFFFFF"/>
                </a:solidFill>
                <a:effectLst/>
                <a:uLnTx/>
                <a:uFillTx/>
                <a:latin typeface="Arial"/>
                <a:cs typeface="Arial"/>
              </a:rPr>
              <a:t>Преподаватель: Евдошенко Неля </a:t>
            </a:r>
            <a:r>
              <a:rPr kumimoji="0" lang="ru-RU" sz="2400" b="0" i="0" u="none" strike="noStrike" kern="0" cap="none" spc="0" normalizeH="0" baseline="0" noProof="0" dirty="0" err="1">
                <a:ln>
                  <a:noFill/>
                </a:ln>
                <a:solidFill>
                  <a:srgbClr val="FFFFFF"/>
                </a:solidFill>
                <a:effectLst/>
                <a:uLnTx/>
                <a:uFillTx/>
                <a:latin typeface="Arial"/>
                <a:cs typeface="Arial"/>
              </a:rPr>
              <a:t>Ильнуровна</a:t>
            </a:r>
            <a:endParaRPr kumimoji="0" sz="1050" b="0" i="0" u="none" strike="noStrike" kern="0" cap="none" spc="0" normalizeH="0" baseline="0" noProof="0" dirty="0">
              <a:ln>
                <a:noFill/>
              </a:ln>
              <a:solidFill>
                <a:srgbClr val="000000"/>
              </a:solidFill>
              <a:effectLst/>
              <a:uLnTx/>
              <a:uFillTx/>
              <a:latin typeface="Arial"/>
              <a:cs typeface="Arial"/>
            </a:endParaRPr>
          </a:p>
        </p:txBody>
      </p:sp>
      <p:sp>
        <p:nvSpPr>
          <p:cNvPr id="93" name="Google Shape;93;p13"/>
          <p:cNvSpPr txBox="1"/>
          <p:nvPr/>
        </p:nvSpPr>
        <p:spPr bwMode="auto">
          <a:xfrm>
            <a:off x="3722075" y="3290820"/>
            <a:ext cx="8146463" cy="107717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Дисциплина: Основы алгоритмизации и программирования</a:t>
            </a:r>
            <a:endParaRPr kumimoji="0" sz="1200" b="0" i="0" u="none" strike="noStrike" kern="0" cap="none" spc="0" normalizeH="0" baseline="0" noProof="0" dirty="0">
              <a:ln>
                <a:noFill/>
              </a:ln>
              <a:solidFill>
                <a:srgbClr val="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C15F218E-4CEA-4832-B457-F0FDCB0B267C}"/>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Зачем нужен массив</a:t>
            </a:r>
          </a:p>
        </p:txBody>
      </p:sp>
      <p:sp>
        <p:nvSpPr>
          <p:cNvPr id="2" name="section">
            <a:extLst>
              <a:ext uri="{FF2B5EF4-FFF2-40B4-BE49-F238E27FC236}">
                <a16:creationId xmlns:a16="http://schemas.microsoft.com/office/drawing/2014/main" id="{D01AD26C-A514-4A47-8EC3-FA43E5E2F96C}"/>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Введение</a:t>
            </a:r>
          </a:p>
        </p:txBody>
      </p:sp>
      <p:sp>
        <p:nvSpPr>
          <p:cNvPr id="3" name="number">
            <a:extLst>
              <a:ext uri="{FF2B5EF4-FFF2-40B4-BE49-F238E27FC236}">
                <a16:creationId xmlns:a16="http://schemas.microsoft.com/office/drawing/2014/main" id="{6B4DC426-B254-40B7-99D0-7F806B053ECE}"/>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03</a:t>
            </a:r>
          </a:p>
        </p:txBody>
      </p:sp>
      <p:sp>
        <p:nvSpPr>
          <p:cNvPr id="4" name="body-0">
            <a:extLst>
              <a:ext uri="{FF2B5EF4-FFF2-40B4-BE49-F238E27FC236}">
                <a16:creationId xmlns:a16="http://schemas.microsoft.com/office/drawing/2014/main" id="{F8F20F08-E699-48C5-801C-9BA75FC24F71}"/>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Задача: хранить оценки группы и обработать их одним алгоритмом.</a:t>
            </a:r>
          </a:p>
        </p:txBody>
      </p:sp>
      <p:sp>
        <p:nvSpPr>
          <p:cNvPr id="5" name="body-1">
            <a:extLst>
              <a:ext uri="{FF2B5EF4-FFF2-40B4-BE49-F238E27FC236}">
                <a16:creationId xmlns:a16="http://schemas.microsoft.com/office/drawing/2014/main" id="{815042E4-C4AD-47EC-8A94-A37367AB96E7}"/>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Отдельная переменная для каждого студента усложняет обработку.</a:t>
            </a:r>
          </a:p>
        </p:txBody>
      </p:sp>
      <p:sp>
        <p:nvSpPr>
          <p:cNvPr id="6" name="code">
            <a:extLst>
              <a:ext uri="{FF2B5EF4-FFF2-40B4-BE49-F238E27FC236}">
                <a16:creationId xmlns:a16="http://schemas.microsoft.com/office/drawing/2014/main" id="{3152B2FB-21CB-4CBB-834F-12F72D98B949}"/>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mark1 = 4;</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mark2 = 5;</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mark3 = 3;</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marks = { 4, 5, 3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marks.Length;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Console.WriteLine(marks[i]);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7" name="result">
            <a:extLst>
              <a:ext uri="{FF2B5EF4-FFF2-40B4-BE49-F238E27FC236}">
                <a16:creationId xmlns:a16="http://schemas.microsoft.com/office/drawing/2014/main" id="{21353411-4225-4E88-AEA5-CA0CBE0F6C4E}"/>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Один массив объединяет данные, один цикл обрабатывает все элементы.</a:t>
            </a:r>
          </a:p>
        </p:txBody>
      </p:sp>
    </p:spTree>
    <p:extLst>
      <p:ext uri="{BB962C8B-B14F-4D97-AF65-F5344CB8AC3E}">
        <p14:creationId xmlns:p14="http://schemas.microsoft.com/office/powerpoint/2010/main" val="131406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24570C61-417C-4C86-A4D4-D0FD75AAD246}"/>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Понятие одномерного массива</a:t>
            </a:r>
          </a:p>
        </p:txBody>
      </p:sp>
      <p:sp>
        <p:nvSpPr>
          <p:cNvPr id="2" name="section">
            <a:extLst>
              <a:ext uri="{FF2B5EF4-FFF2-40B4-BE49-F238E27FC236}">
                <a16:creationId xmlns:a16="http://schemas.microsoft.com/office/drawing/2014/main" id="{09B5FAF9-56EF-4119-8950-C1802BC8A831}"/>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Устройство массива</a:t>
            </a:r>
          </a:p>
        </p:txBody>
      </p:sp>
      <p:sp>
        <p:nvSpPr>
          <p:cNvPr id="3" name="number">
            <a:extLst>
              <a:ext uri="{FF2B5EF4-FFF2-40B4-BE49-F238E27FC236}">
                <a16:creationId xmlns:a16="http://schemas.microsoft.com/office/drawing/2014/main" id="{F8935458-E927-431E-A70A-9D8DC59EB853}"/>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04</a:t>
            </a:r>
          </a:p>
        </p:txBody>
      </p:sp>
      <p:sp>
        <p:nvSpPr>
          <p:cNvPr id="4" name="body-0">
            <a:extLst>
              <a:ext uri="{FF2B5EF4-FFF2-40B4-BE49-F238E27FC236}">
                <a16:creationId xmlns:a16="http://schemas.microsoft.com/office/drawing/2014/main" id="{DDE26E31-6C39-4CB8-9044-D3DE4AC3DDBF}"/>
              </a:ext>
            </a:extLst>
          </p:cNvPr>
          <p:cNvSpPr>
            <a:spLocks noGrp="1"/>
          </p:cNvSpPr>
          <p:nvPr/>
        </p:nvSpPr>
        <p:spPr>
          <a:xfrm>
            <a:off x="609600" y="1476375"/>
            <a:ext cx="10810875" cy="9525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Массив — структура данных для хранения элементов одного типа под общим именем.</a:t>
            </a:r>
          </a:p>
        </p:txBody>
      </p:sp>
      <p:sp>
        <p:nvSpPr>
          <p:cNvPr id="5" name="body-1">
            <a:extLst>
              <a:ext uri="{FF2B5EF4-FFF2-40B4-BE49-F238E27FC236}">
                <a16:creationId xmlns:a16="http://schemas.microsoft.com/office/drawing/2014/main" id="{AEF4E5A2-99DE-404D-9175-E47F6C883A45}"/>
              </a:ext>
            </a:extLst>
          </p:cNvPr>
          <p:cNvSpPr>
            <a:spLocks noGrp="1"/>
          </p:cNvSpPr>
          <p:nvPr/>
        </p:nvSpPr>
        <p:spPr>
          <a:xfrm>
            <a:off x="609600" y="2524125"/>
            <a:ext cx="10810875" cy="9525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Одномерный массив представляет собой последовательность. Для доступа к элементу нужен один индекс.</a:t>
            </a:r>
          </a:p>
        </p:txBody>
      </p:sp>
      <p:sp>
        <p:nvSpPr>
          <p:cNvPr id="6" name="body-2">
            <a:extLst>
              <a:ext uri="{FF2B5EF4-FFF2-40B4-BE49-F238E27FC236}">
                <a16:creationId xmlns:a16="http://schemas.microsoft.com/office/drawing/2014/main" id="{FD570CB3-7506-43EF-89BA-57D7385E7DE8}"/>
              </a:ext>
            </a:extLst>
          </p:cNvPr>
          <p:cNvSpPr>
            <a:spLocks noGrp="1"/>
          </p:cNvSpPr>
          <p:nvPr/>
        </p:nvSpPr>
        <p:spPr>
          <a:xfrm>
            <a:off x="609600" y="3571875"/>
            <a:ext cx="10810875" cy="9525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При создании массива задают его длину. Длина данного экземпляра массива остаётся постоянной.</a:t>
            </a:r>
          </a:p>
        </p:txBody>
      </p:sp>
      <p:sp>
        <p:nvSpPr>
          <p:cNvPr id="7" name="body-3">
            <a:extLst>
              <a:ext uri="{FF2B5EF4-FFF2-40B4-BE49-F238E27FC236}">
                <a16:creationId xmlns:a16="http://schemas.microsoft.com/office/drawing/2014/main" id="{9A89C1AF-7601-445C-9ED7-BA66E1470DB9}"/>
              </a:ext>
            </a:extLst>
          </p:cNvPr>
          <p:cNvSpPr>
            <a:spLocks noGrp="1"/>
          </p:cNvSpPr>
          <p:nvPr/>
        </p:nvSpPr>
        <p:spPr>
          <a:xfrm>
            <a:off x="609600" y="4619625"/>
            <a:ext cx="10810875" cy="9525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Примеры: оценки группы, температуры за неделю, результаты измерений.</a:t>
            </a:r>
          </a:p>
        </p:txBody>
      </p:sp>
    </p:spTree>
    <p:extLst>
      <p:ext uri="{BB962C8B-B14F-4D97-AF65-F5344CB8AC3E}">
        <p14:creationId xmlns:p14="http://schemas.microsoft.com/office/powerpoint/2010/main" val="1715790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75E6147-EFD7-4B0C-94F0-EEAE63A7AC1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Индекс и значение элемента</a:t>
            </a:r>
          </a:p>
        </p:txBody>
      </p:sp>
      <p:sp>
        <p:nvSpPr>
          <p:cNvPr id="2" name="section">
            <a:extLst>
              <a:ext uri="{FF2B5EF4-FFF2-40B4-BE49-F238E27FC236}">
                <a16:creationId xmlns:a16="http://schemas.microsoft.com/office/drawing/2014/main" id="{DC301416-8EA7-46EA-BFD5-D1B9A6FFA42C}"/>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Устройство массива</a:t>
            </a:r>
          </a:p>
        </p:txBody>
      </p:sp>
      <p:sp>
        <p:nvSpPr>
          <p:cNvPr id="3" name="number">
            <a:extLst>
              <a:ext uri="{FF2B5EF4-FFF2-40B4-BE49-F238E27FC236}">
                <a16:creationId xmlns:a16="http://schemas.microsoft.com/office/drawing/2014/main" id="{AC72E842-A44A-4FE6-8CB1-31C79BAD8087}"/>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05</a:t>
            </a:r>
          </a:p>
        </p:txBody>
      </p:sp>
      <p:sp>
        <p:nvSpPr>
          <p:cNvPr id="4" name="definition">
            <a:extLst>
              <a:ext uri="{FF2B5EF4-FFF2-40B4-BE49-F238E27FC236}">
                <a16:creationId xmlns:a16="http://schemas.microsoft.com/office/drawing/2014/main" id="{470F7FA1-D464-4A45-9B1A-6D7E934C401F}"/>
              </a:ext>
            </a:extLst>
          </p:cNvPr>
          <p:cNvSpPr>
            <a:spLocks noGrp="1"/>
          </p:cNvSpPr>
          <p:nvPr/>
        </p:nvSpPr>
        <p:spPr>
          <a:xfrm>
            <a:off x="609600" y="1438275"/>
            <a:ext cx="10972800" cy="476250"/>
          </a:xfrm>
          <a:prstGeom prst="rect">
            <a:avLst/>
          </a:prstGeom>
          <a:noFill/>
          <a:ln w="0">
            <a:noFill/>
            <a:prstDash val="solid"/>
          </a:ln>
        </p:spPr>
        <p:txBody>
          <a:bodyPr wrap="none" lIns="0" tIns="0" rIns="0" bIns="0" anchor="t">
            <a:noAutofit/>
          </a:bodyPr>
          <a:lstStyle>
            <a:defPPr>
              <a:defRPr sz="2250" b="0">
                <a:solidFill>
                  <a:srgbClr val="283C4F"/>
                </a:solidFill>
                <a:latin typeface="DejaVu Sans Mono"/>
                <a:ea typeface="DejaVu Sans Mono"/>
                <a:cs typeface="DejaVu Sans Mono"/>
              </a:defRPr>
            </a:defPPr>
            <a:lvl1pPr>
              <a:buNone/>
              <a:defRPr sz="2250" b="0">
                <a:solidFill>
                  <a:srgbClr val="283C4F"/>
                </a:solidFill>
                <a:latin typeface="DejaVu Sans Mono"/>
                <a:ea typeface="DejaVu Sans Mono"/>
                <a:cs typeface="DejaVu Sans Mono"/>
              </a:defRPr>
            </a:lvl1pPr>
            <a:lvl2pPr>
              <a:buNone/>
              <a:defRPr sz="2250" b="0">
                <a:solidFill>
                  <a:srgbClr val="283C4F"/>
                </a:solidFill>
                <a:latin typeface="DejaVu Sans Mono"/>
                <a:ea typeface="DejaVu Sans Mono"/>
                <a:cs typeface="DejaVu Sans Mono"/>
              </a:defRPr>
            </a:lvl2pPr>
            <a:lvl3pPr>
              <a:buNone/>
              <a:defRPr sz="2250" b="0">
                <a:solidFill>
                  <a:srgbClr val="283C4F"/>
                </a:solidFill>
                <a:latin typeface="DejaVu Sans Mono"/>
                <a:ea typeface="DejaVu Sans Mono"/>
                <a:cs typeface="DejaVu Sans Mono"/>
              </a:defRPr>
            </a:lvl3pPr>
            <a:lvl4pPr>
              <a:buNone/>
              <a:defRPr sz="2250" b="0">
                <a:solidFill>
                  <a:srgbClr val="283C4F"/>
                </a:solidFill>
                <a:latin typeface="DejaVu Sans Mono"/>
                <a:ea typeface="DejaVu Sans Mono"/>
                <a:cs typeface="DejaVu Sans Mono"/>
              </a:defRPr>
            </a:lvl4pPr>
            <a:lvl5pPr>
              <a:buNone/>
              <a:defRPr sz="2250" b="0">
                <a:solidFill>
                  <a:srgbClr val="283C4F"/>
                </a:solidFill>
                <a:latin typeface="DejaVu Sans Mono"/>
                <a:ea typeface="DejaVu Sans Mono"/>
                <a:cs typeface="DejaVu Sans Mono"/>
              </a:defRPr>
            </a:lvl5pPr>
            <a:lvl6pPr>
              <a:buNone/>
              <a:defRPr sz="2250" b="0">
                <a:solidFill>
                  <a:srgbClr val="283C4F"/>
                </a:solidFill>
                <a:latin typeface="DejaVu Sans Mono"/>
                <a:ea typeface="DejaVu Sans Mono"/>
                <a:cs typeface="DejaVu Sans Mono"/>
              </a:defRPr>
            </a:lvl6pPr>
            <a:lvl7pPr>
              <a:buNone/>
              <a:defRPr sz="2250" b="0">
                <a:solidFill>
                  <a:srgbClr val="283C4F"/>
                </a:solidFill>
                <a:latin typeface="DejaVu Sans Mono"/>
                <a:ea typeface="DejaVu Sans Mono"/>
                <a:cs typeface="DejaVu Sans Mono"/>
              </a:defRPr>
            </a:lvl7pPr>
            <a:lvl8pPr>
              <a:buNone/>
              <a:defRPr sz="2250" b="0">
                <a:solidFill>
                  <a:srgbClr val="283C4F"/>
                </a:solidFill>
                <a:latin typeface="DejaVu Sans Mono"/>
                <a:ea typeface="DejaVu Sans Mono"/>
                <a:cs typeface="DejaVu Sans Mono"/>
              </a:defRPr>
            </a:lvl8pPr>
            <a:lvl9pPr>
              <a:buNone/>
              <a:defRPr sz="2250" b="0">
                <a:solidFill>
                  <a:srgbClr val="283C4F"/>
                </a:solidFill>
                <a:latin typeface="DejaVu Sans Mono"/>
                <a:ea typeface="DejaVu Sans Mono"/>
                <a:cs typeface="DejaVu Sans Mono"/>
              </a:defRPr>
            </a:lvl9pPr>
          </a:lstStyle>
          <a:p>
            <a:pPr>
              <a:buNone/>
              <a:defRPr sz="2250" b="0">
                <a:solidFill>
                  <a:srgbClr val="283C4F"/>
                </a:solidFill>
                <a:latin typeface="DejaVu Sans Mono"/>
                <a:ea typeface="DejaVu Sans Mono"/>
                <a:cs typeface="DejaVu Sans Mono"/>
              </a:defRPr>
            </a:pPr>
            <a:r>
              <a:rPr sz="2250" b="0">
                <a:solidFill>
                  <a:srgbClr val="283C4F"/>
                </a:solidFill>
                <a:latin typeface="DejaVu Sans Mono"/>
                <a:ea typeface="DejaVu Sans Mono"/>
                <a:cs typeface="DejaVu Sans Mono"/>
              </a:rPr>
              <a:t>int[] a = { 7, -2, 7, 0, 5 };</a:t>
            </a:r>
          </a:p>
        </p:txBody>
      </p:sp>
      <p:graphicFrame>
        <p:nvGraphicFramePr>
          <p:cNvPr id="5" name="Таблица 4">
            <a:extLst>
              <a:ext uri="{FF2B5EF4-FFF2-40B4-BE49-F238E27FC236}">
                <a16:creationId xmlns:a16="http://schemas.microsoft.com/office/drawing/2014/main" id="{9858E614-603B-4BF4-A91D-7B642219100F}"/>
              </a:ext>
            </a:extLst>
          </p:cNvPr>
          <p:cNvGraphicFramePr/>
          <p:nvPr/>
        </p:nvGraphicFramePr>
        <p:xfrm>
          <a:off x="609600" y="2238375"/>
          <a:ext cx="10972800" cy="1371600"/>
        </p:xfrm>
        <a:graphic>
          <a:graphicData uri="http://schemas.openxmlformats.org/drawingml/2006/table">
            <a:tbl>
              <a:tblPr/>
              <a:tblGrid>
                <a:gridCol w="2400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685800">
                <a:tc>
                  <a:txBody>
                    <a:bodyPr/>
                    <a:lstStyle/>
                    <a:p>
                      <a:r>
                        <a:rPr sz="2250" b="1">
                          <a:solidFill>
                            <a:srgbClr val="FFFFFF"/>
                          </a:solidFill>
                          <a:latin typeface="DejaVu Sans"/>
                          <a:ea typeface="DejaVu Sans"/>
                          <a:cs typeface="DejaVu Sans"/>
                        </a:rPr>
                        <a:t>Индекс</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250" b="1">
                          <a:solidFill>
                            <a:srgbClr val="FFFFFF"/>
                          </a:solidFill>
                          <a:latin typeface="DejaVu Sans"/>
                          <a:ea typeface="DejaVu Sans"/>
                          <a:cs typeface="DejaVu Sans"/>
                        </a:rPr>
                        <a:t>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250" b="1">
                          <a:solidFill>
                            <a:srgbClr val="FFFFFF"/>
                          </a:solidFill>
                          <a:latin typeface="DejaVu Sans"/>
                          <a:ea typeface="DejaVu Sans"/>
                          <a:cs typeface="DejaVu Sans"/>
                        </a:rPr>
                        <a:t>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250" b="1">
                          <a:solidFill>
                            <a:srgbClr val="FFFFF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250" b="1">
                          <a:solidFill>
                            <a:srgbClr val="FFFFF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250" b="1">
                          <a:solidFill>
                            <a:srgbClr val="FFFFF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685800">
                <a:tc>
                  <a:txBody>
                    <a:bodyPr/>
                    <a:lstStyle/>
                    <a:p>
                      <a:r>
                        <a:rPr sz="2250" b="0">
                          <a:solidFill>
                            <a:srgbClr val="283C4F"/>
                          </a:solidFill>
                          <a:latin typeface="DejaVu Sans"/>
                          <a:ea typeface="DejaVu Sans"/>
                          <a:cs typeface="DejaVu Sans"/>
                        </a:rPr>
                        <a:t>Значение</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250" b="0">
                          <a:solidFill>
                            <a:srgbClr val="283C4F"/>
                          </a:solidFill>
                          <a:latin typeface="DejaVu Sans"/>
                          <a:ea typeface="DejaVu Sans"/>
                          <a:cs typeface="DejaVu Sans"/>
                        </a:rPr>
                        <a:t>7</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25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250" b="0">
                          <a:solidFill>
                            <a:srgbClr val="283C4F"/>
                          </a:solidFill>
                          <a:latin typeface="DejaVu Sans"/>
                          <a:ea typeface="DejaVu Sans"/>
                          <a:cs typeface="DejaVu Sans"/>
                        </a:rPr>
                        <a:t>7</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250" b="0">
                          <a:solidFill>
                            <a:srgbClr val="283C4F"/>
                          </a:solidFill>
                          <a:latin typeface="DejaVu Sans"/>
                          <a:ea typeface="DejaVu Sans"/>
                          <a:cs typeface="DejaVu Sans"/>
                        </a:rPr>
                        <a:t>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250" b="0">
                          <a:solidFill>
                            <a:srgbClr val="283C4F"/>
                          </a:solidFill>
                          <a:latin typeface="DejaVu Sans"/>
                          <a:ea typeface="DejaVu Sans"/>
                          <a:cs typeface="DejaVu Sans"/>
                        </a:rPr>
                        <a:t>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bl>
          </a:graphicData>
        </a:graphic>
      </p:graphicFrame>
      <p:sp>
        <p:nvSpPr>
          <p:cNvPr id="6" name="body-0">
            <a:extLst>
              <a:ext uri="{FF2B5EF4-FFF2-40B4-BE49-F238E27FC236}">
                <a16:creationId xmlns:a16="http://schemas.microsoft.com/office/drawing/2014/main" id="{749E4C05-0BD2-4C3A-8F65-82D0CBE90787}"/>
              </a:ext>
            </a:extLst>
          </p:cNvPr>
          <p:cNvSpPr>
            <a:spLocks noGrp="1"/>
          </p:cNvSpPr>
          <p:nvPr/>
        </p:nvSpPr>
        <p:spPr>
          <a:xfrm>
            <a:off x="609600" y="4029075"/>
            <a:ext cx="10858500" cy="5715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a[1] равно −2: индекс указывает место, значение хранится в этом месте.</a:t>
            </a:r>
          </a:p>
        </p:txBody>
      </p:sp>
      <p:sp>
        <p:nvSpPr>
          <p:cNvPr id="7" name="body-1">
            <a:extLst>
              <a:ext uri="{FF2B5EF4-FFF2-40B4-BE49-F238E27FC236}">
                <a16:creationId xmlns:a16="http://schemas.microsoft.com/office/drawing/2014/main" id="{DB62CED3-994B-44DA-B525-F8344415D3C7}"/>
              </a:ext>
            </a:extLst>
          </p:cNvPr>
          <p:cNvSpPr>
            <a:spLocks noGrp="1"/>
          </p:cNvSpPr>
          <p:nvPr/>
        </p:nvSpPr>
        <p:spPr>
          <a:xfrm>
            <a:off x="609600" y="4695825"/>
            <a:ext cx="10858500" cy="5715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Первый элемент имеет индекс 0. Последний — a.Length - 1.</a:t>
            </a:r>
          </a:p>
        </p:txBody>
      </p:sp>
      <p:sp>
        <p:nvSpPr>
          <p:cNvPr id="8" name="body-2">
            <a:extLst>
              <a:ext uri="{FF2B5EF4-FFF2-40B4-BE49-F238E27FC236}">
                <a16:creationId xmlns:a16="http://schemas.microsoft.com/office/drawing/2014/main" id="{7A358C3F-BA8C-463D-A2D4-02D6F6CEDDCB}"/>
              </a:ext>
            </a:extLst>
          </p:cNvPr>
          <p:cNvSpPr>
            <a:spLocks noGrp="1"/>
          </p:cNvSpPr>
          <p:nvPr/>
        </p:nvSpPr>
        <p:spPr>
          <a:xfrm>
            <a:off x="609600" y="5362575"/>
            <a:ext cx="10858500" cy="5715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Второй по порядку элемент имеет индекс 1.</a:t>
            </a:r>
          </a:p>
        </p:txBody>
      </p:sp>
    </p:spTree>
    <p:extLst>
      <p:ext uri="{BB962C8B-B14F-4D97-AF65-F5344CB8AC3E}">
        <p14:creationId xmlns:p14="http://schemas.microsoft.com/office/powerpoint/2010/main" val="210596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945F286-99BB-4173-986C-3E15B79818E8}"/>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Объявление и создание массива</a:t>
            </a:r>
          </a:p>
        </p:txBody>
      </p:sp>
      <p:sp>
        <p:nvSpPr>
          <p:cNvPr id="2" name="section">
            <a:extLst>
              <a:ext uri="{FF2B5EF4-FFF2-40B4-BE49-F238E27FC236}">
                <a16:creationId xmlns:a16="http://schemas.microsoft.com/office/drawing/2014/main" id="{5E65CEC7-5F30-4DDC-A9C3-E3979D16D31D}"/>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DBAAF6AC-E41E-4C80-AE23-D408BE1A01E4}"/>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06</a:t>
            </a:r>
          </a:p>
        </p:txBody>
      </p:sp>
      <p:sp>
        <p:nvSpPr>
          <p:cNvPr id="4" name="body-0">
            <a:extLst>
              <a:ext uri="{FF2B5EF4-FFF2-40B4-BE49-F238E27FC236}">
                <a16:creationId xmlns:a16="http://schemas.microsoft.com/office/drawing/2014/main" id="{E47802CC-D73B-4D47-8998-7B676D86064D}"/>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int[] задаёт тип «массив целых чисел».</a:t>
            </a:r>
          </a:p>
        </p:txBody>
      </p:sp>
      <p:sp>
        <p:nvSpPr>
          <p:cNvPr id="5" name="body-1">
            <a:extLst>
              <a:ext uri="{FF2B5EF4-FFF2-40B4-BE49-F238E27FC236}">
                <a16:creationId xmlns:a16="http://schemas.microsoft.com/office/drawing/2014/main" id="{94630539-3C4D-4C0F-B047-E0683A247E8E}"/>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new int[5] создаёт пять элементов, каждый из которых равен 0.</a:t>
            </a:r>
          </a:p>
        </p:txBody>
      </p:sp>
      <p:sp>
        <p:nvSpPr>
          <p:cNvPr id="6" name="body-2">
            <a:extLst>
              <a:ext uri="{FF2B5EF4-FFF2-40B4-BE49-F238E27FC236}">
                <a16:creationId xmlns:a16="http://schemas.microsoft.com/office/drawing/2014/main" id="{D0A19A01-D2EF-4D82-90BC-2C4BD7754DF8}"/>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Объявление переменной само по себе массив не создаёт.</a:t>
            </a:r>
          </a:p>
        </p:txBody>
      </p:sp>
      <p:sp>
        <p:nvSpPr>
          <p:cNvPr id="7" name="code">
            <a:extLst>
              <a:ext uri="{FF2B5EF4-FFF2-40B4-BE49-F238E27FC236}">
                <a16:creationId xmlns:a16="http://schemas.microsoft.com/office/drawing/2014/main" id="{2B0365A1-83D9-41E5-9114-E9E37373786F}"/>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 = new int[5];</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Или одной строкой</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b = new int[5];</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Console.WriteLine(b.Length); // 5</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Console.WriteLine(b[0]);     // 0</a:t>
            </a:r>
          </a:p>
        </p:txBody>
      </p:sp>
      <p:sp>
        <p:nvSpPr>
          <p:cNvPr id="8" name="result">
            <a:extLst>
              <a:ext uri="{FF2B5EF4-FFF2-40B4-BE49-F238E27FC236}">
                <a16:creationId xmlns:a16="http://schemas.microsoft.com/office/drawing/2014/main" id="{4CEFF6EE-B0C1-4F86-8EE2-EE4E4394BB79}"/>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У int[] начальные значения — 0, у bool[] — false.</a:t>
            </a:r>
          </a:p>
        </p:txBody>
      </p:sp>
    </p:spTree>
    <p:extLst>
      <p:ext uri="{BB962C8B-B14F-4D97-AF65-F5344CB8AC3E}">
        <p14:creationId xmlns:p14="http://schemas.microsoft.com/office/powerpoint/2010/main" val="24483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DC25242-D7E4-4C9A-A40C-34AE0682EB5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Инициализация известными значениями</a:t>
            </a:r>
          </a:p>
        </p:txBody>
      </p:sp>
      <p:sp>
        <p:nvSpPr>
          <p:cNvPr id="2" name="section">
            <a:extLst>
              <a:ext uri="{FF2B5EF4-FFF2-40B4-BE49-F238E27FC236}">
                <a16:creationId xmlns:a16="http://schemas.microsoft.com/office/drawing/2014/main" id="{11D0886B-67F5-4982-9D3E-9826FBD9AB3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E938EC3D-FA10-4AD5-9735-86CFCD417D4C}"/>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07</a:t>
            </a:r>
          </a:p>
        </p:txBody>
      </p:sp>
      <p:sp>
        <p:nvSpPr>
          <p:cNvPr id="4" name="body-0">
            <a:extLst>
              <a:ext uri="{FF2B5EF4-FFF2-40B4-BE49-F238E27FC236}">
                <a16:creationId xmlns:a16="http://schemas.microsoft.com/office/drawing/2014/main" id="{038AE34B-D132-4D1B-B125-91E1F1A8BD15}"/>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Инициализатор задаёт элементы при создании. Длина определяется их количеством.</a:t>
            </a:r>
          </a:p>
        </p:txBody>
      </p:sp>
      <p:sp>
        <p:nvSpPr>
          <p:cNvPr id="5" name="body-1">
            <a:extLst>
              <a:ext uri="{FF2B5EF4-FFF2-40B4-BE49-F238E27FC236}">
                <a16:creationId xmlns:a16="http://schemas.microsoft.com/office/drawing/2014/main" id="{4B89D04F-AD97-4F3E-AFBA-B2C0D498509A}"/>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Тип указывают перед []. Все элементы должны быть совместимы с этим типом.</a:t>
            </a:r>
          </a:p>
        </p:txBody>
      </p:sp>
      <p:sp>
        <p:nvSpPr>
          <p:cNvPr id="6" name="code">
            <a:extLst>
              <a:ext uri="{FF2B5EF4-FFF2-40B4-BE49-F238E27FC236}">
                <a16:creationId xmlns:a16="http://schemas.microsoft.com/office/drawing/2014/main" id="{CBEB971F-C389-4A7C-9FF0-BA0FB61536E3}"/>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b = new int[] { 2, 4, 6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double[] prices = { 9.5, 12.0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string[] names = { "Аня", "Илья"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bool[] flags = new bool[3];</a:t>
            </a:r>
          </a:p>
        </p:txBody>
      </p:sp>
      <p:sp>
        <p:nvSpPr>
          <p:cNvPr id="7" name="result">
            <a:extLst>
              <a:ext uri="{FF2B5EF4-FFF2-40B4-BE49-F238E27FC236}">
                <a16:creationId xmlns:a16="http://schemas.microsoft.com/office/drawing/2014/main" id="{A21BA2D8-8E7E-432A-B6DF-A2F4ACBBA365}"/>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Для примеров далее используем преимущественно int[].</a:t>
            </a:r>
          </a:p>
        </p:txBody>
      </p:sp>
    </p:spTree>
    <p:extLst>
      <p:ext uri="{BB962C8B-B14F-4D97-AF65-F5344CB8AC3E}">
        <p14:creationId xmlns:p14="http://schemas.microsoft.com/office/powerpoint/2010/main" val="6623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755911E4-8AFA-4A8F-A026-4FEF2F5ED405}"/>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Доступ к элементам и границы</a:t>
            </a:r>
          </a:p>
        </p:txBody>
      </p:sp>
      <p:sp>
        <p:nvSpPr>
          <p:cNvPr id="2" name="section">
            <a:extLst>
              <a:ext uri="{FF2B5EF4-FFF2-40B4-BE49-F238E27FC236}">
                <a16:creationId xmlns:a16="http://schemas.microsoft.com/office/drawing/2014/main" id="{A47C9C8F-6889-4B69-9287-E1259284078D}"/>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C45E3C62-FB90-4C9A-873E-479EE5E806A3}"/>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08</a:t>
            </a:r>
          </a:p>
        </p:txBody>
      </p:sp>
      <p:sp>
        <p:nvSpPr>
          <p:cNvPr id="4" name="body-0">
            <a:extLst>
              <a:ext uri="{FF2B5EF4-FFF2-40B4-BE49-F238E27FC236}">
                <a16:creationId xmlns:a16="http://schemas.microsoft.com/office/drawing/2014/main" id="{8104B5CB-5954-427F-AEEB-A28AD772D3A1}"/>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Чтение: переменная получает значение элемента.</a:t>
            </a:r>
          </a:p>
        </p:txBody>
      </p:sp>
      <p:sp>
        <p:nvSpPr>
          <p:cNvPr id="5" name="body-1">
            <a:extLst>
              <a:ext uri="{FF2B5EF4-FFF2-40B4-BE49-F238E27FC236}">
                <a16:creationId xmlns:a16="http://schemas.microsoft.com/office/drawing/2014/main" id="{8C595A7B-EB85-43AF-B066-93DA39BF9341}"/>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Запись: элемент получает новое значение.</a:t>
            </a:r>
          </a:p>
        </p:txBody>
      </p:sp>
      <p:sp>
        <p:nvSpPr>
          <p:cNvPr id="6" name="body-2">
            <a:extLst>
              <a:ext uri="{FF2B5EF4-FFF2-40B4-BE49-F238E27FC236}">
                <a16:creationId xmlns:a16="http://schemas.microsoft.com/office/drawing/2014/main" id="{731386AC-AF84-40C8-AD36-078DD1BDCB75}"/>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Допустимые индексы: от 0 до a.Length - 1.</a:t>
            </a:r>
          </a:p>
        </p:txBody>
      </p:sp>
      <p:sp>
        <p:nvSpPr>
          <p:cNvPr id="7" name="code">
            <a:extLst>
              <a:ext uri="{FF2B5EF4-FFF2-40B4-BE49-F238E27FC236}">
                <a16:creationId xmlns:a16="http://schemas.microsoft.com/office/drawing/2014/main" id="{49F30E4C-BF82-40F3-B66C-A85611312F00}"/>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x = a[1];       // x = -2</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a[3] = 9;</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Console.WriteLine(a[3]); // 9</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Так обращаться нельзя:</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a[a.Length]</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Ошибка IndexOutOfRangeException</a:t>
            </a:r>
          </a:p>
        </p:txBody>
      </p:sp>
      <p:sp>
        <p:nvSpPr>
          <p:cNvPr id="8" name="result">
            <a:extLst>
              <a:ext uri="{FF2B5EF4-FFF2-40B4-BE49-F238E27FC236}">
                <a16:creationId xmlns:a16="http://schemas.microsoft.com/office/drawing/2014/main" id="{845B1C3E-BDE3-493F-9ED0-A74DECB78A16}"/>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a.Length — свойство без круглых скобок. Здесь a.Length равно 5.</a:t>
            </a:r>
          </a:p>
        </p:txBody>
      </p:sp>
    </p:spTree>
    <p:extLst>
      <p:ext uri="{BB962C8B-B14F-4D97-AF65-F5344CB8AC3E}">
        <p14:creationId xmlns:p14="http://schemas.microsoft.com/office/powerpoint/2010/main" val="1423942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D32FAE94-2993-47C8-946D-CD5B1EF91FBB}"/>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Заполнение массива по формуле</a:t>
            </a:r>
          </a:p>
        </p:txBody>
      </p:sp>
      <p:sp>
        <p:nvSpPr>
          <p:cNvPr id="2" name="section">
            <a:extLst>
              <a:ext uri="{FF2B5EF4-FFF2-40B4-BE49-F238E27FC236}">
                <a16:creationId xmlns:a16="http://schemas.microsoft.com/office/drawing/2014/main" id="{EFA97BFC-5AFD-4D2F-8576-10637CF62BB4}"/>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94C91D02-739B-4CAB-A71E-494A8506F96C}"/>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09</a:t>
            </a:r>
          </a:p>
        </p:txBody>
      </p:sp>
      <p:sp>
        <p:nvSpPr>
          <p:cNvPr id="4" name="body-0">
            <a:extLst>
              <a:ext uri="{FF2B5EF4-FFF2-40B4-BE49-F238E27FC236}">
                <a16:creationId xmlns:a16="http://schemas.microsoft.com/office/drawing/2014/main" id="{5B1C5E01-6ABE-4D27-A388-5A201D92B459}"/>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Цикл последовательно присваивает значение каждому элементу.</a:t>
            </a:r>
          </a:p>
        </p:txBody>
      </p:sp>
      <p:sp>
        <p:nvSpPr>
          <p:cNvPr id="5" name="body-1">
            <a:extLst>
              <a:ext uri="{FF2B5EF4-FFF2-40B4-BE49-F238E27FC236}">
                <a16:creationId xmlns:a16="http://schemas.microsoft.com/office/drawing/2014/main" id="{9F4B9DEE-E407-40A1-B05C-92EDCC092A46}"/>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Формула может зависеть от индекса. Здесь получаем первые пять положительных чётных чисел.</a:t>
            </a:r>
          </a:p>
        </p:txBody>
      </p:sp>
      <p:sp>
        <p:nvSpPr>
          <p:cNvPr id="6" name="code">
            <a:extLst>
              <a:ext uri="{FF2B5EF4-FFF2-40B4-BE49-F238E27FC236}">
                <a16:creationId xmlns:a16="http://schemas.microsoft.com/office/drawing/2014/main" id="{21DF685D-555A-4C1B-92D1-0F80D8834490}"/>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new int[5];</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a[i] = 2 * (i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 2 4 6 8 10</a:t>
            </a:r>
          </a:p>
        </p:txBody>
      </p:sp>
      <p:sp>
        <p:nvSpPr>
          <p:cNvPr id="7" name="result">
            <a:extLst>
              <a:ext uri="{FF2B5EF4-FFF2-40B4-BE49-F238E27FC236}">
                <a16:creationId xmlns:a16="http://schemas.microsoft.com/office/drawing/2014/main" id="{D8DD3E05-305A-4C48-8E5C-A5F49E176F06}"/>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При i = 0 выражение 2 * (i + 1) равно 2.</a:t>
            </a:r>
          </a:p>
        </p:txBody>
      </p:sp>
    </p:spTree>
    <p:extLst>
      <p:ext uri="{BB962C8B-B14F-4D97-AF65-F5344CB8AC3E}">
        <p14:creationId xmlns:p14="http://schemas.microsoft.com/office/powerpoint/2010/main" val="212038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E18FFF17-F5EE-4449-BA38-D67F2B178407}"/>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Ввод длины с проверкой</a:t>
            </a:r>
          </a:p>
        </p:txBody>
      </p:sp>
      <p:sp>
        <p:nvSpPr>
          <p:cNvPr id="2" name="section">
            <a:extLst>
              <a:ext uri="{FF2B5EF4-FFF2-40B4-BE49-F238E27FC236}">
                <a16:creationId xmlns:a16="http://schemas.microsoft.com/office/drawing/2014/main" id="{A9AA5F1C-059C-4BAB-A905-37B9601FDF05}"/>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8A8CB4A8-95E5-41CE-97A3-A9200C580549}"/>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10</a:t>
            </a:r>
          </a:p>
        </p:txBody>
      </p:sp>
      <p:sp>
        <p:nvSpPr>
          <p:cNvPr id="4" name="intro">
            <a:extLst>
              <a:ext uri="{FF2B5EF4-FFF2-40B4-BE49-F238E27FC236}">
                <a16:creationId xmlns:a16="http://schemas.microsoft.com/office/drawing/2014/main" id="{4D008A5A-6910-4B77-BBFA-311A00CBCC2E}"/>
              </a:ext>
            </a:extLst>
          </p:cNvPr>
          <p:cNvSpPr>
            <a:spLocks noGrp="1"/>
          </p:cNvSpPr>
          <p:nvPr/>
        </p:nvSpPr>
        <p:spPr>
          <a:xfrm>
            <a:off x="609600" y="1400175"/>
            <a:ext cx="10858500" cy="619125"/>
          </a:xfrm>
          <a:prstGeom prst="rect">
            <a:avLst/>
          </a:prstGeom>
          <a:noFill/>
          <a:ln w="0">
            <a:noFill/>
            <a:prstDash val="solid"/>
          </a:ln>
        </p:spPr>
        <p:txBody>
          <a:bodyPr wrap="square" lIns="0" tIns="0" rIns="0" bIns="0" anchor="t">
            <a:noAutofit/>
          </a:bodyPr>
          <a:lstStyle>
            <a:defPPr>
              <a:defRPr sz="1875" b="0">
                <a:solidFill>
                  <a:srgbClr val="283C4F"/>
                </a:solidFill>
                <a:latin typeface="DejaVu Sans"/>
                <a:ea typeface="DejaVu Sans"/>
                <a:cs typeface="DejaVu Sans"/>
              </a:defRPr>
            </a:defPPr>
            <a:lvl1pPr>
              <a:buNone/>
              <a:defRPr sz="1875" b="0">
                <a:solidFill>
                  <a:srgbClr val="283C4F"/>
                </a:solidFill>
                <a:latin typeface="DejaVu Sans"/>
                <a:ea typeface="DejaVu Sans"/>
                <a:cs typeface="DejaVu Sans"/>
              </a:defRPr>
            </a:lvl1pPr>
            <a:lvl2pPr>
              <a:buNone/>
              <a:defRPr sz="1875" b="0">
                <a:solidFill>
                  <a:srgbClr val="283C4F"/>
                </a:solidFill>
                <a:latin typeface="DejaVu Sans"/>
                <a:ea typeface="DejaVu Sans"/>
                <a:cs typeface="DejaVu Sans"/>
              </a:defRPr>
            </a:lvl2pPr>
            <a:lvl3pPr>
              <a:buNone/>
              <a:defRPr sz="1875" b="0">
                <a:solidFill>
                  <a:srgbClr val="283C4F"/>
                </a:solidFill>
                <a:latin typeface="DejaVu Sans"/>
                <a:ea typeface="DejaVu Sans"/>
                <a:cs typeface="DejaVu Sans"/>
              </a:defRPr>
            </a:lvl3pPr>
            <a:lvl4pPr>
              <a:buNone/>
              <a:defRPr sz="1875" b="0">
                <a:solidFill>
                  <a:srgbClr val="283C4F"/>
                </a:solidFill>
                <a:latin typeface="DejaVu Sans"/>
                <a:ea typeface="DejaVu Sans"/>
                <a:cs typeface="DejaVu Sans"/>
              </a:defRPr>
            </a:lvl4pPr>
            <a:lvl5pPr>
              <a:buNone/>
              <a:defRPr sz="1875" b="0">
                <a:solidFill>
                  <a:srgbClr val="283C4F"/>
                </a:solidFill>
                <a:latin typeface="DejaVu Sans"/>
                <a:ea typeface="DejaVu Sans"/>
                <a:cs typeface="DejaVu Sans"/>
              </a:defRPr>
            </a:lvl5pPr>
            <a:lvl6pPr>
              <a:buNone/>
              <a:defRPr sz="1875" b="0">
                <a:solidFill>
                  <a:srgbClr val="283C4F"/>
                </a:solidFill>
                <a:latin typeface="DejaVu Sans"/>
                <a:ea typeface="DejaVu Sans"/>
                <a:cs typeface="DejaVu Sans"/>
              </a:defRPr>
            </a:lvl6pPr>
            <a:lvl7pPr>
              <a:buNone/>
              <a:defRPr sz="1875" b="0">
                <a:solidFill>
                  <a:srgbClr val="283C4F"/>
                </a:solidFill>
                <a:latin typeface="DejaVu Sans"/>
                <a:ea typeface="DejaVu Sans"/>
                <a:cs typeface="DejaVu Sans"/>
              </a:defRPr>
            </a:lvl7pPr>
            <a:lvl8pPr>
              <a:buNone/>
              <a:defRPr sz="1875" b="0">
                <a:solidFill>
                  <a:srgbClr val="283C4F"/>
                </a:solidFill>
                <a:latin typeface="DejaVu Sans"/>
                <a:ea typeface="DejaVu Sans"/>
                <a:cs typeface="DejaVu Sans"/>
              </a:defRPr>
            </a:lvl8pPr>
            <a:lvl9pPr>
              <a:buNone/>
              <a:defRPr sz="1875" b="0">
                <a:solidFill>
                  <a:srgbClr val="283C4F"/>
                </a:solidFill>
                <a:latin typeface="DejaVu Sans"/>
                <a:ea typeface="DejaVu Sans"/>
                <a:cs typeface="DejaVu Sans"/>
              </a:defRPr>
            </a:lvl9pPr>
          </a:lstStyle>
          <a:p>
            <a:pPr>
              <a:buNone/>
              <a:defRPr sz="1875" b="0">
                <a:solidFill>
                  <a:srgbClr val="283C4F"/>
                </a:solidFill>
                <a:latin typeface="DejaVu Sans"/>
                <a:ea typeface="DejaVu Sans"/>
                <a:cs typeface="DejaVu Sans"/>
              </a:defRPr>
            </a:pPr>
            <a:r>
              <a:rPr sz="1875" b="0">
                <a:solidFill>
                  <a:srgbClr val="283C4F"/>
                </a:solidFill>
                <a:latin typeface="DejaVu Sans"/>
                <a:ea typeface="DejaVu Sans"/>
                <a:cs typeface="DejaVu Sans"/>
              </a:rPr>
              <a:t>Для следующего примера длина должна быть положительным целым числом.</a:t>
            </a:r>
          </a:p>
        </p:txBody>
      </p:sp>
      <p:sp>
        <p:nvSpPr>
          <p:cNvPr id="5" name="code">
            <a:extLst>
              <a:ext uri="{FF2B5EF4-FFF2-40B4-BE49-F238E27FC236}">
                <a16:creationId xmlns:a16="http://schemas.microsoft.com/office/drawing/2014/main" id="{04EACFE8-15D2-4A55-9B4B-C29657782DC6}"/>
              </a:ext>
            </a:extLst>
          </p:cNvPr>
          <p:cNvSpPr>
            <a:spLocks noGrp="1"/>
          </p:cNvSpPr>
          <p:nvPr/>
        </p:nvSpPr>
        <p:spPr>
          <a:xfrm>
            <a:off x="609600" y="2124075"/>
            <a:ext cx="10972800" cy="347662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n;</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Console.Write("Количество элементов: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while (!int.TryParse(Console.ReadLine(), out n)</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 n &lt;=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Console.Write("Введите целое n &gt; 0: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new int[n];</a:t>
            </a:r>
          </a:p>
        </p:txBody>
      </p:sp>
      <p:sp>
        <p:nvSpPr>
          <p:cNvPr id="6" name="result">
            <a:extLst>
              <a:ext uri="{FF2B5EF4-FFF2-40B4-BE49-F238E27FC236}">
                <a16:creationId xmlns:a16="http://schemas.microsoft.com/office/drawing/2014/main" id="{768A0AFF-AE2D-4750-A883-1D968FFAEAFD}"/>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TryParse возвращает true при успешном преобразовании строки в int.</a:t>
            </a:r>
          </a:p>
        </p:txBody>
      </p:sp>
    </p:spTree>
    <p:extLst>
      <p:ext uri="{BB962C8B-B14F-4D97-AF65-F5344CB8AC3E}">
        <p14:creationId xmlns:p14="http://schemas.microsoft.com/office/powerpoint/2010/main" val="772824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2181BB8-A703-4556-A4D4-B352173C275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Заполнение с клавиатуры</a:t>
            </a:r>
          </a:p>
        </p:txBody>
      </p:sp>
      <p:sp>
        <p:nvSpPr>
          <p:cNvPr id="2" name="section">
            <a:extLst>
              <a:ext uri="{FF2B5EF4-FFF2-40B4-BE49-F238E27FC236}">
                <a16:creationId xmlns:a16="http://schemas.microsoft.com/office/drawing/2014/main" id="{CE70016E-CB5F-4D37-B27C-39D3F8F1DA30}"/>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3B733D57-29BA-4002-999F-918A8169A722}"/>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11</a:t>
            </a:r>
          </a:p>
        </p:txBody>
      </p:sp>
      <p:sp>
        <p:nvSpPr>
          <p:cNvPr id="4" name="body-0">
            <a:extLst>
              <a:ext uri="{FF2B5EF4-FFF2-40B4-BE49-F238E27FC236}">
                <a16:creationId xmlns:a16="http://schemas.microsoft.com/office/drawing/2014/main" id="{E3F266F5-0F27-46B9-B7C9-316F669C9708}"/>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Продолжение: массив a уже создан. Вводим по одному элементу в строке.</a:t>
            </a:r>
          </a:p>
        </p:txBody>
      </p:sp>
      <p:sp>
        <p:nvSpPr>
          <p:cNvPr id="5" name="body-1">
            <a:extLst>
              <a:ext uri="{FF2B5EF4-FFF2-40B4-BE49-F238E27FC236}">
                <a16:creationId xmlns:a16="http://schemas.microsoft.com/office/drawing/2014/main" id="{38CD66CA-B6C1-4494-AD8F-C9C8EA29E6E5}"/>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Для подсказки человеку используем i + 1, для доступа к массиву — i.</a:t>
            </a:r>
          </a:p>
        </p:txBody>
      </p:sp>
      <p:sp>
        <p:nvSpPr>
          <p:cNvPr id="6" name="code">
            <a:extLst>
              <a:ext uri="{FF2B5EF4-FFF2-40B4-BE49-F238E27FC236}">
                <a16:creationId xmlns:a16="http://schemas.microsoft.com/office/drawing/2014/main" id="{85051112-08A8-4D7C-A6A9-5140B180619E}"/>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Console.Write($"Элемент {i + 1}: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while (!int.TryParse(</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Console.ReadLine(), out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Console.Write("Повторите ввод: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7" name="result">
            <a:extLst>
              <a:ext uri="{FF2B5EF4-FFF2-40B4-BE49-F238E27FC236}">
                <a16:creationId xmlns:a16="http://schemas.microsoft.com/office/drawing/2014/main" id="{7F050FB6-457F-497C-83A9-8220A6D66B93}"/>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После цикла каждый элемент содержит корректное целое число.</a:t>
            </a:r>
          </a:p>
        </p:txBody>
      </p:sp>
    </p:spTree>
    <p:extLst>
      <p:ext uri="{BB962C8B-B14F-4D97-AF65-F5344CB8AC3E}">
        <p14:creationId xmlns:p14="http://schemas.microsoft.com/office/powerpoint/2010/main" val="716732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485417B-B2C9-4FC7-B325-9429F24B3A76}"/>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Заполнение случайными числами</a:t>
            </a:r>
          </a:p>
        </p:txBody>
      </p:sp>
      <p:sp>
        <p:nvSpPr>
          <p:cNvPr id="2" name="section">
            <a:extLst>
              <a:ext uri="{FF2B5EF4-FFF2-40B4-BE49-F238E27FC236}">
                <a16:creationId xmlns:a16="http://schemas.microsoft.com/office/drawing/2014/main" id="{69DE1BCA-ECE0-4481-9994-C02BB2554315}"/>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Создание и заполнение</a:t>
            </a:r>
          </a:p>
        </p:txBody>
      </p:sp>
      <p:sp>
        <p:nvSpPr>
          <p:cNvPr id="3" name="number">
            <a:extLst>
              <a:ext uri="{FF2B5EF4-FFF2-40B4-BE49-F238E27FC236}">
                <a16:creationId xmlns:a16="http://schemas.microsoft.com/office/drawing/2014/main" id="{6194C429-1307-42E9-BC4A-8A84DF0B781D}"/>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12</a:t>
            </a:r>
          </a:p>
        </p:txBody>
      </p:sp>
      <p:sp>
        <p:nvSpPr>
          <p:cNvPr id="4" name="body-0">
            <a:extLst>
              <a:ext uri="{FF2B5EF4-FFF2-40B4-BE49-F238E27FC236}">
                <a16:creationId xmlns:a16="http://schemas.microsoft.com/office/drawing/2014/main" id="{2DEE1630-EE94-49E4-8F09-6A5B6FBE5E37}"/>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Объект Random создаём до цикла.</a:t>
            </a:r>
          </a:p>
        </p:txBody>
      </p:sp>
      <p:sp>
        <p:nvSpPr>
          <p:cNvPr id="5" name="body-1">
            <a:extLst>
              <a:ext uri="{FF2B5EF4-FFF2-40B4-BE49-F238E27FC236}">
                <a16:creationId xmlns:a16="http://schemas.microsoft.com/office/drawing/2014/main" id="{57669071-19FC-45AA-A191-7236A3D05FE9}"/>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Next(min, max) включает нижнюю границу и исключает верхнюю.</a:t>
            </a:r>
          </a:p>
        </p:txBody>
      </p:sp>
      <p:sp>
        <p:nvSpPr>
          <p:cNvPr id="6" name="code">
            <a:extLst>
              <a:ext uri="{FF2B5EF4-FFF2-40B4-BE49-F238E27FC236}">
                <a16:creationId xmlns:a16="http://schemas.microsoft.com/office/drawing/2014/main" id="{C1E8FB4A-D0A4-4B71-8B81-FCD3CE8BD89E}"/>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new int[8];</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Random random = new Random();</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a[i] = random.Next(-10, 11);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Возможны числа от -10 до 10</a:t>
            </a:r>
          </a:p>
        </p:txBody>
      </p:sp>
      <p:sp>
        <p:nvSpPr>
          <p:cNvPr id="7" name="result">
            <a:extLst>
              <a:ext uri="{FF2B5EF4-FFF2-40B4-BE49-F238E27FC236}">
                <a16:creationId xmlns:a16="http://schemas.microsoft.com/office/drawing/2014/main" id="{FE530297-79BC-40B0-9679-788B7C5C8452}"/>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Чтобы получить значения от 1 до 100, используем Next(1, 101).</a:t>
            </a:r>
          </a:p>
        </p:txBody>
      </p:sp>
    </p:spTree>
    <p:extLst>
      <p:ext uri="{BB962C8B-B14F-4D97-AF65-F5344CB8AC3E}">
        <p14:creationId xmlns:p14="http://schemas.microsoft.com/office/powerpoint/2010/main" val="1827078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598931F-AC8F-4849-80A4-F05E218B6AD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Перебор массива циклом for</a:t>
            </a:r>
          </a:p>
        </p:txBody>
      </p:sp>
      <p:sp>
        <p:nvSpPr>
          <p:cNvPr id="2" name="section">
            <a:extLst>
              <a:ext uri="{FF2B5EF4-FFF2-40B4-BE49-F238E27FC236}">
                <a16:creationId xmlns:a16="http://schemas.microsoft.com/office/drawing/2014/main" id="{3F159050-7A1E-4321-8936-D06C1A516B8E}"/>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Перебор</a:t>
            </a:r>
          </a:p>
        </p:txBody>
      </p:sp>
      <p:sp>
        <p:nvSpPr>
          <p:cNvPr id="3" name="number">
            <a:extLst>
              <a:ext uri="{FF2B5EF4-FFF2-40B4-BE49-F238E27FC236}">
                <a16:creationId xmlns:a16="http://schemas.microsoft.com/office/drawing/2014/main" id="{4056986D-6634-4FDD-89E2-4A2C3330FF5A}"/>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13</a:t>
            </a:r>
          </a:p>
        </p:txBody>
      </p:sp>
      <p:sp>
        <p:nvSpPr>
          <p:cNvPr id="4" name="body-0">
            <a:extLst>
              <a:ext uri="{FF2B5EF4-FFF2-40B4-BE49-F238E27FC236}">
                <a16:creationId xmlns:a16="http://schemas.microsoft.com/office/drawing/2014/main" id="{3C9FE292-FE9E-475F-912C-5D57C15F9BE1}"/>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Перебор — последовательное обращение к элементам массива.</a:t>
            </a:r>
          </a:p>
        </p:txBody>
      </p:sp>
      <p:sp>
        <p:nvSpPr>
          <p:cNvPr id="5" name="body-1">
            <a:extLst>
              <a:ext uri="{FF2B5EF4-FFF2-40B4-BE49-F238E27FC236}">
                <a16:creationId xmlns:a16="http://schemas.microsoft.com/office/drawing/2014/main" id="{2611FF5B-1E6E-4D68-95E6-E37AA96C6ED2}"/>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for позволяет использовать индекс и изменять a[i].</a:t>
            </a:r>
          </a:p>
        </p:txBody>
      </p:sp>
      <p:sp>
        <p:nvSpPr>
          <p:cNvPr id="6" name="body-2">
            <a:extLst>
              <a:ext uri="{FF2B5EF4-FFF2-40B4-BE49-F238E27FC236}">
                <a16:creationId xmlns:a16="http://schemas.microsoft.com/office/drawing/2014/main" id="{86AFECEA-F436-4B55-85BE-DA2925544C46}"/>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Условие i &lt; a.Length защищает верхнюю границу.</a:t>
            </a:r>
          </a:p>
        </p:txBody>
      </p:sp>
      <p:sp>
        <p:nvSpPr>
          <p:cNvPr id="7" name="code">
            <a:extLst>
              <a:ext uri="{FF2B5EF4-FFF2-40B4-BE49-F238E27FC236}">
                <a16:creationId xmlns:a16="http://schemas.microsoft.com/office/drawing/2014/main" id="{4591C550-5D13-4434-A4C8-28274F789F77}"/>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$"a[{i}] =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a[0] = 7</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a[1] = -2</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p:txBody>
      </p:sp>
      <p:sp>
        <p:nvSpPr>
          <p:cNvPr id="8" name="result">
            <a:extLst>
              <a:ext uri="{FF2B5EF4-FFF2-40B4-BE49-F238E27FC236}">
                <a16:creationId xmlns:a16="http://schemas.microsoft.com/office/drawing/2014/main" id="{3815CCA6-904B-44FB-8321-023AA02CE745}"/>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При a.Length == 0 тело этого цикла не выполнится.</a:t>
            </a:r>
          </a:p>
        </p:txBody>
      </p:sp>
    </p:spTree>
    <p:extLst>
      <p:ext uri="{BB962C8B-B14F-4D97-AF65-F5344CB8AC3E}">
        <p14:creationId xmlns:p14="http://schemas.microsoft.com/office/powerpoint/2010/main" val="660989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8F5A8BD-4127-4586-91C1-5808471B35A1}"/>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Перебор массива циклом foreach</a:t>
            </a:r>
          </a:p>
        </p:txBody>
      </p:sp>
      <p:sp>
        <p:nvSpPr>
          <p:cNvPr id="2" name="section">
            <a:extLst>
              <a:ext uri="{FF2B5EF4-FFF2-40B4-BE49-F238E27FC236}">
                <a16:creationId xmlns:a16="http://schemas.microsoft.com/office/drawing/2014/main" id="{686C3DAA-5E2D-4F0A-8BF9-152C0476276B}"/>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Перебор</a:t>
            </a:r>
          </a:p>
        </p:txBody>
      </p:sp>
      <p:sp>
        <p:nvSpPr>
          <p:cNvPr id="3" name="number">
            <a:extLst>
              <a:ext uri="{FF2B5EF4-FFF2-40B4-BE49-F238E27FC236}">
                <a16:creationId xmlns:a16="http://schemas.microsoft.com/office/drawing/2014/main" id="{816B3573-6177-400E-9B12-99F1614DB30B}"/>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14</a:t>
            </a:r>
          </a:p>
        </p:txBody>
      </p:sp>
      <p:sp>
        <p:nvSpPr>
          <p:cNvPr id="4" name="body-0">
            <a:extLst>
              <a:ext uri="{FF2B5EF4-FFF2-40B4-BE49-F238E27FC236}">
                <a16:creationId xmlns:a16="http://schemas.microsoft.com/office/drawing/2014/main" id="{DBC2F41B-1414-41AF-9A46-C2290200F110}"/>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foreach последовательно получает значения элементов.</a:t>
            </a:r>
          </a:p>
        </p:txBody>
      </p:sp>
      <p:sp>
        <p:nvSpPr>
          <p:cNvPr id="5" name="body-1">
            <a:extLst>
              <a:ext uri="{FF2B5EF4-FFF2-40B4-BE49-F238E27FC236}">
                <a16:creationId xmlns:a16="http://schemas.microsoft.com/office/drawing/2014/main" id="{132299AB-4DB5-4762-9B10-448690E0CD1B}"/>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Удобен для чтения, вывода и подсчёта, когда индекс не нужен.</a:t>
            </a:r>
          </a:p>
        </p:txBody>
      </p:sp>
      <p:sp>
        <p:nvSpPr>
          <p:cNvPr id="6" name="body-2">
            <a:extLst>
              <a:ext uri="{FF2B5EF4-FFF2-40B4-BE49-F238E27FC236}">
                <a16:creationId xmlns:a16="http://schemas.microsoft.com/office/drawing/2014/main" id="{AC4444D6-37DE-4339-A272-AD7E7B565310}"/>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Обычной переменной x в этом цикле нельзя присвоить новое значение.</a:t>
            </a:r>
          </a:p>
        </p:txBody>
      </p:sp>
      <p:sp>
        <p:nvSpPr>
          <p:cNvPr id="7" name="code">
            <a:extLst>
              <a:ext uri="{FF2B5EF4-FFF2-40B4-BE49-F238E27FC236}">
                <a16:creationId xmlns:a16="http://schemas.microsoft.com/office/drawing/2014/main" id="{E2F02399-2A37-4DF2-9C19-61D3C9274B29}"/>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foreach (int x in a)</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Console.Write($"{x}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7 -2 7 0 5</a:t>
            </a:r>
          </a:p>
        </p:txBody>
      </p:sp>
      <p:sp>
        <p:nvSpPr>
          <p:cNvPr id="8" name="result">
            <a:extLst>
              <a:ext uri="{FF2B5EF4-FFF2-40B4-BE49-F238E27FC236}">
                <a16:creationId xmlns:a16="http://schemas.microsoft.com/office/drawing/2014/main" id="{B469C993-99C8-43E3-86B0-5E2EFA8CB175}"/>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Для замены элементов массива int[] используем for и a[i].</a:t>
            </a:r>
          </a:p>
        </p:txBody>
      </p:sp>
    </p:spTree>
    <p:extLst>
      <p:ext uri="{BB962C8B-B14F-4D97-AF65-F5344CB8AC3E}">
        <p14:creationId xmlns:p14="http://schemas.microsoft.com/office/powerpoint/2010/main" val="313176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679711F-FC4B-4675-A4DA-B266DDCAECDF}"/>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Изменение элементов при переборе</a:t>
            </a:r>
          </a:p>
        </p:txBody>
      </p:sp>
      <p:sp>
        <p:nvSpPr>
          <p:cNvPr id="2" name="section">
            <a:extLst>
              <a:ext uri="{FF2B5EF4-FFF2-40B4-BE49-F238E27FC236}">
                <a16:creationId xmlns:a16="http://schemas.microsoft.com/office/drawing/2014/main" id="{0F9FE610-3F36-4056-84EC-8189EBF03B46}"/>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Перебор</a:t>
            </a:r>
          </a:p>
        </p:txBody>
      </p:sp>
      <p:sp>
        <p:nvSpPr>
          <p:cNvPr id="3" name="number">
            <a:extLst>
              <a:ext uri="{FF2B5EF4-FFF2-40B4-BE49-F238E27FC236}">
                <a16:creationId xmlns:a16="http://schemas.microsoft.com/office/drawing/2014/main" id="{A84210D0-6991-479C-A915-5E0FACBC50EA}"/>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15</a:t>
            </a:r>
          </a:p>
        </p:txBody>
      </p:sp>
      <p:sp>
        <p:nvSpPr>
          <p:cNvPr id="4" name="body-0">
            <a:extLst>
              <a:ext uri="{FF2B5EF4-FFF2-40B4-BE49-F238E27FC236}">
                <a16:creationId xmlns:a16="http://schemas.microsoft.com/office/drawing/2014/main" id="{EC9C5A2E-BF93-4247-8BE7-46A00E8C4C9F}"/>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Задача: заменить отрицательные значения нулями.</a:t>
            </a:r>
          </a:p>
        </p:txBody>
      </p:sp>
      <p:sp>
        <p:nvSpPr>
          <p:cNvPr id="5" name="body-1">
            <a:extLst>
              <a:ext uri="{FF2B5EF4-FFF2-40B4-BE49-F238E27FC236}">
                <a16:creationId xmlns:a16="http://schemas.microsoft.com/office/drawing/2014/main" id="{C4EA1EF9-2F72-45F1-B0F2-996D21A1A32F}"/>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Проверяем значение a[i] и записываем результат в ту же позицию.</a:t>
            </a:r>
          </a:p>
        </p:txBody>
      </p:sp>
      <p:sp>
        <p:nvSpPr>
          <p:cNvPr id="6" name="code">
            <a:extLst>
              <a:ext uri="{FF2B5EF4-FFF2-40B4-BE49-F238E27FC236}">
                <a16:creationId xmlns:a16="http://schemas.microsoft.com/office/drawing/2014/main" id="{422BC581-9F7F-4826-8784-761A4C50098E}"/>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&lt;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a[i]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 7 0 7 0 0</a:t>
            </a:r>
          </a:p>
        </p:txBody>
      </p:sp>
      <p:sp>
        <p:nvSpPr>
          <p:cNvPr id="7" name="result">
            <a:extLst>
              <a:ext uri="{FF2B5EF4-FFF2-40B4-BE49-F238E27FC236}">
                <a16:creationId xmlns:a16="http://schemas.microsoft.com/office/drawing/2014/main" id="{99E9A846-B659-441F-BC29-D1323C73CD88}"/>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Количество элементов и их индексы сохраняются.</a:t>
            </a:r>
          </a:p>
        </p:txBody>
      </p:sp>
    </p:spTree>
    <p:extLst>
      <p:ext uri="{BB962C8B-B14F-4D97-AF65-F5344CB8AC3E}">
        <p14:creationId xmlns:p14="http://schemas.microsoft.com/office/powerpoint/2010/main" val="494187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C00A0BA4-46E0-4C3E-BE48-9B4582DF55F1}"/>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Проверка: что выведет программа?</a:t>
            </a:r>
          </a:p>
        </p:txBody>
      </p:sp>
      <p:sp>
        <p:nvSpPr>
          <p:cNvPr id="2" name="section">
            <a:extLst>
              <a:ext uri="{FF2B5EF4-FFF2-40B4-BE49-F238E27FC236}">
                <a16:creationId xmlns:a16="http://schemas.microsoft.com/office/drawing/2014/main" id="{898AE0EE-2508-4713-8662-9FC9FE01B76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Перебор</a:t>
            </a:r>
          </a:p>
        </p:txBody>
      </p:sp>
      <p:sp>
        <p:nvSpPr>
          <p:cNvPr id="3" name="number">
            <a:extLst>
              <a:ext uri="{FF2B5EF4-FFF2-40B4-BE49-F238E27FC236}">
                <a16:creationId xmlns:a16="http://schemas.microsoft.com/office/drawing/2014/main" id="{BBA54586-3934-41A7-A21B-3EFD5A7F02B5}"/>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16</a:t>
            </a:r>
          </a:p>
        </p:txBody>
      </p:sp>
      <p:sp>
        <p:nvSpPr>
          <p:cNvPr id="4" name="body-0">
            <a:extLst>
              <a:ext uri="{FF2B5EF4-FFF2-40B4-BE49-F238E27FC236}">
                <a16:creationId xmlns:a16="http://schemas.microsoft.com/office/drawing/2014/main" id="{D71DA7A1-F538-4FBA-8A8A-1D639F4CE37F}"/>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Сначала определите результат самостоятельно.</a:t>
            </a:r>
          </a:p>
        </p:txBody>
      </p:sp>
      <p:sp>
        <p:nvSpPr>
          <p:cNvPr id="5" name="body-1">
            <a:extLst>
              <a:ext uri="{FF2B5EF4-FFF2-40B4-BE49-F238E27FC236}">
                <a16:creationId xmlns:a16="http://schemas.microsoft.com/office/drawing/2014/main" id="{3041A6CD-C956-416A-AC44-AEF29520759E}"/>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Проследите изменение каждого элемента и порядок обратного перебора.</a:t>
            </a:r>
          </a:p>
        </p:txBody>
      </p:sp>
      <p:sp>
        <p:nvSpPr>
          <p:cNvPr id="6" name="code">
            <a:extLst>
              <a:ext uri="{FF2B5EF4-FFF2-40B4-BE49-F238E27FC236}">
                <a16:creationId xmlns:a16="http://schemas.microsoft.com/office/drawing/2014/main" id="{302928DB-E4C5-4AEC-A86D-1B9320D857C1}"/>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2, 4, 6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a[i]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a.Length - 1; i &gt;= 0;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Console.Write($"{a[i]}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7" name="result">
            <a:extLst>
              <a:ext uri="{FF2B5EF4-FFF2-40B4-BE49-F238E27FC236}">
                <a16:creationId xmlns:a16="http://schemas.microsoft.com/office/drawing/2014/main" id="{AC4985DA-1347-4C50-A656-A026A89EDE45}"/>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Вопрос: чему равен массив перед вторым циклом?</a:t>
            </a:r>
          </a:p>
        </p:txBody>
      </p:sp>
    </p:spTree>
    <p:extLst>
      <p:ext uri="{BB962C8B-B14F-4D97-AF65-F5344CB8AC3E}">
        <p14:creationId xmlns:p14="http://schemas.microsoft.com/office/powerpoint/2010/main" val="359504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4F4E80A8-F546-4C9E-9273-DA7DA251D1D0}"/>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Сумма и среднее арифметическое</a:t>
            </a:r>
          </a:p>
        </p:txBody>
      </p:sp>
      <p:sp>
        <p:nvSpPr>
          <p:cNvPr id="2" name="section">
            <a:extLst>
              <a:ext uri="{FF2B5EF4-FFF2-40B4-BE49-F238E27FC236}">
                <a16:creationId xmlns:a16="http://schemas.microsoft.com/office/drawing/2014/main" id="{AC19B13D-D504-4FBF-AF69-0EF08EC502F7}"/>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Подсчёт</a:t>
            </a:r>
          </a:p>
        </p:txBody>
      </p:sp>
      <p:sp>
        <p:nvSpPr>
          <p:cNvPr id="3" name="number">
            <a:extLst>
              <a:ext uri="{FF2B5EF4-FFF2-40B4-BE49-F238E27FC236}">
                <a16:creationId xmlns:a16="http://schemas.microsoft.com/office/drawing/2014/main" id="{FDF91085-1C5E-4357-98A4-2D78239A0B9B}"/>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17</a:t>
            </a:r>
          </a:p>
        </p:txBody>
      </p:sp>
      <p:sp>
        <p:nvSpPr>
          <p:cNvPr id="4" name="body-0">
            <a:extLst>
              <a:ext uri="{FF2B5EF4-FFF2-40B4-BE49-F238E27FC236}">
                <a16:creationId xmlns:a16="http://schemas.microsoft.com/office/drawing/2014/main" id="{69ADB471-1F49-4712-A471-7DA863043E21}"/>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Накопитель sum до цикла равен нулю. На каждом шаге к нему прибавляется элемент.</a:t>
            </a:r>
          </a:p>
        </p:txBody>
      </p:sp>
      <p:sp>
        <p:nvSpPr>
          <p:cNvPr id="5" name="body-1">
            <a:extLst>
              <a:ext uri="{FF2B5EF4-FFF2-40B4-BE49-F238E27FC236}">
                <a16:creationId xmlns:a16="http://schemas.microsoft.com/office/drawing/2014/main" id="{0B60092B-3E61-47CF-89EB-38C6D3D9D4A9}"/>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Для среднего необходим непустой массив. Приведение к double сохраняет дробную часть.</a:t>
            </a:r>
          </a:p>
        </p:txBody>
      </p:sp>
      <p:sp>
        <p:nvSpPr>
          <p:cNvPr id="6" name="code">
            <a:extLst>
              <a:ext uri="{FF2B5EF4-FFF2-40B4-BE49-F238E27FC236}">
                <a16:creationId xmlns:a16="http://schemas.microsoft.com/office/drawing/2014/main" id="{439E475B-7F54-4A80-BC58-F047D67E08BC}"/>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4, 2, 7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long sum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foreach (int x in a)</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sum += 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if (a.Length &gt;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double average = (double)sum / a.Length;</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Console.WriteLine(average);</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7" name="result">
            <a:extLst>
              <a:ext uri="{FF2B5EF4-FFF2-40B4-BE49-F238E27FC236}">
                <a16:creationId xmlns:a16="http://schemas.microsoft.com/office/drawing/2014/main" id="{8ECB1287-AF2D-44B6-81A4-762D2DC1CD45}"/>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Сумма = 13. Среднее ≈ 4,3333. Тип long расширяет диапазон суммы.</a:t>
            </a:r>
          </a:p>
        </p:txBody>
      </p:sp>
    </p:spTree>
    <p:extLst>
      <p:ext uri="{BB962C8B-B14F-4D97-AF65-F5344CB8AC3E}">
        <p14:creationId xmlns:p14="http://schemas.microsoft.com/office/powerpoint/2010/main" val="944981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CA216BD-EB6E-4B01-A5D8-76FCB1B1BE2C}"/>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Подсчёт элементов по условию</a:t>
            </a:r>
          </a:p>
        </p:txBody>
      </p:sp>
      <p:sp>
        <p:nvSpPr>
          <p:cNvPr id="2" name="section">
            <a:extLst>
              <a:ext uri="{FF2B5EF4-FFF2-40B4-BE49-F238E27FC236}">
                <a16:creationId xmlns:a16="http://schemas.microsoft.com/office/drawing/2014/main" id="{2DEEFFFF-6C61-4032-B75D-AABAE900686E}"/>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Подсчёт</a:t>
            </a:r>
          </a:p>
        </p:txBody>
      </p:sp>
      <p:sp>
        <p:nvSpPr>
          <p:cNvPr id="3" name="number">
            <a:extLst>
              <a:ext uri="{FF2B5EF4-FFF2-40B4-BE49-F238E27FC236}">
                <a16:creationId xmlns:a16="http://schemas.microsoft.com/office/drawing/2014/main" id="{B485718C-012B-4FF4-B42D-1C3D6319024D}"/>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18</a:t>
            </a:r>
          </a:p>
        </p:txBody>
      </p:sp>
      <p:sp>
        <p:nvSpPr>
          <p:cNvPr id="4" name="body-0">
            <a:extLst>
              <a:ext uri="{FF2B5EF4-FFF2-40B4-BE49-F238E27FC236}">
                <a16:creationId xmlns:a16="http://schemas.microsoft.com/office/drawing/2014/main" id="{C35E6293-ECD7-45E4-A0BB-B9D2147E3083}"/>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Задача: определить количество положительных элементов.</a:t>
            </a:r>
          </a:p>
        </p:txBody>
      </p:sp>
      <p:sp>
        <p:nvSpPr>
          <p:cNvPr id="5" name="body-1">
            <a:extLst>
              <a:ext uri="{FF2B5EF4-FFF2-40B4-BE49-F238E27FC236}">
                <a16:creationId xmlns:a16="http://schemas.microsoft.com/office/drawing/2014/main" id="{5A221472-ECBB-407A-AF8B-572D51CB9DBC}"/>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Счётчик увеличивается на 1 только при выполнении условия.</a:t>
            </a:r>
          </a:p>
        </p:txBody>
      </p:sp>
      <p:sp>
        <p:nvSpPr>
          <p:cNvPr id="6" name="body-2">
            <a:extLst>
              <a:ext uri="{FF2B5EF4-FFF2-40B4-BE49-F238E27FC236}">
                <a16:creationId xmlns:a16="http://schemas.microsoft.com/office/drawing/2014/main" id="{D8982538-D6B6-42D4-A931-274499A65095}"/>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Ноль не является положительным числом.</a:t>
            </a:r>
          </a:p>
        </p:txBody>
      </p:sp>
      <p:sp>
        <p:nvSpPr>
          <p:cNvPr id="7" name="code">
            <a:extLst>
              <a:ext uri="{FF2B5EF4-FFF2-40B4-BE49-F238E27FC236}">
                <a16:creationId xmlns:a16="http://schemas.microsoft.com/office/drawing/2014/main" id="{CDB2DB62-D219-482A-8B91-B9499276E6F4}"/>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count = 0;</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foreach (int x in a)</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(x &gt;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count++;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Console.WriteLine(count); // 3</a:t>
            </a:r>
          </a:p>
        </p:txBody>
      </p:sp>
      <p:sp>
        <p:nvSpPr>
          <p:cNvPr id="8" name="result">
            <a:extLst>
              <a:ext uri="{FF2B5EF4-FFF2-40B4-BE49-F238E27FC236}">
                <a16:creationId xmlns:a16="http://schemas.microsoft.com/office/drawing/2014/main" id="{4D8EBE31-AF5F-4978-BA61-68FE1739FA27}"/>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count++ считает элементы. sum += x суммирует их значения.</a:t>
            </a:r>
          </a:p>
        </p:txBody>
      </p:sp>
    </p:spTree>
    <p:extLst>
      <p:ext uri="{BB962C8B-B14F-4D97-AF65-F5344CB8AC3E}">
        <p14:creationId xmlns:p14="http://schemas.microsoft.com/office/powerpoint/2010/main" val="55305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E16A0A7E-A9B8-480A-8C7D-DE7B3BBD6D37}"/>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Условие на значение и условие на индекс</a:t>
            </a:r>
          </a:p>
        </p:txBody>
      </p:sp>
      <p:sp>
        <p:nvSpPr>
          <p:cNvPr id="2" name="section">
            <a:extLst>
              <a:ext uri="{FF2B5EF4-FFF2-40B4-BE49-F238E27FC236}">
                <a16:creationId xmlns:a16="http://schemas.microsoft.com/office/drawing/2014/main" id="{EEB715E4-3FA2-4280-B6FE-81217494D55F}"/>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Подсчёт</a:t>
            </a:r>
          </a:p>
        </p:txBody>
      </p:sp>
      <p:sp>
        <p:nvSpPr>
          <p:cNvPr id="3" name="number">
            <a:extLst>
              <a:ext uri="{FF2B5EF4-FFF2-40B4-BE49-F238E27FC236}">
                <a16:creationId xmlns:a16="http://schemas.microsoft.com/office/drawing/2014/main" id="{F267EAE8-9E4E-41D6-993A-E4D9EDAFA9FC}"/>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19</a:t>
            </a:r>
          </a:p>
        </p:txBody>
      </p:sp>
      <p:sp>
        <p:nvSpPr>
          <p:cNvPr id="4" name="intro">
            <a:extLst>
              <a:ext uri="{FF2B5EF4-FFF2-40B4-BE49-F238E27FC236}">
                <a16:creationId xmlns:a16="http://schemas.microsoft.com/office/drawing/2014/main" id="{2BD39281-2412-42C0-BA99-1A7647596477}"/>
              </a:ext>
            </a:extLst>
          </p:cNvPr>
          <p:cNvSpPr>
            <a:spLocks noGrp="1"/>
          </p:cNvSpPr>
          <p:nvPr/>
        </p:nvSpPr>
        <p:spPr>
          <a:xfrm>
            <a:off x="609600" y="1428750"/>
            <a:ext cx="10953750" cy="476250"/>
          </a:xfrm>
          <a:prstGeom prst="rect">
            <a:avLst/>
          </a:prstGeom>
          <a:noFill/>
          <a:ln w="0">
            <a:noFill/>
            <a:prstDash val="solid"/>
          </a:ln>
        </p:spPr>
        <p:txBody>
          <a:bodyPr wrap="none" lIns="0" tIns="0" rIns="0" bIns="0" anchor="t">
            <a:noAutofit/>
          </a:bodyPr>
          <a:lstStyle>
            <a:defPPr>
              <a:defRPr sz="2100" b="0">
                <a:solidFill>
                  <a:srgbClr val="283C4F"/>
                </a:solidFill>
                <a:latin typeface="DejaVu Sans Mono"/>
                <a:ea typeface="DejaVu Sans Mono"/>
                <a:cs typeface="DejaVu Sans Mono"/>
              </a:defRPr>
            </a:defPPr>
            <a:lvl1pPr>
              <a:buNone/>
              <a:defRPr sz="2100" b="0">
                <a:solidFill>
                  <a:srgbClr val="283C4F"/>
                </a:solidFill>
                <a:latin typeface="DejaVu Sans Mono"/>
                <a:ea typeface="DejaVu Sans Mono"/>
                <a:cs typeface="DejaVu Sans Mono"/>
              </a:defRPr>
            </a:lvl1pPr>
            <a:lvl2pPr>
              <a:buNone/>
              <a:defRPr sz="2100" b="0">
                <a:solidFill>
                  <a:srgbClr val="283C4F"/>
                </a:solidFill>
                <a:latin typeface="DejaVu Sans Mono"/>
                <a:ea typeface="DejaVu Sans Mono"/>
                <a:cs typeface="DejaVu Sans Mono"/>
              </a:defRPr>
            </a:lvl2pPr>
            <a:lvl3pPr>
              <a:buNone/>
              <a:defRPr sz="2100" b="0">
                <a:solidFill>
                  <a:srgbClr val="283C4F"/>
                </a:solidFill>
                <a:latin typeface="DejaVu Sans Mono"/>
                <a:ea typeface="DejaVu Sans Mono"/>
                <a:cs typeface="DejaVu Sans Mono"/>
              </a:defRPr>
            </a:lvl3pPr>
            <a:lvl4pPr>
              <a:buNone/>
              <a:defRPr sz="2100" b="0">
                <a:solidFill>
                  <a:srgbClr val="283C4F"/>
                </a:solidFill>
                <a:latin typeface="DejaVu Sans Mono"/>
                <a:ea typeface="DejaVu Sans Mono"/>
                <a:cs typeface="DejaVu Sans Mono"/>
              </a:defRPr>
            </a:lvl4pPr>
            <a:lvl5pPr>
              <a:buNone/>
              <a:defRPr sz="2100" b="0">
                <a:solidFill>
                  <a:srgbClr val="283C4F"/>
                </a:solidFill>
                <a:latin typeface="DejaVu Sans Mono"/>
                <a:ea typeface="DejaVu Sans Mono"/>
                <a:cs typeface="DejaVu Sans Mono"/>
              </a:defRPr>
            </a:lvl5pPr>
            <a:lvl6pPr>
              <a:buNone/>
              <a:defRPr sz="2100" b="0">
                <a:solidFill>
                  <a:srgbClr val="283C4F"/>
                </a:solidFill>
                <a:latin typeface="DejaVu Sans Mono"/>
                <a:ea typeface="DejaVu Sans Mono"/>
                <a:cs typeface="DejaVu Sans Mono"/>
              </a:defRPr>
            </a:lvl6pPr>
            <a:lvl7pPr>
              <a:buNone/>
              <a:defRPr sz="2100" b="0">
                <a:solidFill>
                  <a:srgbClr val="283C4F"/>
                </a:solidFill>
                <a:latin typeface="DejaVu Sans Mono"/>
                <a:ea typeface="DejaVu Sans Mono"/>
                <a:cs typeface="DejaVu Sans Mono"/>
              </a:defRPr>
            </a:lvl7pPr>
            <a:lvl8pPr>
              <a:buNone/>
              <a:defRPr sz="2100" b="0">
                <a:solidFill>
                  <a:srgbClr val="283C4F"/>
                </a:solidFill>
                <a:latin typeface="DejaVu Sans Mono"/>
                <a:ea typeface="DejaVu Sans Mono"/>
                <a:cs typeface="DejaVu Sans Mono"/>
              </a:defRPr>
            </a:lvl8pPr>
            <a:lvl9pPr>
              <a:buNone/>
              <a:defRPr sz="2100" b="0">
                <a:solidFill>
                  <a:srgbClr val="283C4F"/>
                </a:solidFill>
                <a:latin typeface="DejaVu Sans Mono"/>
                <a:ea typeface="DejaVu Sans Mono"/>
                <a:cs typeface="DejaVu Sans Mono"/>
              </a:defRPr>
            </a:lvl9pPr>
          </a:lstStyle>
          <a:p>
            <a:pPr>
              <a:buNone/>
              <a:defRPr sz="2100" b="0">
                <a:solidFill>
                  <a:srgbClr val="283C4F"/>
                </a:solidFill>
                <a:latin typeface="DejaVu Sans Mono"/>
                <a:ea typeface="DejaVu Sans Mono"/>
                <a:cs typeface="DejaVu Sans Mono"/>
              </a:defRPr>
            </a:pPr>
            <a:r>
              <a:rPr sz="2100" b="0">
                <a:solidFill>
                  <a:srgbClr val="283C4F"/>
                </a:solidFill>
                <a:latin typeface="DejaVu Sans Mono"/>
                <a:ea typeface="DejaVu Sans Mono"/>
                <a:cs typeface="DejaVu Sans Mono"/>
              </a:rPr>
              <a:t>int[] a = { 7, -2, 7, 0, 5 };</a:t>
            </a:r>
          </a:p>
        </p:txBody>
      </p:sp>
      <p:graphicFrame>
        <p:nvGraphicFramePr>
          <p:cNvPr id="5" name="Таблица 4">
            <a:extLst>
              <a:ext uri="{FF2B5EF4-FFF2-40B4-BE49-F238E27FC236}">
                <a16:creationId xmlns:a16="http://schemas.microsoft.com/office/drawing/2014/main" id="{91C17743-6DE9-4FFC-A256-F0E66152954A}"/>
              </a:ext>
            </a:extLst>
          </p:cNvPr>
          <p:cNvGraphicFramePr/>
          <p:nvPr/>
        </p:nvGraphicFramePr>
        <p:xfrm>
          <a:off x="609600" y="2171700"/>
          <a:ext cx="10972800" cy="2857500"/>
        </p:xfrm>
        <a:graphic>
          <a:graphicData uri="http://schemas.openxmlformats.org/drawingml/2006/table">
            <a:tbl>
              <a:tblPr/>
              <a:tblGrid>
                <a:gridCol w="3571875">
                  <a:extLst>
                    <a:ext uri="{9D8B030D-6E8A-4147-A177-3AD203B41FA5}">
                      <a16:colId xmlns:a16="http://schemas.microsoft.com/office/drawing/2014/main" val="20000"/>
                    </a:ext>
                  </a:extLst>
                </a:gridCol>
                <a:gridCol w="42576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571500">
                <a:tc>
                  <a:txBody>
                    <a:bodyPr/>
                    <a:lstStyle/>
                    <a:p>
                      <a:r>
                        <a:rPr sz="1800" b="1">
                          <a:solidFill>
                            <a:srgbClr val="FFFFFF"/>
                          </a:solidFill>
                          <a:latin typeface="DejaVu Sans"/>
                          <a:ea typeface="DejaVu Sans"/>
                          <a:cs typeface="DejaVu Sans"/>
                        </a:rPr>
                        <a:t>Что выбираем</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Условие в for</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Итог</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71500">
                <a:tc>
                  <a:txBody>
                    <a:bodyPr/>
                    <a:lstStyle/>
                    <a:p>
                      <a:r>
                        <a:rPr sz="1800" b="0">
                          <a:solidFill>
                            <a:srgbClr val="283C4F"/>
                          </a:solidFill>
                          <a:latin typeface="DejaVu Sans"/>
                          <a:ea typeface="DejaVu Sans"/>
                          <a:cs typeface="DejaVu Sans"/>
                        </a:rPr>
                        <a:t>Чётные значения</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a[i] % 2 == 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−2 и 0: 2 элемента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71500">
                <a:tc>
                  <a:txBody>
                    <a:bodyPr/>
                    <a:lstStyle/>
                    <a:p>
                      <a:r>
                        <a:rPr sz="1800" b="0">
                          <a:solidFill>
                            <a:srgbClr val="283C4F"/>
                          </a:solidFill>
                          <a:latin typeface="DejaVu Sans"/>
                          <a:ea typeface="DejaVu Sans"/>
                          <a:cs typeface="DejaVu Sans"/>
                        </a:rPr>
                        <a:t>Чётные индексы</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i % 2 == 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Индексы 0, 2, 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800" b="0">
                          <a:solidFill>
                            <a:srgbClr val="283C4F"/>
                          </a:solidFill>
                          <a:latin typeface="DejaVu Sans"/>
                          <a:ea typeface="DejaVu Sans"/>
                          <a:cs typeface="DejaVu Sans"/>
                        </a:rPr>
                        <a:t>Значения от 0 до 7</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a[i] &gt;= 0 &amp;&amp; a[i] &lt;= 7</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4 элемента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71500">
                <a:tc>
                  <a:txBody>
                    <a:bodyPr/>
                    <a:lstStyle/>
                    <a:p>
                      <a:r>
                        <a:rPr sz="1800" b="0">
                          <a:solidFill>
                            <a:srgbClr val="283C4F"/>
                          </a:solidFill>
                          <a:latin typeface="DejaVu Sans"/>
                          <a:ea typeface="DejaVu Sans"/>
                          <a:cs typeface="DejaVu Sans"/>
                        </a:rPr>
                        <a:t>Положительные чётные</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a[i] &gt; 0 &amp;&amp; a[i] % 2 == 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0 элементов</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rule">
            <a:extLst>
              <a:ext uri="{FF2B5EF4-FFF2-40B4-BE49-F238E27FC236}">
                <a16:creationId xmlns:a16="http://schemas.microsoft.com/office/drawing/2014/main" id="{EF22D84D-19BE-4625-AE15-8D7468D98EAC}"/>
              </a:ext>
            </a:extLst>
          </p:cNvPr>
          <p:cNvSpPr>
            <a:spLocks noGrp="1"/>
          </p:cNvSpPr>
          <p:nvPr/>
        </p:nvSpPr>
        <p:spPr>
          <a:xfrm>
            <a:off x="609600" y="5467350"/>
            <a:ext cx="10858500" cy="619125"/>
          </a:xfrm>
          <a:prstGeom prst="rect">
            <a:avLst/>
          </a:prstGeom>
          <a:noFill/>
          <a:ln w="0">
            <a:noFill/>
            <a:prstDash val="solid"/>
          </a:ln>
        </p:spPr>
        <p:txBody>
          <a:bodyPr wrap="square" lIns="0" tIns="0" rIns="0" bIns="0" anchor="t">
            <a:noAutofit/>
          </a:bodyPr>
          <a:lstStyle>
            <a:defPPr>
              <a:defRPr sz="2025" b="1">
                <a:solidFill>
                  <a:srgbClr val="007F78"/>
                </a:solidFill>
                <a:latin typeface="DejaVu Sans"/>
                <a:ea typeface="DejaVu Sans"/>
                <a:cs typeface="DejaVu Sans"/>
              </a:defRPr>
            </a:defPPr>
            <a:lvl1pPr>
              <a:buNone/>
              <a:defRPr sz="2025" b="1">
                <a:solidFill>
                  <a:srgbClr val="007F78"/>
                </a:solidFill>
                <a:latin typeface="DejaVu Sans"/>
                <a:ea typeface="DejaVu Sans"/>
                <a:cs typeface="DejaVu Sans"/>
              </a:defRPr>
            </a:lvl1pPr>
            <a:lvl2pPr>
              <a:buNone/>
              <a:defRPr sz="2025" b="1">
                <a:solidFill>
                  <a:srgbClr val="007F78"/>
                </a:solidFill>
                <a:latin typeface="DejaVu Sans"/>
                <a:ea typeface="DejaVu Sans"/>
                <a:cs typeface="DejaVu Sans"/>
              </a:defRPr>
            </a:lvl2pPr>
            <a:lvl3pPr>
              <a:buNone/>
              <a:defRPr sz="2025" b="1">
                <a:solidFill>
                  <a:srgbClr val="007F78"/>
                </a:solidFill>
                <a:latin typeface="DejaVu Sans"/>
                <a:ea typeface="DejaVu Sans"/>
                <a:cs typeface="DejaVu Sans"/>
              </a:defRPr>
            </a:lvl3pPr>
            <a:lvl4pPr>
              <a:buNone/>
              <a:defRPr sz="2025" b="1">
                <a:solidFill>
                  <a:srgbClr val="007F78"/>
                </a:solidFill>
                <a:latin typeface="DejaVu Sans"/>
                <a:ea typeface="DejaVu Sans"/>
                <a:cs typeface="DejaVu Sans"/>
              </a:defRPr>
            </a:lvl4pPr>
            <a:lvl5pPr>
              <a:buNone/>
              <a:defRPr sz="2025" b="1">
                <a:solidFill>
                  <a:srgbClr val="007F78"/>
                </a:solidFill>
                <a:latin typeface="DejaVu Sans"/>
                <a:ea typeface="DejaVu Sans"/>
                <a:cs typeface="DejaVu Sans"/>
              </a:defRPr>
            </a:lvl5pPr>
            <a:lvl6pPr>
              <a:buNone/>
              <a:defRPr sz="2025" b="1">
                <a:solidFill>
                  <a:srgbClr val="007F78"/>
                </a:solidFill>
                <a:latin typeface="DejaVu Sans"/>
                <a:ea typeface="DejaVu Sans"/>
                <a:cs typeface="DejaVu Sans"/>
              </a:defRPr>
            </a:lvl6pPr>
            <a:lvl7pPr>
              <a:buNone/>
              <a:defRPr sz="2025" b="1">
                <a:solidFill>
                  <a:srgbClr val="007F78"/>
                </a:solidFill>
                <a:latin typeface="DejaVu Sans"/>
                <a:ea typeface="DejaVu Sans"/>
                <a:cs typeface="DejaVu Sans"/>
              </a:defRPr>
            </a:lvl7pPr>
            <a:lvl8pPr>
              <a:buNone/>
              <a:defRPr sz="2025" b="1">
                <a:solidFill>
                  <a:srgbClr val="007F78"/>
                </a:solidFill>
                <a:latin typeface="DejaVu Sans"/>
                <a:ea typeface="DejaVu Sans"/>
                <a:cs typeface="DejaVu Sans"/>
              </a:defRPr>
            </a:lvl8pPr>
            <a:lvl9pPr>
              <a:buNone/>
              <a:defRPr sz="2025" b="1">
                <a:solidFill>
                  <a:srgbClr val="007F78"/>
                </a:solidFill>
                <a:latin typeface="DejaVu Sans"/>
                <a:ea typeface="DejaVu Sans"/>
                <a:cs typeface="DejaVu Sans"/>
              </a:defRPr>
            </a:lvl9pPr>
          </a:lstStyle>
          <a:p>
            <a:pPr>
              <a:buNone/>
              <a:defRPr sz="2025" b="1">
                <a:solidFill>
                  <a:srgbClr val="007F78"/>
                </a:solidFill>
                <a:latin typeface="DejaVu Sans"/>
                <a:ea typeface="DejaVu Sans"/>
                <a:cs typeface="DejaVu Sans"/>
              </a:defRPr>
            </a:pPr>
            <a:r>
              <a:rPr sz="2025" b="1">
                <a:solidFill>
                  <a:srgbClr val="007F78"/>
                </a:solidFill>
                <a:latin typeface="DejaVu Sans"/>
                <a:ea typeface="DejaVu Sans"/>
                <a:cs typeface="DejaVu Sans"/>
              </a:rPr>
              <a:t>Чётность значения и чётность его позиции задают разные выборки.</a:t>
            </a:r>
          </a:p>
        </p:txBody>
      </p:sp>
    </p:spTree>
    <p:extLst>
      <p:ext uri="{BB962C8B-B14F-4D97-AF65-F5344CB8AC3E}">
        <p14:creationId xmlns:p14="http://schemas.microsoft.com/office/powerpoint/2010/main" val="2103590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1CD036F-0819-461F-8D5E-F52BF29CEA29}"/>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Трассировка счётчика</a:t>
            </a:r>
          </a:p>
        </p:txBody>
      </p:sp>
      <p:sp>
        <p:nvSpPr>
          <p:cNvPr id="2" name="section">
            <a:extLst>
              <a:ext uri="{FF2B5EF4-FFF2-40B4-BE49-F238E27FC236}">
                <a16:creationId xmlns:a16="http://schemas.microsoft.com/office/drawing/2014/main" id="{CEC0D4EE-1EA1-4910-BF1D-02E49F1454F8}"/>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Подсчёт</a:t>
            </a:r>
          </a:p>
        </p:txBody>
      </p:sp>
      <p:sp>
        <p:nvSpPr>
          <p:cNvPr id="3" name="number">
            <a:extLst>
              <a:ext uri="{FF2B5EF4-FFF2-40B4-BE49-F238E27FC236}">
                <a16:creationId xmlns:a16="http://schemas.microsoft.com/office/drawing/2014/main" id="{B83FA8F6-3AFF-44B7-9BE6-76F977D7ED59}"/>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20</a:t>
            </a:r>
          </a:p>
        </p:txBody>
      </p:sp>
      <p:sp>
        <p:nvSpPr>
          <p:cNvPr id="4" name="intro">
            <a:extLst>
              <a:ext uri="{FF2B5EF4-FFF2-40B4-BE49-F238E27FC236}">
                <a16:creationId xmlns:a16="http://schemas.microsoft.com/office/drawing/2014/main" id="{C8D583C3-7657-4243-B825-87432490ED25}"/>
              </a:ext>
            </a:extLst>
          </p:cNvPr>
          <p:cNvSpPr>
            <a:spLocks noGrp="1"/>
          </p:cNvSpPr>
          <p:nvPr/>
        </p:nvSpPr>
        <p:spPr>
          <a:xfrm>
            <a:off x="609600" y="1438275"/>
            <a:ext cx="10972800" cy="619125"/>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Подсчёт положительных элементов: if (a[i] &gt; 0) count++;</a:t>
            </a:r>
          </a:p>
        </p:txBody>
      </p:sp>
      <p:graphicFrame>
        <p:nvGraphicFramePr>
          <p:cNvPr id="5" name="Таблица 4">
            <a:extLst>
              <a:ext uri="{FF2B5EF4-FFF2-40B4-BE49-F238E27FC236}">
                <a16:creationId xmlns:a16="http://schemas.microsoft.com/office/drawing/2014/main" id="{A95A5D65-4996-4D65-985D-BA68164855FD}"/>
              </a:ext>
            </a:extLst>
          </p:cNvPr>
          <p:cNvGraphicFramePr/>
          <p:nvPr/>
        </p:nvGraphicFramePr>
        <p:xfrm>
          <a:off x="609600" y="2181225"/>
          <a:ext cx="1097280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3543300">
                  <a:extLst>
                    <a:ext uri="{9D8B030D-6E8A-4147-A177-3AD203B41FA5}">
                      <a16:colId xmlns:a16="http://schemas.microsoft.com/office/drawing/2014/main" val="20003"/>
                    </a:ext>
                  </a:extLst>
                </a:gridCol>
              </a:tblGrid>
              <a:tr h="476250">
                <a:tc>
                  <a:txBody>
                    <a:bodyPr/>
                    <a:lstStyle/>
                    <a:p>
                      <a:r>
                        <a:rPr sz="1950" b="1">
                          <a:solidFill>
                            <a:srgbClr val="FFFFFF"/>
                          </a:solidFill>
                          <a:latin typeface="DejaVu Sans"/>
                          <a:ea typeface="DejaVu Sans"/>
                          <a:cs typeface="DejaVu Sans"/>
                        </a:rPr>
                        <a:t>Шаг</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950" b="1">
                          <a:solidFill>
                            <a:srgbClr val="FFFFFF"/>
                          </a:solidFill>
                          <a:latin typeface="DejaVu Sans"/>
                          <a:ea typeface="DejaVu Sans"/>
                          <a:cs typeface="DejaVu Sans"/>
                        </a:rPr>
                        <a:t>a[i]</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950" b="1">
                          <a:solidFill>
                            <a:srgbClr val="FFFFFF"/>
                          </a:solidFill>
                          <a:latin typeface="DejaVu Sans"/>
                          <a:ea typeface="DejaVu Sans"/>
                          <a:cs typeface="DejaVu Sans"/>
                        </a:rPr>
                        <a:t>a[i] &gt; 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950" b="1">
                          <a:solidFill>
                            <a:srgbClr val="FFFFFF"/>
                          </a:solidFill>
                          <a:latin typeface="DejaVu Sans"/>
                          <a:ea typeface="DejaVu Sans"/>
                          <a:cs typeface="DejaVu Sans"/>
                        </a:rPr>
                        <a:t>count после шага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476250">
                <a:tc>
                  <a:txBody>
                    <a:bodyPr/>
                    <a:lstStyle/>
                    <a:p>
                      <a:r>
                        <a:rPr sz="1950" b="0">
                          <a:solidFill>
                            <a:srgbClr val="283C4F"/>
                          </a:solidFill>
                          <a:latin typeface="DejaVu Sans"/>
                          <a:ea typeface="DejaVu Sans"/>
                          <a:cs typeface="DejaVu Sans"/>
                        </a:rPr>
                        <a:t>До цикла</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476250">
                <a:tc>
                  <a:txBody>
                    <a:bodyPr/>
                    <a:lstStyle/>
                    <a:p>
                      <a:r>
                        <a:rPr sz="1950" b="0">
                          <a:solidFill>
                            <a:srgbClr val="283C4F"/>
                          </a:solidFill>
                          <a:latin typeface="DejaVu Sans"/>
                          <a:ea typeface="DejaVu Sans"/>
                          <a:cs typeface="DejaVu Sans"/>
                        </a:rPr>
                        <a:t>i = 0</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7</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true</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476250">
                <a:tc>
                  <a:txBody>
                    <a:bodyPr/>
                    <a:lstStyle/>
                    <a:p>
                      <a:r>
                        <a:rPr sz="1950" b="0">
                          <a:solidFill>
                            <a:srgbClr val="283C4F"/>
                          </a:solidFill>
                          <a:latin typeface="DejaVu Sans"/>
                          <a:ea typeface="DejaVu Sans"/>
                          <a:cs typeface="DejaVu Sans"/>
                        </a:rPr>
                        <a:t>i = 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false</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476250">
                <a:tc>
                  <a:txBody>
                    <a:bodyPr/>
                    <a:lstStyle/>
                    <a:p>
                      <a:r>
                        <a:rPr sz="1950" b="0">
                          <a:solidFill>
                            <a:srgbClr val="283C4F"/>
                          </a:solidFill>
                          <a:latin typeface="DejaVu Sans"/>
                          <a:ea typeface="DejaVu Sans"/>
                          <a:cs typeface="DejaVu Sans"/>
                        </a:rPr>
                        <a:t>i = 2</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7</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true</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r h="476250">
                <a:tc>
                  <a:txBody>
                    <a:bodyPr/>
                    <a:lstStyle/>
                    <a:p>
                      <a:r>
                        <a:rPr sz="1950" b="0">
                          <a:solidFill>
                            <a:srgbClr val="283C4F"/>
                          </a:solidFill>
                          <a:latin typeface="DejaVu Sans"/>
                          <a:ea typeface="DejaVu Sans"/>
                          <a:cs typeface="DejaVu Sans"/>
                        </a:rPr>
                        <a:t>i = 3</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false</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5"/>
                  </a:ext>
                </a:extLst>
              </a:tr>
              <a:tr h="476250">
                <a:tc>
                  <a:txBody>
                    <a:bodyPr/>
                    <a:lstStyle/>
                    <a:p>
                      <a:r>
                        <a:rPr sz="1950" b="0">
                          <a:solidFill>
                            <a:srgbClr val="283C4F"/>
                          </a:solidFill>
                          <a:latin typeface="DejaVu Sans"/>
                          <a:ea typeface="DejaVu Sans"/>
                          <a:cs typeface="DejaVu Sans"/>
                        </a:rPr>
                        <a:t>i = 4</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true</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rule">
            <a:extLst>
              <a:ext uri="{FF2B5EF4-FFF2-40B4-BE49-F238E27FC236}">
                <a16:creationId xmlns:a16="http://schemas.microsoft.com/office/drawing/2014/main" id="{96876737-E1DB-4177-93A0-67384C0C7502}"/>
              </a:ext>
            </a:extLst>
          </p:cNvPr>
          <p:cNvSpPr>
            <a:spLocks noGrp="1"/>
          </p:cNvSpPr>
          <p:nvPr/>
        </p:nvSpPr>
        <p:spPr>
          <a:xfrm>
            <a:off x="609600" y="5791200"/>
            <a:ext cx="10953750" cy="457200"/>
          </a:xfrm>
          <a:prstGeom prst="rect">
            <a:avLst/>
          </a:prstGeom>
          <a:noFill/>
          <a:ln w="0">
            <a:noFill/>
            <a:prstDash val="solid"/>
          </a:ln>
        </p:spPr>
        <p:txBody>
          <a:bodyPr wrap="square" lIns="0" tIns="0" rIns="0" bIns="0" anchor="t">
            <a:noAutofit/>
          </a:bodyPr>
          <a:lstStyle>
            <a:defPPr>
              <a:defRPr sz="1875" b="1">
                <a:solidFill>
                  <a:srgbClr val="007F78"/>
                </a:solidFill>
                <a:latin typeface="DejaVu Sans"/>
                <a:ea typeface="DejaVu Sans"/>
                <a:cs typeface="DejaVu Sans"/>
              </a:defRPr>
            </a:defPPr>
            <a:lvl1pPr>
              <a:buNone/>
              <a:defRPr sz="1875" b="1">
                <a:solidFill>
                  <a:srgbClr val="007F78"/>
                </a:solidFill>
                <a:latin typeface="DejaVu Sans"/>
                <a:ea typeface="DejaVu Sans"/>
                <a:cs typeface="DejaVu Sans"/>
              </a:defRPr>
            </a:lvl1pPr>
            <a:lvl2pPr>
              <a:buNone/>
              <a:defRPr sz="1875" b="1">
                <a:solidFill>
                  <a:srgbClr val="007F78"/>
                </a:solidFill>
                <a:latin typeface="DejaVu Sans"/>
                <a:ea typeface="DejaVu Sans"/>
                <a:cs typeface="DejaVu Sans"/>
              </a:defRPr>
            </a:lvl2pPr>
            <a:lvl3pPr>
              <a:buNone/>
              <a:defRPr sz="1875" b="1">
                <a:solidFill>
                  <a:srgbClr val="007F78"/>
                </a:solidFill>
                <a:latin typeface="DejaVu Sans"/>
                <a:ea typeface="DejaVu Sans"/>
                <a:cs typeface="DejaVu Sans"/>
              </a:defRPr>
            </a:lvl3pPr>
            <a:lvl4pPr>
              <a:buNone/>
              <a:defRPr sz="1875" b="1">
                <a:solidFill>
                  <a:srgbClr val="007F78"/>
                </a:solidFill>
                <a:latin typeface="DejaVu Sans"/>
                <a:ea typeface="DejaVu Sans"/>
                <a:cs typeface="DejaVu Sans"/>
              </a:defRPr>
            </a:lvl4pPr>
            <a:lvl5pPr>
              <a:buNone/>
              <a:defRPr sz="1875" b="1">
                <a:solidFill>
                  <a:srgbClr val="007F78"/>
                </a:solidFill>
                <a:latin typeface="DejaVu Sans"/>
                <a:ea typeface="DejaVu Sans"/>
                <a:cs typeface="DejaVu Sans"/>
              </a:defRPr>
            </a:lvl5pPr>
            <a:lvl6pPr>
              <a:buNone/>
              <a:defRPr sz="1875" b="1">
                <a:solidFill>
                  <a:srgbClr val="007F78"/>
                </a:solidFill>
                <a:latin typeface="DejaVu Sans"/>
                <a:ea typeface="DejaVu Sans"/>
                <a:cs typeface="DejaVu Sans"/>
              </a:defRPr>
            </a:lvl6pPr>
            <a:lvl7pPr>
              <a:buNone/>
              <a:defRPr sz="1875" b="1">
                <a:solidFill>
                  <a:srgbClr val="007F78"/>
                </a:solidFill>
                <a:latin typeface="DejaVu Sans"/>
                <a:ea typeface="DejaVu Sans"/>
                <a:cs typeface="DejaVu Sans"/>
              </a:defRPr>
            </a:lvl7pPr>
            <a:lvl8pPr>
              <a:buNone/>
              <a:defRPr sz="1875" b="1">
                <a:solidFill>
                  <a:srgbClr val="007F78"/>
                </a:solidFill>
                <a:latin typeface="DejaVu Sans"/>
                <a:ea typeface="DejaVu Sans"/>
                <a:cs typeface="DejaVu Sans"/>
              </a:defRPr>
            </a:lvl8pPr>
            <a:lvl9pPr>
              <a:buNone/>
              <a:defRPr sz="1875" b="1">
                <a:solidFill>
                  <a:srgbClr val="007F78"/>
                </a:solidFill>
                <a:latin typeface="DejaVu Sans"/>
                <a:ea typeface="DejaVu Sans"/>
                <a:cs typeface="DejaVu Sans"/>
              </a:defRPr>
            </a:lvl9pPr>
          </a:lstStyle>
          <a:p>
            <a:pPr>
              <a:buNone/>
              <a:defRPr sz="1875" b="1">
                <a:solidFill>
                  <a:srgbClr val="007F78"/>
                </a:solidFill>
                <a:latin typeface="DejaVu Sans"/>
                <a:ea typeface="DejaVu Sans"/>
                <a:cs typeface="DejaVu Sans"/>
              </a:defRPr>
            </a:pPr>
            <a:r>
              <a:rPr sz="1875" b="1">
                <a:solidFill>
                  <a:srgbClr val="007F78"/>
                </a:solidFill>
                <a:latin typeface="DejaVu Sans"/>
                <a:ea typeface="DejaVu Sans"/>
                <a:cs typeface="DejaVu Sans"/>
              </a:rPr>
              <a:t>Перед циклом count = 0. Внутри цикла счётчик не обнуляем.</a:t>
            </a:r>
          </a:p>
        </p:txBody>
      </p:sp>
    </p:spTree>
    <p:extLst>
      <p:ext uri="{BB962C8B-B14F-4D97-AF65-F5344CB8AC3E}">
        <p14:creationId xmlns:p14="http://schemas.microsoft.com/office/powerpoint/2010/main" val="248859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00B5A53E-ED9E-40D1-A8BC-5C16BFCB28D8}"/>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Линейный поиск</a:t>
            </a:r>
          </a:p>
        </p:txBody>
      </p:sp>
      <p:sp>
        <p:nvSpPr>
          <p:cNvPr id="2" name="section">
            <a:extLst>
              <a:ext uri="{FF2B5EF4-FFF2-40B4-BE49-F238E27FC236}">
                <a16:creationId xmlns:a16="http://schemas.microsoft.com/office/drawing/2014/main" id="{68C648F0-F7A8-43C3-A617-EE869904F16D}"/>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Поиск</a:t>
            </a:r>
          </a:p>
        </p:txBody>
      </p:sp>
      <p:sp>
        <p:nvSpPr>
          <p:cNvPr id="3" name="number">
            <a:extLst>
              <a:ext uri="{FF2B5EF4-FFF2-40B4-BE49-F238E27FC236}">
                <a16:creationId xmlns:a16="http://schemas.microsoft.com/office/drawing/2014/main" id="{EC0C55F5-AA36-401B-9D9E-DB1B44057BAF}"/>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21</a:t>
            </a:r>
          </a:p>
        </p:txBody>
      </p:sp>
      <p:sp>
        <p:nvSpPr>
          <p:cNvPr id="4" name="body-0">
            <a:extLst>
              <a:ext uri="{FF2B5EF4-FFF2-40B4-BE49-F238E27FC236}">
                <a16:creationId xmlns:a16="http://schemas.microsoft.com/office/drawing/2014/main" id="{C999F070-A6E9-44B6-A2D7-EBC14B049020}"/>
              </a:ext>
            </a:extLst>
          </p:cNvPr>
          <p:cNvSpPr>
            <a:spLocks noGrp="1"/>
          </p:cNvSpPr>
          <p:nvPr/>
        </p:nvSpPr>
        <p:spPr>
          <a:xfrm>
            <a:off x="609600" y="1466850"/>
            <a:ext cx="10829925" cy="933450"/>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Линейный поиск последовательно сравнивает элементы массива с искомым значением.</a:t>
            </a:r>
          </a:p>
        </p:txBody>
      </p:sp>
      <p:sp>
        <p:nvSpPr>
          <p:cNvPr id="5" name="body-1">
            <a:extLst>
              <a:ext uri="{FF2B5EF4-FFF2-40B4-BE49-F238E27FC236}">
                <a16:creationId xmlns:a16="http://schemas.microsoft.com/office/drawing/2014/main" id="{88EC9E11-9266-4D86-91AD-999A83B44A3F}"/>
              </a:ext>
            </a:extLst>
          </p:cNvPr>
          <p:cNvSpPr>
            <a:spLocks noGrp="1"/>
          </p:cNvSpPr>
          <p:nvPr/>
        </p:nvSpPr>
        <p:spPr>
          <a:xfrm>
            <a:off x="609600" y="2495550"/>
            <a:ext cx="10829925" cy="933450"/>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Задаём key. Если a[i] == key, совпадение найдено.</a:t>
            </a:r>
          </a:p>
        </p:txBody>
      </p:sp>
      <p:sp>
        <p:nvSpPr>
          <p:cNvPr id="6" name="body-2">
            <a:extLst>
              <a:ext uri="{FF2B5EF4-FFF2-40B4-BE49-F238E27FC236}">
                <a16:creationId xmlns:a16="http://schemas.microsoft.com/office/drawing/2014/main" id="{BF3106F1-BA69-4E76-AF27-DE66A6677856}"/>
              </a:ext>
            </a:extLst>
          </p:cNvPr>
          <p:cNvSpPr>
            <a:spLocks noGrp="1"/>
          </p:cNvSpPr>
          <p:nvPr/>
        </p:nvSpPr>
        <p:spPr>
          <a:xfrm>
            <a:off x="609600" y="3524250"/>
            <a:ext cx="10829925" cy="933450"/>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При поиске первого совпадения запоминаем индекс и завершаем цикл с помощью break.</a:t>
            </a:r>
          </a:p>
        </p:txBody>
      </p:sp>
      <p:sp>
        <p:nvSpPr>
          <p:cNvPr id="7" name="body-3">
            <a:extLst>
              <a:ext uri="{FF2B5EF4-FFF2-40B4-BE49-F238E27FC236}">
                <a16:creationId xmlns:a16="http://schemas.microsoft.com/office/drawing/2014/main" id="{922929B2-8753-42C1-8A99-302ABA393CA5}"/>
              </a:ext>
            </a:extLst>
          </p:cNvPr>
          <p:cNvSpPr>
            <a:spLocks noGrp="1"/>
          </p:cNvSpPr>
          <p:nvPr/>
        </p:nvSpPr>
        <p:spPr>
          <a:xfrm>
            <a:off x="609600" y="4552950"/>
            <a:ext cx="10829925" cy="933450"/>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До поиска index = -1. Это признак отсутствия совпадения для массива int[].</a:t>
            </a:r>
          </a:p>
        </p:txBody>
      </p:sp>
    </p:spTree>
    <p:extLst>
      <p:ext uri="{BB962C8B-B14F-4D97-AF65-F5344CB8AC3E}">
        <p14:creationId xmlns:p14="http://schemas.microsoft.com/office/powerpoint/2010/main" val="1680205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2A20104-7082-42A2-A5A3-1C6921B6751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Поиск первого вхождения</a:t>
            </a:r>
          </a:p>
        </p:txBody>
      </p:sp>
      <p:sp>
        <p:nvSpPr>
          <p:cNvPr id="2" name="section">
            <a:extLst>
              <a:ext uri="{FF2B5EF4-FFF2-40B4-BE49-F238E27FC236}">
                <a16:creationId xmlns:a16="http://schemas.microsoft.com/office/drawing/2014/main" id="{302A74DD-3624-41F8-BE94-B5862CAB7839}"/>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Поиск</a:t>
            </a:r>
          </a:p>
        </p:txBody>
      </p:sp>
      <p:sp>
        <p:nvSpPr>
          <p:cNvPr id="3" name="number">
            <a:extLst>
              <a:ext uri="{FF2B5EF4-FFF2-40B4-BE49-F238E27FC236}">
                <a16:creationId xmlns:a16="http://schemas.microsoft.com/office/drawing/2014/main" id="{457356EC-CD80-44C1-AC3D-24DA02C26233}"/>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22</a:t>
            </a:r>
          </a:p>
        </p:txBody>
      </p:sp>
      <p:sp>
        <p:nvSpPr>
          <p:cNvPr id="4" name="body-0">
            <a:extLst>
              <a:ext uri="{FF2B5EF4-FFF2-40B4-BE49-F238E27FC236}">
                <a16:creationId xmlns:a16="http://schemas.microsoft.com/office/drawing/2014/main" id="{99D551E6-745B-4172-9F9C-E272BE0D09B4}"/>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Ищем первое число 7.</a:t>
            </a:r>
          </a:p>
        </p:txBody>
      </p:sp>
      <p:sp>
        <p:nvSpPr>
          <p:cNvPr id="5" name="body-1">
            <a:extLst>
              <a:ext uri="{FF2B5EF4-FFF2-40B4-BE49-F238E27FC236}">
                <a16:creationId xmlns:a16="http://schemas.microsoft.com/office/drawing/2014/main" id="{449147FC-F66B-4416-9964-B061AF03C03F}"/>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После совпадения сохраняем индекс и вызываем break.</a:t>
            </a:r>
          </a:p>
        </p:txBody>
      </p:sp>
      <p:sp>
        <p:nvSpPr>
          <p:cNvPr id="6" name="body-2">
            <a:extLst>
              <a:ext uri="{FF2B5EF4-FFF2-40B4-BE49-F238E27FC236}">
                <a16:creationId xmlns:a16="http://schemas.microsoft.com/office/drawing/2014/main" id="{F8FB81E6-7B24-40E0-A672-2600934B0508}"/>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Без break при каждом совпадении индекс перезапишется.</a:t>
            </a:r>
          </a:p>
        </p:txBody>
      </p:sp>
      <p:sp>
        <p:nvSpPr>
          <p:cNvPr id="7" name="code">
            <a:extLst>
              <a:ext uri="{FF2B5EF4-FFF2-40B4-BE49-F238E27FC236}">
                <a16:creationId xmlns:a16="http://schemas.microsoft.com/office/drawing/2014/main" id="{0EC416D7-8266-49EF-9F73-EBBFC8E93069}"/>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key = 7;</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index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 key)</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index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break;</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8" name="result">
            <a:extLst>
              <a:ext uri="{FF2B5EF4-FFF2-40B4-BE49-F238E27FC236}">
                <a16:creationId xmlns:a16="http://schemas.microsoft.com/office/drawing/2014/main" id="{E38A8E1C-9CB7-44EF-B821-A346D7BFE2D9}"/>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Результат: index = 0.</a:t>
            </a:r>
          </a:p>
        </p:txBody>
      </p:sp>
    </p:spTree>
    <p:extLst>
      <p:ext uri="{BB962C8B-B14F-4D97-AF65-F5344CB8AC3E}">
        <p14:creationId xmlns:p14="http://schemas.microsoft.com/office/powerpoint/2010/main" val="1823861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037D4D8E-5D8D-42E6-9969-C19867E17F0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Результат поиска и отсутствие элемента</a:t>
            </a:r>
          </a:p>
        </p:txBody>
      </p:sp>
      <p:sp>
        <p:nvSpPr>
          <p:cNvPr id="2" name="section">
            <a:extLst>
              <a:ext uri="{FF2B5EF4-FFF2-40B4-BE49-F238E27FC236}">
                <a16:creationId xmlns:a16="http://schemas.microsoft.com/office/drawing/2014/main" id="{21D62235-F0D3-44D6-B2BE-DEBACD1BC220}"/>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Поиск</a:t>
            </a:r>
          </a:p>
        </p:txBody>
      </p:sp>
      <p:sp>
        <p:nvSpPr>
          <p:cNvPr id="3" name="number">
            <a:extLst>
              <a:ext uri="{FF2B5EF4-FFF2-40B4-BE49-F238E27FC236}">
                <a16:creationId xmlns:a16="http://schemas.microsoft.com/office/drawing/2014/main" id="{F304F712-EEB3-4F30-8517-4AF79B2B5774}"/>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23</a:t>
            </a:r>
          </a:p>
        </p:txBody>
      </p:sp>
      <p:sp>
        <p:nvSpPr>
          <p:cNvPr id="4" name="body-0">
            <a:extLst>
              <a:ext uri="{FF2B5EF4-FFF2-40B4-BE49-F238E27FC236}">
                <a16:creationId xmlns:a16="http://schemas.microsoft.com/office/drawing/2014/main" id="{BE2570B5-4AB4-4839-98F0-940C57E4DEFA}"/>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Продолжение предыдущего примера.</a:t>
            </a:r>
          </a:p>
        </p:txBody>
      </p:sp>
      <p:sp>
        <p:nvSpPr>
          <p:cNvPr id="5" name="body-1">
            <a:extLst>
              <a:ext uri="{FF2B5EF4-FFF2-40B4-BE49-F238E27FC236}">
                <a16:creationId xmlns:a16="http://schemas.microsoft.com/office/drawing/2014/main" id="{BF59103E-9FF2-4CBD-BC08-EC1513120425}"/>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Сначала проверяем index. Обращение a[-1] вызвало бы ошибку.</a:t>
            </a:r>
          </a:p>
        </p:txBody>
      </p:sp>
      <p:sp>
        <p:nvSpPr>
          <p:cNvPr id="6" name="body-2">
            <a:extLst>
              <a:ext uri="{FF2B5EF4-FFF2-40B4-BE49-F238E27FC236}">
                <a16:creationId xmlns:a16="http://schemas.microsoft.com/office/drawing/2014/main" id="{ECEDAF44-959F-4502-8726-8B686A95BA6A}"/>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Позицию для человека получаем как index + 1.</a:t>
            </a:r>
          </a:p>
        </p:txBody>
      </p:sp>
      <p:sp>
        <p:nvSpPr>
          <p:cNvPr id="7" name="code">
            <a:extLst>
              <a:ext uri="{FF2B5EF4-FFF2-40B4-BE49-F238E27FC236}">
                <a16:creationId xmlns:a16="http://schemas.microsoft.com/office/drawing/2014/main" id="{E1E1515B-2138-415F-91D7-1D07AEB80714}"/>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if (index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Console.WriteLine("Не найден");</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else</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Console.WriteLine($"Индекс: {index}");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$"Позиция: {index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8" name="result">
            <a:extLst>
              <a:ext uri="{FF2B5EF4-FFF2-40B4-BE49-F238E27FC236}">
                <a16:creationId xmlns:a16="http://schemas.microsoft.com/office/drawing/2014/main" id="{B8A810CC-D3C2-42FF-BBB7-15B5F5D2862B}"/>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key = 7: индекс 0, позиция 1. key = 9: «Не найден».</a:t>
            </a:r>
          </a:p>
        </p:txBody>
      </p:sp>
    </p:spTree>
    <p:extLst>
      <p:ext uri="{BB962C8B-B14F-4D97-AF65-F5344CB8AC3E}">
        <p14:creationId xmlns:p14="http://schemas.microsoft.com/office/powerpoint/2010/main" val="1073508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522F740F-00FE-48EF-AC62-FA23A24DEE7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Все совпадения и последнее вхождение</a:t>
            </a:r>
          </a:p>
        </p:txBody>
      </p:sp>
      <p:sp>
        <p:nvSpPr>
          <p:cNvPr id="2" name="section">
            <a:extLst>
              <a:ext uri="{FF2B5EF4-FFF2-40B4-BE49-F238E27FC236}">
                <a16:creationId xmlns:a16="http://schemas.microsoft.com/office/drawing/2014/main" id="{85A601E3-1AC7-4D66-8E78-BDDF6A8A84DF}"/>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Поиск</a:t>
            </a:r>
          </a:p>
        </p:txBody>
      </p:sp>
      <p:sp>
        <p:nvSpPr>
          <p:cNvPr id="3" name="number">
            <a:extLst>
              <a:ext uri="{FF2B5EF4-FFF2-40B4-BE49-F238E27FC236}">
                <a16:creationId xmlns:a16="http://schemas.microsoft.com/office/drawing/2014/main" id="{85D0C558-BCE7-4B09-9B5F-033E7C4DE888}"/>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24</a:t>
            </a:r>
          </a:p>
        </p:txBody>
      </p:sp>
      <p:sp>
        <p:nvSpPr>
          <p:cNvPr id="4" name="body-0">
            <a:extLst>
              <a:ext uri="{FF2B5EF4-FFF2-40B4-BE49-F238E27FC236}">
                <a16:creationId xmlns:a16="http://schemas.microsoft.com/office/drawing/2014/main" id="{FC4A0957-C3E5-4A8F-A1BF-941E2490802B}"/>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Для всех совпадений продолжаем перебор до конца.</a:t>
            </a:r>
          </a:p>
        </p:txBody>
      </p:sp>
      <p:sp>
        <p:nvSpPr>
          <p:cNvPr id="5" name="body-1">
            <a:extLst>
              <a:ext uri="{FF2B5EF4-FFF2-40B4-BE49-F238E27FC236}">
                <a16:creationId xmlns:a16="http://schemas.microsoft.com/office/drawing/2014/main" id="{61575131-0B69-4169-9F38-B3F5A7915521}"/>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last хранит индекс последнего найденного элемента.</a:t>
            </a:r>
          </a:p>
        </p:txBody>
      </p:sp>
      <p:sp>
        <p:nvSpPr>
          <p:cNvPr id="6" name="body-2">
            <a:extLst>
              <a:ext uri="{FF2B5EF4-FFF2-40B4-BE49-F238E27FC236}">
                <a16:creationId xmlns:a16="http://schemas.microsoft.com/office/drawing/2014/main" id="{6725086D-264E-4DA0-BFC3-7D55DA25DF3F}"/>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count хранит количество совпадений.</a:t>
            </a:r>
          </a:p>
        </p:txBody>
      </p:sp>
      <p:sp>
        <p:nvSpPr>
          <p:cNvPr id="7" name="code">
            <a:extLst>
              <a:ext uri="{FF2B5EF4-FFF2-40B4-BE49-F238E27FC236}">
                <a16:creationId xmlns:a16="http://schemas.microsoft.com/office/drawing/2014/main" id="{C191CAE1-E70B-42CD-9C0F-8AAE5E7D9C0C}"/>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key = 7, count = 0, last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 key)</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Console.WriteLine(i);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count++;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last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8" name="result">
            <a:extLst>
              <a:ext uri="{FF2B5EF4-FFF2-40B4-BE49-F238E27FC236}">
                <a16:creationId xmlns:a16="http://schemas.microsoft.com/office/drawing/2014/main" id="{C2D4F7D1-D8D0-4FEE-A9D4-6F53AB022213}"/>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Вывод индексов: 0 и 2. count = 2. last = 2.</a:t>
            </a:r>
          </a:p>
        </p:txBody>
      </p:sp>
    </p:spTree>
    <p:extLst>
      <p:ext uri="{BB962C8B-B14F-4D97-AF65-F5344CB8AC3E}">
        <p14:creationId xmlns:p14="http://schemas.microsoft.com/office/powerpoint/2010/main" val="1654129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5114A49-91B8-4CDA-8F11-470F661945DA}"/>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Поиск минимального элемента</a:t>
            </a:r>
          </a:p>
        </p:txBody>
      </p:sp>
      <p:sp>
        <p:nvSpPr>
          <p:cNvPr id="2" name="section">
            <a:extLst>
              <a:ext uri="{FF2B5EF4-FFF2-40B4-BE49-F238E27FC236}">
                <a16:creationId xmlns:a16="http://schemas.microsoft.com/office/drawing/2014/main" id="{5104DC94-83CB-4D29-82FC-4FF5622CF629}"/>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B5D5E404-4A1C-4CD2-829A-3E47CABDDE55}"/>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25</a:t>
            </a:r>
          </a:p>
        </p:txBody>
      </p:sp>
      <p:sp>
        <p:nvSpPr>
          <p:cNvPr id="4" name="body-0">
            <a:extLst>
              <a:ext uri="{FF2B5EF4-FFF2-40B4-BE49-F238E27FC236}">
                <a16:creationId xmlns:a16="http://schemas.microsoft.com/office/drawing/2014/main" id="{D66C6CB4-0363-41EC-9925-72A34C1CD913}"/>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Предусловие: a.Length &gt; 0.</a:t>
            </a:r>
          </a:p>
        </p:txBody>
      </p:sp>
      <p:sp>
        <p:nvSpPr>
          <p:cNvPr id="5" name="body-1">
            <a:extLst>
              <a:ext uri="{FF2B5EF4-FFF2-40B4-BE49-F238E27FC236}">
                <a16:creationId xmlns:a16="http://schemas.microsoft.com/office/drawing/2014/main" id="{DF69626A-ED8B-4D3C-8BA1-0F2F9639F12E}"/>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Первый элемент принимаем за текущий минимум.</a:t>
            </a:r>
          </a:p>
        </p:txBody>
      </p:sp>
      <p:sp>
        <p:nvSpPr>
          <p:cNvPr id="6" name="body-2">
            <a:extLst>
              <a:ext uri="{FF2B5EF4-FFF2-40B4-BE49-F238E27FC236}">
                <a16:creationId xmlns:a16="http://schemas.microsoft.com/office/drawing/2014/main" id="{55A15C74-CDE9-46BF-8D3A-48023F3363B1}"/>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Сравниваем оставшиеся элементы с min и обновляем его при меньшем значении.</a:t>
            </a:r>
          </a:p>
        </p:txBody>
      </p:sp>
      <p:sp>
        <p:nvSpPr>
          <p:cNvPr id="7" name="code">
            <a:extLst>
              <a:ext uri="{FF2B5EF4-FFF2-40B4-BE49-F238E27FC236}">
                <a16:creationId xmlns:a16="http://schemas.microsoft.com/office/drawing/2014/main" id="{6CB445E2-5AFB-4E58-8B32-ED09C0935466}"/>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min = a[0];</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1;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&lt; min)</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min =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Console.WriteLine(min); // -2</a:t>
            </a:r>
          </a:p>
        </p:txBody>
      </p:sp>
      <p:sp>
        <p:nvSpPr>
          <p:cNvPr id="8" name="result">
            <a:extLst>
              <a:ext uri="{FF2B5EF4-FFF2-40B4-BE49-F238E27FC236}">
                <a16:creationId xmlns:a16="http://schemas.microsoft.com/office/drawing/2014/main" id="{4A9CD73C-55A8-459A-9E37-B97BF69F8413}"/>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После каждого шага min — минимум среди уже просмотренных элементов.</a:t>
            </a:r>
          </a:p>
        </p:txBody>
      </p:sp>
    </p:spTree>
    <p:extLst>
      <p:ext uri="{BB962C8B-B14F-4D97-AF65-F5344CB8AC3E}">
        <p14:creationId xmlns:p14="http://schemas.microsoft.com/office/powerpoint/2010/main" val="211508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5692D3B5-20EB-4587-BCF0-EAC7B3255B27}"/>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Поиск максимального элемента</a:t>
            </a:r>
          </a:p>
        </p:txBody>
      </p:sp>
      <p:sp>
        <p:nvSpPr>
          <p:cNvPr id="2" name="section">
            <a:extLst>
              <a:ext uri="{FF2B5EF4-FFF2-40B4-BE49-F238E27FC236}">
                <a16:creationId xmlns:a16="http://schemas.microsoft.com/office/drawing/2014/main" id="{8270126A-5306-450D-AAA1-4F2845F33FF1}"/>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B81ED665-DBAB-4A79-8388-C25238586A5D}"/>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26</a:t>
            </a:r>
          </a:p>
        </p:txBody>
      </p:sp>
      <p:sp>
        <p:nvSpPr>
          <p:cNvPr id="4" name="body-0">
            <a:extLst>
              <a:ext uri="{FF2B5EF4-FFF2-40B4-BE49-F238E27FC236}">
                <a16:creationId xmlns:a16="http://schemas.microsoft.com/office/drawing/2014/main" id="{10E4425C-50AF-4699-B217-620C4F38404E}"/>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Предусловие: a.Length &gt; 0.</a:t>
            </a:r>
          </a:p>
        </p:txBody>
      </p:sp>
      <p:sp>
        <p:nvSpPr>
          <p:cNvPr id="5" name="body-1">
            <a:extLst>
              <a:ext uri="{FF2B5EF4-FFF2-40B4-BE49-F238E27FC236}">
                <a16:creationId xmlns:a16="http://schemas.microsoft.com/office/drawing/2014/main" id="{0EA38FAD-D701-4197-8389-5E470082B030}"/>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Первый элемент принимаем за текущий максимум.</a:t>
            </a:r>
          </a:p>
        </p:txBody>
      </p:sp>
      <p:sp>
        <p:nvSpPr>
          <p:cNvPr id="6" name="body-2">
            <a:extLst>
              <a:ext uri="{FF2B5EF4-FFF2-40B4-BE49-F238E27FC236}">
                <a16:creationId xmlns:a16="http://schemas.microsoft.com/office/drawing/2014/main" id="{D51A13F7-77D4-4DCA-83B8-2A232D44C589}"/>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При поиске максимума используем сравнение &gt;.</a:t>
            </a:r>
          </a:p>
        </p:txBody>
      </p:sp>
      <p:sp>
        <p:nvSpPr>
          <p:cNvPr id="7" name="code">
            <a:extLst>
              <a:ext uri="{FF2B5EF4-FFF2-40B4-BE49-F238E27FC236}">
                <a16:creationId xmlns:a16="http://schemas.microsoft.com/office/drawing/2014/main" id="{E8FDFE33-CE78-4892-BD45-CEF21B72C20B}"/>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7, -2, 7, 0, 5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max = a[0];</a:t>
            </a:r>
          </a:p>
          <a:p>
            <a:endParaRPr sz="1875" b="0">
              <a:solidFill>
                <a:srgbClr val="283C4F"/>
              </a:solidFill>
              <a:latin typeface="DejaVu Sans Mono"/>
              <a:ea typeface="DejaVu Sans Mono"/>
              <a:cs typeface="DejaVu Sans Mono"/>
            </a:endParaRP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1;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max)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max =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Console.WriteLine(max); // 7</a:t>
            </a:r>
          </a:p>
        </p:txBody>
      </p:sp>
      <p:sp>
        <p:nvSpPr>
          <p:cNvPr id="8" name="result">
            <a:extLst>
              <a:ext uri="{FF2B5EF4-FFF2-40B4-BE49-F238E27FC236}">
                <a16:creationId xmlns:a16="http://schemas.microsoft.com/office/drawing/2014/main" id="{33A81E6E-2476-4313-8867-861CB92B52CF}"/>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Цикл начинается с 1, потому что a[0] уже учтён.</a:t>
            </a:r>
          </a:p>
        </p:txBody>
      </p:sp>
    </p:spTree>
    <p:extLst>
      <p:ext uri="{BB962C8B-B14F-4D97-AF65-F5344CB8AC3E}">
        <p14:creationId xmlns:p14="http://schemas.microsoft.com/office/powerpoint/2010/main" val="1540137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EC683FAF-66C0-41E3-A7B0-51BC780ACB33}"/>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Трассировка минимума и максимума</a:t>
            </a:r>
          </a:p>
        </p:txBody>
      </p:sp>
      <p:sp>
        <p:nvSpPr>
          <p:cNvPr id="2" name="section">
            <a:extLst>
              <a:ext uri="{FF2B5EF4-FFF2-40B4-BE49-F238E27FC236}">
                <a16:creationId xmlns:a16="http://schemas.microsoft.com/office/drawing/2014/main" id="{039AFF85-C88D-4B3C-9E73-F1F7F3865564}"/>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47CEF32D-0A1D-462E-AEFE-4BB4F645ADE4}"/>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27</a:t>
            </a:r>
          </a:p>
        </p:txBody>
      </p:sp>
      <p:sp>
        <p:nvSpPr>
          <p:cNvPr id="4" name="intro">
            <a:extLst>
              <a:ext uri="{FF2B5EF4-FFF2-40B4-BE49-F238E27FC236}">
                <a16:creationId xmlns:a16="http://schemas.microsoft.com/office/drawing/2014/main" id="{5418CA48-AD6F-44B8-9A16-85FAF034ECB9}"/>
              </a:ext>
            </a:extLst>
          </p:cNvPr>
          <p:cNvSpPr>
            <a:spLocks noGrp="1"/>
          </p:cNvSpPr>
          <p:nvPr/>
        </p:nvSpPr>
        <p:spPr>
          <a:xfrm>
            <a:off x="609600" y="1428750"/>
            <a:ext cx="10953750" cy="476250"/>
          </a:xfrm>
          <a:prstGeom prst="rect">
            <a:avLst/>
          </a:prstGeom>
          <a:noFill/>
          <a:ln w="0">
            <a:noFill/>
            <a:prstDash val="solid"/>
          </a:ln>
        </p:spPr>
        <p:txBody>
          <a:bodyPr wrap="none" lIns="0" tIns="0" rIns="0" bIns="0" anchor="t">
            <a:noAutofit/>
          </a:bodyPr>
          <a:lstStyle>
            <a:defPPr>
              <a:defRPr sz="2175" b="0">
                <a:solidFill>
                  <a:srgbClr val="283C4F"/>
                </a:solidFill>
                <a:latin typeface="DejaVu Sans Mono"/>
                <a:ea typeface="DejaVu Sans Mono"/>
                <a:cs typeface="DejaVu Sans Mono"/>
              </a:defRPr>
            </a:defPPr>
            <a:lvl1pPr>
              <a:buNone/>
              <a:defRPr sz="2175" b="0">
                <a:solidFill>
                  <a:srgbClr val="283C4F"/>
                </a:solidFill>
                <a:latin typeface="DejaVu Sans Mono"/>
                <a:ea typeface="DejaVu Sans Mono"/>
                <a:cs typeface="DejaVu Sans Mono"/>
              </a:defRPr>
            </a:lvl1pPr>
            <a:lvl2pPr>
              <a:buNone/>
              <a:defRPr sz="2175" b="0">
                <a:solidFill>
                  <a:srgbClr val="283C4F"/>
                </a:solidFill>
                <a:latin typeface="DejaVu Sans Mono"/>
                <a:ea typeface="DejaVu Sans Mono"/>
                <a:cs typeface="DejaVu Sans Mono"/>
              </a:defRPr>
            </a:lvl2pPr>
            <a:lvl3pPr>
              <a:buNone/>
              <a:defRPr sz="2175" b="0">
                <a:solidFill>
                  <a:srgbClr val="283C4F"/>
                </a:solidFill>
                <a:latin typeface="DejaVu Sans Mono"/>
                <a:ea typeface="DejaVu Sans Mono"/>
                <a:cs typeface="DejaVu Sans Mono"/>
              </a:defRPr>
            </a:lvl3pPr>
            <a:lvl4pPr>
              <a:buNone/>
              <a:defRPr sz="2175" b="0">
                <a:solidFill>
                  <a:srgbClr val="283C4F"/>
                </a:solidFill>
                <a:latin typeface="DejaVu Sans Mono"/>
                <a:ea typeface="DejaVu Sans Mono"/>
                <a:cs typeface="DejaVu Sans Mono"/>
              </a:defRPr>
            </a:lvl4pPr>
            <a:lvl5pPr>
              <a:buNone/>
              <a:defRPr sz="2175" b="0">
                <a:solidFill>
                  <a:srgbClr val="283C4F"/>
                </a:solidFill>
                <a:latin typeface="DejaVu Sans Mono"/>
                <a:ea typeface="DejaVu Sans Mono"/>
                <a:cs typeface="DejaVu Sans Mono"/>
              </a:defRPr>
            </a:lvl5pPr>
            <a:lvl6pPr>
              <a:buNone/>
              <a:defRPr sz="2175" b="0">
                <a:solidFill>
                  <a:srgbClr val="283C4F"/>
                </a:solidFill>
                <a:latin typeface="DejaVu Sans Mono"/>
                <a:ea typeface="DejaVu Sans Mono"/>
                <a:cs typeface="DejaVu Sans Mono"/>
              </a:defRPr>
            </a:lvl6pPr>
            <a:lvl7pPr>
              <a:buNone/>
              <a:defRPr sz="2175" b="0">
                <a:solidFill>
                  <a:srgbClr val="283C4F"/>
                </a:solidFill>
                <a:latin typeface="DejaVu Sans Mono"/>
                <a:ea typeface="DejaVu Sans Mono"/>
                <a:cs typeface="DejaVu Sans Mono"/>
              </a:defRPr>
            </a:lvl7pPr>
            <a:lvl8pPr>
              <a:buNone/>
              <a:defRPr sz="2175" b="0">
                <a:solidFill>
                  <a:srgbClr val="283C4F"/>
                </a:solidFill>
                <a:latin typeface="DejaVu Sans Mono"/>
                <a:ea typeface="DejaVu Sans Mono"/>
                <a:cs typeface="DejaVu Sans Mono"/>
              </a:defRPr>
            </a:lvl8pPr>
            <a:lvl9pPr>
              <a:buNone/>
              <a:defRPr sz="2175" b="0">
                <a:solidFill>
                  <a:srgbClr val="283C4F"/>
                </a:solidFill>
                <a:latin typeface="DejaVu Sans Mono"/>
                <a:ea typeface="DejaVu Sans Mono"/>
                <a:cs typeface="DejaVu Sans Mono"/>
              </a:defRPr>
            </a:lvl9pPr>
          </a:lstStyle>
          <a:p>
            <a:pPr>
              <a:buNone/>
              <a:defRPr sz="2175" b="0">
                <a:solidFill>
                  <a:srgbClr val="283C4F"/>
                </a:solidFill>
                <a:latin typeface="DejaVu Sans Mono"/>
                <a:ea typeface="DejaVu Sans Mono"/>
                <a:cs typeface="DejaVu Sans Mono"/>
              </a:defRPr>
            </a:pPr>
            <a:r>
              <a:rPr sz="2175" b="0">
                <a:solidFill>
                  <a:srgbClr val="283C4F"/>
                </a:solidFill>
                <a:latin typeface="DejaVu Sans Mono"/>
                <a:ea typeface="DejaVu Sans Mono"/>
                <a:cs typeface="DejaVu Sans Mono"/>
              </a:rPr>
              <a:t>int[] a = { 4, -3, 8, -3, 2 };</a:t>
            </a:r>
          </a:p>
        </p:txBody>
      </p:sp>
      <p:graphicFrame>
        <p:nvGraphicFramePr>
          <p:cNvPr id="5" name="Таблица 4">
            <a:extLst>
              <a:ext uri="{FF2B5EF4-FFF2-40B4-BE49-F238E27FC236}">
                <a16:creationId xmlns:a16="http://schemas.microsoft.com/office/drawing/2014/main" id="{AF1DDD8A-952C-4BED-88DB-CE685D2F7873}"/>
              </a:ext>
            </a:extLst>
          </p:cNvPr>
          <p:cNvGraphicFramePr/>
          <p:nvPr/>
        </p:nvGraphicFramePr>
        <p:xfrm>
          <a:off x="609600" y="2181225"/>
          <a:ext cx="10972800" cy="3143250"/>
        </p:xfrm>
        <a:graphic>
          <a:graphicData uri="http://schemas.openxmlformats.org/drawingml/2006/table">
            <a:tbl>
              <a:tblPr/>
              <a:tblGrid>
                <a:gridCol w="33337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152650">
                  <a:extLst>
                    <a:ext uri="{9D8B030D-6E8A-4147-A177-3AD203B41FA5}">
                      <a16:colId xmlns:a16="http://schemas.microsoft.com/office/drawing/2014/main" val="20002"/>
                    </a:ext>
                  </a:extLst>
                </a:gridCol>
                <a:gridCol w="2152650">
                  <a:extLst>
                    <a:ext uri="{9D8B030D-6E8A-4147-A177-3AD203B41FA5}">
                      <a16:colId xmlns:a16="http://schemas.microsoft.com/office/drawing/2014/main" val="20003"/>
                    </a:ext>
                  </a:extLst>
                </a:gridCol>
              </a:tblGrid>
              <a:tr h="523875">
                <a:tc>
                  <a:txBody>
                    <a:bodyPr/>
                    <a:lstStyle/>
                    <a:p>
                      <a:r>
                        <a:rPr sz="2100" b="1">
                          <a:solidFill>
                            <a:srgbClr val="FFFFFF"/>
                          </a:solidFill>
                          <a:latin typeface="DejaVu Sans"/>
                          <a:ea typeface="DejaVu Sans"/>
                          <a:cs typeface="DejaVu Sans"/>
                        </a:rPr>
                        <a:t>Этап</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100" b="1">
                          <a:solidFill>
                            <a:srgbClr val="FFFFFF"/>
                          </a:solidFill>
                          <a:latin typeface="DejaVu Sans"/>
                          <a:ea typeface="DejaVu Sans"/>
                          <a:cs typeface="DejaVu Sans"/>
                        </a:rPr>
                        <a:t>Элемент</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100" b="1">
                          <a:solidFill>
                            <a:srgbClr val="FFFFFF"/>
                          </a:solidFill>
                          <a:latin typeface="DejaVu Sans"/>
                          <a:ea typeface="DejaVu Sans"/>
                          <a:cs typeface="DejaVu Sans"/>
                        </a:rPr>
                        <a:t>min</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100" b="1">
                          <a:solidFill>
                            <a:srgbClr val="FFFFFF"/>
                          </a:solidFill>
                          <a:latin typeface="DejaVu Sans"/>
                          <a:ea typeface="DejaVu Sans"/>
                          <a:cs typeface="DejaVu Sans"/>
                        </a:rPr>
                        <a:t>max</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23875">
                <a:tc>
                  <a:txBody>
                    <a:bodyPr/>
                    <a:lstStyle/>
                    <a:p>
                      <a:r>
                        <a:rPr sz="2100" b="0">
                          <a:solidFill>
                            <a:srgbClr val="283C4F"/>
                          </a:solidFill>
                          <a:latin typeface="DejaVu Sans"/>
                          <a:ea typeface="DejaVu Sans"/>
                          <a:cs typeface="DejaVu Sans"/>
                        </a:rPr>
                        <a:t>Инициализация</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a[0] = 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23875">
                <a:tc>
                  <a:txBody>
                    <a:bodyPr/>
                    <a:lstStyle/>
                    <a:p>
                      <a:r>
                        <a:rPr sz="2100" b="0">
                          <a:solidFill>
                            <a:srgbClr val="283C4F"/>
                          </a:solidFill>
                          <a:latin typeface="DejaVu Sans"/>
                          <a:ea typeface="DejaVu Sans"/>
                          <a:cs typeface="DejaVu Sans"/>
                        </a:rPr>
                        <a:t>i = 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23875">
                <a:tc>
                  <a:txBody>
                    <a:bodyPr/>
                    <a:lstStyle/>
                    <a:p>
                      <a:r>
                        <a:rPr sz="2100" b="0">
                          <a:solidFill>
                            <a:srgbClr val="283C4F"/>
                          </a:solidFill>
                          <a:latin typeface="DejaVu Sans"/>
                          <a:ea typeface="DejaVu Sans"/>
                          <a:cs typeface="DejaVu Sans"/>
                        </a:rPr>
                        <a:t>i = 2</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8</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8</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23875">
                <a:tc>
                  <a:txBody>
                    <a:bodyPr/>
                    <a:lstStyle/>
                    <a:p>
                      <a:r>
                        <a:rPr sz="2100" b="0">
                          <a:solidFill>
                            <a:srgbClr val="283C4F"/>
                          </a:solidFill>
                          <a:latin typeface="DejaVu Sans"/>
                          <a:ea typeface="DejaVu Sans"/>
                          <a:cs typeface="DejaVu Sans"/>
                        </a:rPr>
                        <a:t>i = 3</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100" b="0">
                          <a:solidFill>
                            <a:srgbClr val="283C4F"/>
                          </a:solidFill>
                          <a:latin typeface="DejaVu Sans"/>
                          <a:ea typeface="DejaVu Sans"/>
                          <a:cs typeface="DejaVu Sans"/>
                        </a:rPr>
                        <a:t>8</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r h="523875">
                <a:tc>
                  <a:txBody>
                    <a:bodyPr/>
                    <a:lstStyle/>
                    <a:p>
                      <a:r>
                        <a:rPr sz="2100" b="0">
                          <a:solidFill>
                            <a:srgbClr val="283C4F"/>
                          </a:solidFill>
                          <a:latin typeface="DejaVu Sans"/>
                          <a:ea typeface="DejaVu Sans"/>
                          <a:cs typeface="DejaVu Sans"/>
                        </a:rPr>
                        <a:t>i = 4</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100" b="0">
                          <a:solidFill>
                            <a:srgbClr val="283C4F"/>
                          </a:solidFill>
                          <a:latin typeface="DejaVu Sans"/>
                          <a:ea typeface="DejaVu Sans"/>
                          <a:cs typeface="DejaVu Sans"/>
                        </a:rPr>
                        <a:t>8</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5"/>
                  </a:ext>
                </a:extLst>
              </a:tr>
            </a:tbl>
          </a:graphicData>
        </a:graphic>
      </p:graphicFrame>
      <p:sp>
        <p:nvSpPr>
          <p:cNvPr id="6" name="result">
            <a:extLst>
              <a:ext uri="{FF2B5EF4-FFF2-40B4-BE49-F238E27FC236}">
                <a16:creationId xmlns:a16="http://schemas.microsoft.com/office/drawing/2014/main" id="{9839E662-EFB6-4E84-A300-9F63BDBD21DD}"/>
              </a:ext>
            </a:extLst>
          </p:cNvPr>
          <p:cNvSpPr>
            <a:spLocks noGrp="1"/>
          </p:cNvSpPr>
          <p:nvPr/>
        </p:nvSpPr>
        <p:spPr>
          <a:xfrm>
            <a:off x="609600" y="5734050"/>
            <a:ext cx="10953750" cy="523875"/>
          </a:xfrm>
          <a:prstGeom prst="rect">
            <a:avLst/>
          </a:prstGeom>
          <a:noFill/>
          <a:ln w="0">
            <a:noFill/>
            <a:prstDash val="solid"/>
          </a:ln>
        </p:spPr>
        <p:txBody>
          <a:bodyPr wrap="square" lIns="0" tIns="0" rIns="0" bIns="0" anchor="t">
            <a:noAutofit/>
          </a:bodyPr>
          <a:lstStyle>
            <a:defPPr>
              <a:defRPr sz="1950" b="1">
                <a:solidFill>
                  <a:srgbClr val="007F78"/>
                </a:solidFill>
                <a:latin typeface="DejaVu Sans"/>
                <a:ea typeface="DejaVu Sans"/>
                <a:cs typeface="DejaVu Sans"/>
              </a:defRPr>
            </a:defPPr>
            <a:lvl1pPr>
              <a:buNone/>
              <a:defRPr sz="1950" b="1">
                <a:solidFill>
                  <a:srgbClr val="007F78"/>
                </a:solidFill>
                <a:latin typeface="DejaVu Sans"/>
                <a:ea typeface="DejaVu Sans"/>
                <a:cs typeface="DejaVu Sans"/>
              </a:defRPr>
            </a:lvl1pPr>
            <a:lvl2pPr>
              <a:buNone/>
              <a:defRPr sz="1950" b="1">
                <a:solidFill>
                  <a:srgbClr val="007F78"/>
                </a:solidFill>
                <a:latin typeface="DejaVu Sans"/>
                <a:ea typeface="DejaVu Sans"/>
                <a:cs typeface="DejaVu Sans"/>
              </a:defRPr>
            </a:lvl2pPr>
            <a:lvl3pPr>
              <a:buNone/>
              <a:defRPr sz="1950" b="1">
                <a:solidFill>
                  <a:srgbClr val="007F78"/>
                </a:solidFill>
                <a:latin typeface="DejaVu Sans"/>
                <a:ea typeface="DejaVu Sans"/>
                <a:cs typeface="DejaVu Sans"/>
              </a:defRPr>
            </a:lvl3pPr>
            <a:lvl4pPr>
              <a:buNone/>
              <a:defRPr sz="1950" b="1">
                <a:solidFill>
                  <a:srgbClr val="007F78"/>
                </a:solidFill>
                <a:latin typeface="DejaVu Sans"/>
                <a:ea typeface="DejaVu Sans"/>
                <a:cs typeface="DejaVu Sans"/>
              </a:defRPr>
            </a:lvl4pPr>
            <a:lvl5pPr>
              <a:buNone/>
              <a:defRPr sz="1950" b="1">
                <a:solidFill>
                  <a:srgbClr val="007F78"/>
                </a:solidFill>
                <a:latin typeface="DejaVu Sans"/>
                <a:ea typeface="DejaVu Sans"/>
                <a:cs typeface="DejaVu Sans"/>
              </a:defRPr>
            </a:lvl5pPr>
            <a:lvl6pPr>
              <a:buNone/>
              <a:defRPr sz="1950" b="1">
                <a:solidFill>
                  <a:srgbClr val="007F78"/>
                </a:solidFill>
                <a:latin typeface="DejaVu Sans"/>
                <a:ea typeface="DejaVu Sans"/>
                <a:cs typeface="DejaVu Sans"/>
              </a:defRPr>
            </a:lvl6pPr>
            <a:lvl7pPr>
              <a:buNone/>
              <a:defRPr sz="1950" b="1">
                <a:solidFill>
                  <a:srgbClr val="007F78"/>
                </a:solidFill>
                <a:latin typeface="DejaVu Sans"/>
                <a:ea typeface="DejaVu Sans"/>
                <a:cs typeface="DejaVu Sans"/>
              </a:defRPr>
            </a:lvl7pPr>
            <a:lvl8pPr>
              <a:buNone/>
              <a:defRPr sz="1950" b="1">
                <a:solidFill>
                  <a:srgbClr val="007F78"/>
                </a:solidFill>
                <a:latin typeface="DejaVu Sans"/>
                <a:ea typeface="DejaVu Sans"/>
                <a:cs typeface="DejaVu Sans"/>
              </a:defRPr>
            </a:lvl8pPr>
            <a:lvl9pPr>
              <a:buNone/>
              <a:defRPr sz="1950" b="1">
                <a:solidFill>
                  <a:srgbClr val="007F78"/>
                </a:solidFill>
                <a:latin typeface="DejaVu Sans"/>
                <a:ea typeface="DejaVu Sans"/>
                <a:cs typeface="DejaVu Sans"/>
              </a:defRPr>
            </a:lvl9pPr>
          </a:lstStyle>
          <a:p>
            <a:pPr>
              <a:buNone/>
              <a:defRPr sz="1950" b="1">
                <a:solidFill>
                  <a:srgbClr val="007F78"/>
                </a:solidFill>
                <a:latin typeface="DejaVu Sans"/>
                <a:ea typeface="DejaVu Sans"/>
                <a:cs typeface="DejaVu Sans"/>
              </a:defRPr>
            </a:pPr>
            <a:r>
              <a:rPr sz="1950" b="1">
                <a:solidFill>
                  <a:srgbClr val="007F78"/>
                </a:solidFill>
                <a:latin typeface="DejaVu Sans"/>
                <a:ea typeface="DejaVu Sans"/>
                <a:cs typeface="DejaVu Sans"/>
              </a:rPr>
              <a:t>Итог: min = −3, max = 8. Равное значение min не изменяет.</a:t>
            </a:r>
          </a:p>
        </p:txBody>
      </p:sp>
    </p:spTree>
    <p:extLst>
      <p:ext uri="{BB962C8B-B14F-4D97-AF65-F5344CB8AC3E}">
        <p14:creationId xmlns:p14="http://schemas.microsoft.com/office/powerpoint/2010/main" val="586946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73A454E-D84D-46D8-B532-48E9E6C9F5F6}"/>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Индексы минимального и максимального</a:t>
            </a:r>
          </a:p>
        </p:txBody>
      </p:sp>
      <p:sp>
        <p:nvSpPr>
          <p:cNvPr id="2" name="section">
            <a:extLst>
              <a:ext uri="{FF2B5EF4-FFF2-40B4-BE49-F238E27FC236}">
                <a16:creationId xmlns:a16="http://schemas.microsoft.com/office/drawing/2014/main" id="{0BEF1CB7-9B61-4980-A07C-34086FC4CC9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D186E0D7-63C0-46EA-A38A-F261A37C1736}"/>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28</a:t>
            </a:r>
          </a:p>
        </p:txBody>
      </p:sp>
      <p:sp>
        <p:nvSpPr>
          <p:cNvPr id="4" name="body-0">
            <a:extLst>
              <a:ext uri="{FF2B5EF4-FFF2-40B4-BE49-F238E27FC236}">
                <a16:creationId xmlns:a16="http://schemas.microsoft.com/office/drawing/2014/main" id="{584C638C-99B9-43E1-A7BA-665551A0D7AA}"/>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Храним индексы. Значения доступны через a[minIndex] и a[maxIndex].</a:t>
            </a:r>
          </a:p>
        </p:txBody>
      </p:sp>
      <p:sp>
        <p:nvSpPr>
          <p:cNvPr id="5" name="body-1">
            <a:extLst>
              <a:ext uri="{FF2B5EF4-FFF2-40B4-BE49-F238E27FC236}">
                <a16:creationId xmlns:a16="http://schemas.microsoft.com/office/drawing/2014/main" id="{D2792F10-561B-4CC9-82BC-46D8320888F4}"/>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При строгих сравнениях сохраняем первое вхождение экстремума.</a:t>
            </a:r>
          </a:p>
        </p:txBody>
      </p:sp>
      <p:sp>
        <p:nvSpPr>
          <p:cNvPr id="6" name="code">
            <a:extLst>
              <a:ext uri="{FF2B5EF4-FFF2-40B4-BE49-F238E27FC236}">
                <a16:creationId xmlns:a16="http://schemas.microsoft.com/office/drawing/2014/main" id="{39B3344E-58F5-4B7B-A7AC-E6CD741770CB}"/>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4, -3, 8, -3, 2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minIndex = 0, maxIndex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1;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&lt; a[minIndex])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minIndex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a[maxIndex])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maxIndex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minIndex = 1, maxIndex = 2</a:t>
            </a:r>
          </a:p>
        </p:txBody>
      </p:sp>
      <p:sp>
        <p:nvSpPr>
          <p:cNvPr id="7" name="result">
            <a:extLst>
              <a:ext uri="{FF2B5EF4-FFF2-40B4-BE49-F238E27FC236}">
                <a16:creationId xmlns:a16="http://schemas.microsoft.com/office/drawing/2014/main" id="{B124601C-83CB-4A74-9C9F-38F2DB960D9A}"/>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Значения: −3 и 8. Индексы: 1 и 2. Позиции: 2 и 3.</a:t>
            </a:r>
          </a:p>
        </p:txBody>
      </p:sp>
    </p:spTree>
    <p:extLst>
      <p:ext uri="{BB962C8B-B14F-4D97-AF65-F5344CB8AC3E}">
        <p14:creationId xmlns:p14="http://schemas.microsoft.com/office/powerpoint/2010/main" val="38823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12885FD1-7746-4483-84F3-F574199FDF1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Начальное значение и повторения экстремума</a:t>
            </a:r>
          </a:p>
        </p:txBody>
      </p:sp>
      <p:sp>
        <p:nvSpPr>
          <p:cNvPr id="2" name="section">
            <a:extLst>
              <a:ext uri="{FF2B5EF4-FFF2-40B4-BE49-F238E27FC236}">
                <a16:creationId xmlns:a16="http://schemas.microsoft.com/office/drawing/2014/main" id="{BC67A9DF-F613-4F4B-B0BA-1FDD4547334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A157A38E-ACC9-4798-A009-A117ED4F134E}"/>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29</a:t>
            </a:r>
          </a:p>
        </p:txBody>
      </p:sp>
      <p:graphicFrame>
        <p:nvGraphicFramePr>
          <p:cNvPr id="4" name="Таблица 3">
            <a:extLst>
              <a:ext uri="{FF2B5EF4-FFF2-40B4-BE49-F238E27FC236}">
                <a16:creationId xmlns:a16="http://schemas.microsoft.com/office/drawing/2014/main" id="{CCCA75F7-E3B9-4FCC-ABB2-05471DAB1191}"/>
              </a:ext>
            </a:extLst>
          </p:cNvPr>
          <p:cNvGraphicFramePr/>
          <p:nvPr/>
        </p:nvGraphicFramePr>
        <p:xfrm>
          <a:off x="609600" y="1600200"/>
          <a:ext cx="10972800" cy="2857500"/>
        </p:xfrm>
        <a:graphic>
          <a:graphicData uri="http://schemas.openxmlformats.org/drawingml/2006/table">
            <a:tbl>
              <a:tblPr/>
              <a:tblGrid>
                <a:gridCol w="3714750">
                  <a:extLst>
                    <a:ext uri="{9D8B030D-6E8A-4147-A177-3AD203B41FA5}">
                      <a16:colId xmlns:a16="http://schemas.microsoft.com/office/drawing/2014/main" val="20000"/>
                    </a:ext>
                  </a:extLst>
                </a:gridCol>
                <a:gridCol w="30670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71500">
                <a:tc>
                  <a:txBody>
                    <a:bodyPr/>
                    <a:lstStyle/>
                    <a:p>
                      <a:r>
                        <a:rPr sz="1800" b="1">
                          <a:solidFill>
                            <a:srgbClr val="FFFFFF"/>
                          </a:solidFill>
                          <a:latin typeface="DejaVu Sans"/>
                          <a:ea typeface="DejaVu Sans"/>
                          <a:cs typeface="DejaVu Sans"/>
                        </a:rPr>
                        <a:t>Ситуация</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Правило</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Пример</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71500">
                <a:tc>
                  <a:txBody>
                    <a:bodyPr/>
                    <a:lstStyle/>
                    <a:p>
                      <a:r>
                        <a:rPr sz="1800" b="0">
                          <a:solidFill>
                            <a:srgbClr val="283C4F"/>
                          </a:solidFill>
                          <a:latin typeface="DejaVu Sans"/>
                          <a:ea typeface="DejaVu Sans"/>
                          <a:cs typeface="DejaVu Sans"/>
                        </a:rPr>
                        <a:t>Все числа положительные</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min = a[0]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Для {5, 8} минимум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71500">
                <a:tc>
                  <a:txBody>
                    <a:bodyPr/>
                    <a:lstStyle/>
                    <a:p>
                      <a:r>
                        <a:rPr sz="1800" b="0">
                          <a:solidFill>
                            <a:srgbClr val="283C4F"/>
                          </a:solidFill>
                          <a:latin typeface="DejaVu Sans"/>
                          <a:ea typeface="DejaVu Sans"/>
                          <a:cs typeface="DejaVu Sans"/>
                        </a:rPr>
                        <a:t>Все числа отрицательные</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max = a[0]</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Для {−5, −2} максимум −2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800" b="0">
                          <a:solidFill>
                            <a:srgbClr val="283C4F"/>
                          </a:solidFill>
                          <a:latin typeface="DejaVu Sans"/>
                          <a:ea typeface="DejaVu Sans"/>
                          <a:cs typeface="DejaVu Sans"/>
                        </a:rPr>
                        <a:t>Нужен первый минимум</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Сравнение &lt;</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{4, −3, −3}: индекс 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71500">
                <a:tc>
                  <a:txBody>
                    <a:bodyPr/>
                    <a:lstStyle/>
                    <a:p>
                      <a:r>
                        <a:rPr sz="1800" b="0">
                          <a:solidFill>
                            <a:srgbClr val="283C4F"/>
                          </a:solidFill>
                          <a:latin typeface="DejaVu Sans"/>
                          <a:ea typeface="DejaVu Sans"/>
                          <a:cs typeface="DejaVu Sans"/>
                        </a:rPr>
                        <a:t>Нужен последний минимум</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Сравнение &lt;=</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{4, −3, −3}: индекс 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body-0">
            <a:extLst>
              <a:ext uri="{FF2B5EF4-FFF2-40B4-BE49-F238E27FC236}">
                <a16:creationId xmlns:a16="http://schemas.microsoft.com/office/drawing/2014/main" id="{DF28A9B8-002E-4C16-9237-20F1230277A6}"/>
              </a:ext>
            </a:extLst>
          </p:cNvPr>
          <p:cNvSpPr>
            <a:spLocks noGrp="1"/>
          </p:cNvSpPr>
          <p:nvPr/>
        </p:nvSpPr>
        <p:spPr>
          <a:xfrm>
            <a:off x="609600" y="4953000"/>
            <a:ext cx="10810875" cy="5715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Инициализация min = 0 или max = 0 может дать значение, которого в массиве нет.</a:t>
            </a:r>
          </a:p>
        </p:txBody>
      </p:sp>
      <p:sp>
        <p:nvSpPr>
          <p:cNvPr id="6" name="body-1">
            <a:extLst>
              <a:ext uri="{FF2B5EF4-FFF2-40B4-BE49-F238E27FC236}">
                <a16:creationId xmlns:a16="http://schemas.microsoft.com/office/drawing/2014/main" id="{B156319E-903B-40B2-9EAE-80E2D87D0C88}"/>
              </a:ext>
            </a:extLst>
          </p:cNvPr>
          <p:cNvSpPr>
            <a:spLocks noGrp="1"/>
          </p:cNvSpPr>
          <p:nvPr/>
        </p:nvSpPr>
        <p:spPr>
          <a:xfrm>
            <a:off x="609600" y="5619750"/>
            <a:ext cx="10810875" cy="5715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buNone/>
              <a:defRPr sz="2025" b="0">
                <a:solidFill>
                  <a:srgbClr val="283C4F"/>
                </a:solidFill>
                <a:latin typeface="DejaVu Sans"/>
                <a:ea typeface="DejaVu Sans"/>
                <a:cs typeface="DejaVu Sans"/>
              </a:defRPr>
            </a:lvl1pPr>
            <a:lvl2pPr>
              <a:buNone/>
              <a:defRPr sz="2025" b="0">
                <a:solidFill>
                  <a:srgbClr val="283C4F"/>
                </a:solidFill>
                <a:latin typeface="DejaVu Sans"/>
                <a:ea typeface="DejaVu Sans"/>
                <a:cs typeface="DejaVu Sans"/>
              </a:defRPr>
            </a:lvl2pPr>
            <a:lvl3pPr>
              <a:buNone/>
              <a:defRPr sz="2025" b="0">
                <a:solidFill>
                  <a:srgbClr val="283C4F"/>
                </a:solidFill>
                <a:latin typeface="DejaVu Sans"/>
                <a:ea typeface="DejaVu Sans"/>
                <a:cs typeface="DejaVu Sans"/>
              </a:defRPr>
            </a:lvl3pPr>
            <a:lvl4pPr>
              <a:buNone/>
              <a:defRPr sz="2025" b="0">
                <a:solidFill>
                  <a:srgbClr val="283C4F"/>
                </a:solidFill>
                <a:latin typeface="DejaVu Sans"/>
                <a:ea typeface="DejaVu Sans"/>
                <a:cs typeface="DejaVu Sans"/>
              </a:defRPr>
            </a:lvl4pPr>
            <a:lvl5pPr>
              <a:buNone/>
              <a:defRPr sz="2025" b="0">
                <a:solidFill>
                  <a:srgbClr val="283C4F"/>
                </a:solidFill>
                <a:latin typeface="DejaVu Sans"/>
                <a:ea typeface="DejaVu Sans"/>
                <a:cs typeface="DejaVu Sans"/>
              </a:defRPr>
            </a:lvl5pPr>
            <a:lvl6pPr>
              <a:buNone/>
              <a:defRPr sz="2025" b="0">
                <a:solidFill>
                  <a:srgbClr val="283C4F"/>
                </a:solidFill>
                <a:latin typeface="DejaVu Sans"/>
                <a:ea typeface="DejaVu Sans"/>
                <a:cs typeface="DejaVu Sans"/>
              </a:defRPr>
            </a:lvl6pPr>
            <a:lvl7pPr>
              <a:buNone/>
              <a:defRPr sz="2025" b="0">
                <a:solidFill>
                  <a:srgbClr val="283C4F"/>
                </a:solidFill>
                <a:latin typeface="DejaVu Sans"/>
                <a:ea typeface="DejaVu Sans"/>
                <a:cs typeface="DejaVu Sans"/>
              </a:defRPr>
            </a:lvl7pPr>
            <a:lvl8pPr>
              <a:buNone/>
              <a:defRPr sz="2025" b="0">
                <a:solidFill>
                  <a:srgbClr val="283C4F"/>
                </a:solidFill>
                <a:latin typeface="DejaVu Sans"/>
                <a:ea typeface="DejaVu Sans"/>
                <a:cs typeface="DejaVu Sans"/>
              </a:defRPr>
            </a:lvl8pPr>
            <a:lvl9pPr>
              <a:buNone/>
              <a:defRPr sz="2025" b="0">
                <a:solidFill>
                  <a:srgbClr val="283C4F"/>
                </a:solidFill>
                <a:latin typeface="DejaVu Sans"/>
                <a:ea typeface="DejaVu Sans"/>
                <a:cs typeface="DejaVu Sans"/>
              </a:defRPr>
            </a:lvl9pPr>
          </a:lstStyle>
          <a:p>
            <a:pPr>
              <a:buNone/>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Для последнего максимума аналогично используют &gt;=.</a:t>
            </a:r>
          </a:p>
        </p:txBody>
      </p:sp>
    </p:spTree>
    <p:extLst>
      <p:ext uri="{BB962C8B-B14F-4D97-AF65-F5344CB8AC3E}">
        <p14:creationId xmlns:p14="http://schemas.microsoft.com/office/powerpoint/2010/main" val="543896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0BBB648-FC71-4838-907E-0B7D133AB03B}"/>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Пустой массив и граничные случаи</a:t>
            </a:r>
          </a:p>
        </p:txBody>
      </p:sp>
      <p:sp>
        <p:nvSpPr>
          <p:cNvPr id="2" name="section">
            <a:extLst>
              <a:ext uri="{FF2B5EF4-FFF2-40B4-BE49-F238E27FC236}">
                <a16:creationId xmlns:a16="http://schemas.microsoft.com/office/drawing/2014/main" id="{59335E55-1269-42C9-8786-D37A5B86B536}"/>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Минимум и максимум</a:t>
            </a:r>
          </a:p>
        </p:txBody>
      </p:sp>
      <p:sp>
        <p:nvSpPr>
          <p:cNvPr id="3" name="number">
            <a:extLst>
              <a:ext uri="{FF2B5EF4-FFF2-40B4-BE49-F238E27FC236}">
                <a16:creationId xmlns:a16="http://schemas.microsoft.com/office/drawing/2014/main" id="{912D06AE-CC8C-45D1-A263-B8A749341CA2}"/>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30</a:t>
            </a:r>
          </a:p>
        </p:txBody>
      </p:sp>
      <p:graphicFrame>
        <p:nvGraphicFramePr>
          <p:cNvPr id="4" name="Таблица 3">
            <a:extLst>
              <a:ext uri="{FF2B5EF4-FFF2-40B4-BE49-F238E27FC236}">
                <a16:creationId xmlns:a16="http://schemas.microsoft.com/office/drawing/2014/main" id="{47258D3C-181A-4F6B-85C7-13C5EA9A5780}"/>
              </a:ext>
            </a:extLst>
          </p:cNvPr>
          <p:cNvGraphicFramePr/>
          <p:nvPr/>
        </p:nvGraphicFramePr>
        <p:xfrm>
          <a:off x="609600" y="1571625"/>
          <a:ext cx="10972800" cy="2987040"/>
        </p:xfrm>
        <a:graphic>
          <a:graphicData uri="http://schemas.openxmlformats.org/drawingml/2006/table">
            <a:tbl>
              <a:tblPr/>
              <a:tblGrid>
                <a:gridCol w="3476625">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971925">
                  <a:extLst>
                    <a:ext uri="{9D8B030D-6E8A-4147-A177-3AD203B41FA5}">
                      <a16:colId xmlns:a16="http://schemas.microsoft.com/office/drawing/2014/main" val="20002"/>
                    </a:ext>
                  </a:extLst>
                </a:gridCol>
              </a:tblGrid>
              <a:tr h="571500">
                <a:tc>
                  <a:txBody>
                    <a:bodyPr/>
                    <a:lstStyle/>
                    <a:p>
                      <a:r>
                        <a:rPr sz="1800" b="1">
                          <a:solidFill>
                            <a:srgbClr val="FFFFFF"/>
                          </a:solidFill>
                          <a:latin typeface="DejaVu Sans"/>
                          <a:ea typeface="DejaVu Sans"/>
                          <a:cs typeface="DejaVu Sans"/>
                        </a:rPr>
                        <a:t>Массив</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Подсчёт / поиск</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00" b="1">
                          <a:solidFill>
                            <a:srgbClr val="FFFFFF"/>
                          </a:solidFill>
                          <a:latin typeface="DejaVu Sans"/>
                          <a:ea typeface="DejaVu Sans"/>
                          <a:cs typeface="DejaVu Sans"/>
                        </a:rPr>
                        <a:t>Минимум и максимум</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71500">
                <a:tc>
                  <a:txBody>
                    <a:bodyPr/>
                    <a:lstStyle/>
                    <a:p>
                      <a:r>
                        <a:rPr sz="1800" b="0">
                          <a:solidFill>
                            <a:srgbClr val="283C4F"/>
                          </a:solidFill>
                          <a:latin typeface="DejaVu Sans"/>
                          <a:ea typeface="DejaVu Sans"/>
                          <a:cs typeface="DejaVu Sans"/>
                        </a:rPr>
                        <a:t>Пустой</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count = 0, index = −1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Элементов нет</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71500">
                <a:tc>
                  <a:txBody>
                    <a:bodyPr/>
                    <a:lstStyle/>
                    <a:p>
                      <a:r>
                        <a:rPr sz="1800" b="0">
                          <a:solidFill>
                            <a:srgbClr val="283C4F"/>
                          </a:solidFill>
                          <a:latin typeface="DejaVu Sans"/>
                          <a:ea typeface="DejaVu Sans"/>
                          <a:cs typeface="DejaVu Sans"/>
                        </a:rPr>
                        <a:t>Один элемент {6}</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Обрабатываем один раз</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min = max = 6</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800" b="0">
                          <a:solidFill>
                            <a:srgbClr val="283C4F"/>
                          </a:solidFill>
                          <a:latin typeface="DejaVu Sans"/>
                          <a:ea typeface="DejaVu Sans"/>
                          <a:cs typeface="DejaVu Sans"/>
                        </a:rPr>
                        <a:t>Все элементы равны</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Совпадений может быть много</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00" b="0">
                          <a:solidFill>
                            <a:srgbClr val="283C4F"/>
                          </a:solidFill>
                          <a:latin typeface="DejaVu Sans"/>
                          <a:ea typeface="DejaVu Sans"/>
                          <a:cs typeface="DejaVu Sans"/>
                        </a:rPr>
                        <a:t>min = max</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71500">
                <a:tc>
                  <a:txBody>
                    <a:bodyPr/>
                    <a:lstStyle/>
                    <a:p>
                      <a:r>
                        <a:rPr sz="1800" b="0">
                          <a:solidFill>
                            <a:srgbClr val="283C4F"/>
                          </a:solidFill>
                          <a:latin typeface="DejaVu Sans"/>
                          <a:ea typeface="DejaVu Sans"/>
                          <a:cs typeface="DejaVu Sans"/>
                        </a:rPr>
                        <a:t>Только отрицательные</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Условия проверяем обычно</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00" b="0">
                          <a:solidFill>
                            <a:srgbClr val="283C4F"/>
                          </a:solidFill>
                          <a:latin typeface="DejaVu Sans"/>
                          <a:ea typeface="DejaVu Sans"/>
                          <a:cs typeface="DejaVu Sans"/>
                        </a:rPr>
                        <a:t>max тоже отрицательный</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code">
            <a:extLst>
              <a:ext uri="{FF2B5EF4-FFF2-40B4-BE49-F238E27FC236}">
                <a16:creationId xmlns:a16="http://schemas.microsoft.com/office/drawing/2014/main" id="{DCD1EFA1-2456-48F4-9B1E-8E701DAF838A}"/>
              </a:ext>
            </a:extLst>
          </p:cNvPr>
          <p:cNvSpPr>
            <a:spLocks noGrp="1"/>
          </p:cNvSpPr>
          <p:nvPr/>
        </p:nvSpPr>
        <p:spPr>
          <a:xfrm>
            <a:off x="609600" y="4695825"/>
            <a:ext cx="10972800" cy="1466850"/>
          </a:xfrm>
          <a:prstGeom prst="rect">
            <a:avLst/>
          </a:prstGeom>
          <a:solidFill>
            <a:srgbClr val="F1F5F7"/>
          </a:solidFill>
          <a:ln w="0">
            <a:noFill/>
            <a:prstDash val="solid"/>
          </a:ln>
        </p:spPr>
        <p:txBody>
          <a:bodyPr wrap="none" lIns="152400" tIns="152400" rIns="152400" bIns="152400" anchor="t">
            <a:noAutofit/>
          </a:bodyPr>
          <a:lstStyle>
            <a:defPPr>
              <a:defRPr sz="1800" b="0">
                <a:solidFill>
                  <a:srgbClr val="283C4F"/>
                </a:solidFill>
                <a:latin typeface="DejaVu Sans Mono"/>
                <a:ea typeface="DejaVu Sans Mono"/>
                <a:cs typeface="DejaVu Sans Mono"/>
              </a:defRPr>
            </a:defPPr>
            <a:lvl1pPr>
              <a:buNone/>
              <a:defRPr sz="1800" b="0">
                <a:solidFill>
                  <a:srgbClr val="283C4F"/>
                </a:solidFill>
                <a:latin typeface="DejaVu Sans Mono"/>
                <a:ea typeface="DejaVu Sans Mono"/>
                <a:cs typeface="DejaVu Sans Mono"/>
              </a:defRPr>
            </a:lvl1pPr>
            <a:lvl2pPr>
              <a:buNone/>
              <a:defRPr sz="1800" b="0">
                <a:solidFill>
                  <a:srgbClr val="283C4F"/>
                </a:solidFill>
                <a:latin typeface="DejaVu Sans Mono"/>
                <a:ea typeface="DejaVu Sans Mono"/>
                <a:cs typeface="DejaVu Sans Mono"/>
              </a:defRPr>
            </a:lvl2pPr>
            <a:lvl3pPr>
              <a:buNone/>
              <a:defRPr sz="1800" b="0">
                <a:solidFill>
                  <a:srgbClr val="283C4F"/>
                </a:solidFill>
                <a:latin typeface="DejaVu Sans Mono"/>
                <a:ea typeface="DejaVu Sans Mono"/>
                <a:cs typeface="DejaVu Sans Mono"/>
              </a:defRPr>
            </a:lvl3pPr>
            <a:lvl4pPr>
              <a:buNone/>
              <a:defRPr sz="1800" b="0">
                <a:solidFill>
                  <a:srgbClr val="283C4F"/>
                </a:solidFill>
                <a:latin typeface="DejaVu Sans Mono"/>
                <a:ea typeface="DejaVu Sans Mono"/>
                <a:cs typeface="DejaVu Sans Mono"/>
              </a:defRPr>
            </a:lvl4pPr>
            <a:lvl5pPr>
              <a:buNone/>
              <a:defRPr sz="1800" b="0">
                <a:solidFill>
                  <a:srgbClr val="283C4F"/>
                </a:solidFill>
                <a:latin typeface="DejaVu Sans Mono"/>
                <a:ea typeface="DejaVu Sans Mono"/>
                <a:cs typeface="DejaVu Sans Mono"/>
              </a:defRPr>
            </a:lvl5pPr>
            <a:lvl6pPr>
              <a:buNone/>
              <a:defRPr sz="1800" b="0">
                <a:solidFill>
                  <a:srgbClr val="283C4F"/>
                </a:solidFill>
                <a:latin typeface="DejaVu Sans Mono"/>
                <a:ea typeface="DejaVu Sans Mono"/>
                <a:cs typeface="DejaVu Sans Mono"/>
              </a:defRPr>
            </a:lvl6pPr>
            <a:lvl7pPr>
              <a:buNone/>
              <a:defRPr sz="1800" b="0">
                <a:solidFill>
                  <a:srgbClr val="283C4F"/>
                </a:solidFill>
                <a:latin typeface="DejaVu Sans Mono"/>
                <a:ea typeface="DejaVu Sans Mono"/>
                <a:cs typeface="DejaVu Sans Mono"/>
              </a:defRPr>
            </a:lvl7pPr>
            <a:lvl8pPr>
              <a:buNone/>
              <a:defRPr sz="1800" b="0">
                <a:solidFill>
                  <a:srgbClr val="283C4F"/>
                </a:solidFill>
                <a:latin typeface="DejaVu Sans Mono"/>
                <a:ea typeface="DejaVu Sans Mono"/>
                <a:cs typeface="DejaVu Sans Mono"/>
              </a:defRPr>
            </a:lvl8pPr>
            <a:lvl9pPr>
              <a:buNone/>
              <a:defRPr sz="1800" b="0">
                <a:solidFill>
                  <a:srgbClr val="283C4F"/>
                </a:solidFill>
                <a:latin typeface="DejaVu Sans Mono"/>
                <a:ea typeface="DejaVu Sans Mono"/>
                <a:cs typeface="DejaVu Sans Mono"/>
              </a:defRPr>
            </a:lvl9pPr>
          </a:lstStyle>
          <a:p>
            <a:pPr>
              <a:buNone/>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if (a.Length == 0)</a:t>
            </a:r>
          </a:p>
          <a:p>
            <a:pPr>
              <a:buNone/>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a:t>
            </a:r>
          </a:p>
          <a:p>
            <a:pPr>
              <a:buNone/>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    Console.WriteLine("Массив пуст");</a:t>
            </a:r>
          </a:p>
          <a:p>
            <a:pPr>
              <a:buNone/>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    return;</a:t>
            </a:r>
          </a:p>
          <a:p>
            <a:pPr>
              <a:buNone/>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a:t>
            </a:r>
          </a:p>
        </p:txBody>
      </p:sp>
    </p:spTree>
    <p:extLst>
      <p:ext uri="{BB962C8B-B14F-4D97-AF65-F5344CB8AC3E}">
        <p14:creationId xmlns:p14="http://schemas.microsoft.com/office/powerpoint/2010/main" val="2072479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826AF5D-3C56-4F14-AA5C-9EDD3DAFB07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Комплексный пример: анализ измерений</a:t>
            </a:r>
          </a:p>
        </p:txBody>
      </p:sp>
      <p:sp>
        <p:nvSpPr>
          <p:cNvPr id="2" name="section">
            <a:extLst>
              <a:ext uri="{FF2B5EF4-FFF2-40B4-BE49-F238E27FC236}">
                <a16:creationId xmlns:a16="http://schemas.microsoft.com/office/drawing/2014/main" id="{26D38432-773A-4AEF-9F9A-D9B37F52AB00}"/>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Комплексный пример</a:t>
            </a:r>
          </a:p>
        </p:txBody>
      </p:sp>
      <p:sp>
        <p:nvSpPr>
          <p:cNvPr id="3" name="number">
            <a:extLst>
              <a:ext uri="{FF2B5EF4-FFF2-40B4-BE49-F238E27FC236}">
                <a16:creationId xmlns:a16="http://schemas.microsoft.com/office/drawing/2014/main" id="{88537794-3BAF-43EE-9D7F-8B302F1EC901}"/>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31</a:t>
            </a:r>
          </a:p>
        </p:txBody>
      </p:sp>
      <p:sp>
        <p:nvSpPr>
          <p:cNvPr id="4" name="code">
            <a:extLst>
              <a:ext uri="{FF2B5EF4-FFF2-40B4-BE49-F238E27FC236}">
                <a16:creationId xmlns:a16="http://schemas.microsoft.com/office/drawing/2014/main" id="{4FCCB072-1421-4FFC-89C7-97E7D63570DD}"/>
              </a:ext>
            </a:extLst>
          </p:cNvPr>
          <p:cNvSpPr>
            <a:spLocks noGrp="1"/>
          </p:cNvSpPr>
          <p:nvPr/>
        </p:nvSpPr>
        <p:spPr>
          <a:xfrm>
            <a:off x="609600" y="1457325"/>
            <a:ext cx="10972800" cy="1047750"/>
          </a:xfrm>
          <a:prstGeom prst="rect">
            <a:avLst/>
          </a:prstGeom>
          <a:solidFill>
            <a:srgbClr val="F1F5F7"/>
          </a:solidFill>
          <a:ln w="0">
            <a:noFill/>
            <a:prstDash val="solid"/>
          </a:ln>
        </p:spPr>
        <p:txBody>
          <a:bodyPr wrap="none" lIns="152400" tIns="152400" rIns="152400" bIns="152400" anchor="t">
            <a:noAutofit/>
          </a:bodyPr>
          <a:lstStyle>
            <a:defPPr>
              <a:defRPr sz="2100" b="0">
                <a:solidFill>
                  <a:srgbClr val="283C4F"/>
                </a:solidFill>
                <a:latin typeface="DejaVu Sans Mono"/>
                <a:ea typeface="DejaVu Sans Mono"/>
                <a:cs typeface="DejaVu Sans Mono"/>
              </a:defRPr>
            </a:defPPr>
            <a:lvl1pPr>
              <a:buNone/>
              <a:defRPr sz="2100" b="0">
                <a:solidFill>
                  <a:srgbClr val="283C4F"/>
                </a:solidFill>
                <a:latin typeface="DejaVu Sans Mono"/>
                <a:ea typeface="DejaVu Sans Mono"/>
                <a:cs typeface="DejaVu Sans Mono"/>
              </a:defRPr>
            </a:lvl1pPr>
            <a:lvl2pPr>
              <a:buNone/>
              <a:defRPr sz="2100" b="0">
                <a:solidFill>
                  <a:srgbClr val="283C4F"/>
                </a:solidFill>
                <a:latin typeface="DejaVu Sans Mono"/>
                <a:ea typeface="DejaVu Sans Mono"/>
                <a:cs typeface="DejaVu Sans Mono"/>
              </a:defRPr>
            </a:lvl2pPr>
            <a:lvl3pPr>
              <a:buNone/>
              <a:defRPr sz="2100" b="0">
                <a:solidFill>
                  <a:srgbClr val="283C4F"/>
                </a:solidFill>
                <a:latin typeface="DejaVu Sans Mono"/>
                <a:ea typeface="DejaVu Sans Mono"/>
                <a:cs typeface="DejaVu Sans Mono"/>
              </a:defRPr>
            </a:lvl3pPr>
            <a:lvl4pPr>
              <a:buNone/>
              <a:defRPr sz="2100" b="0">
                <a:solidFill>
                  <a:srgbClr val="283C4F"/>
                </a:solidFill>
                <a:latin typeface="DejaVu Sans Mono"/>
                <a:ea typeface="DejaVu Sans Mono"/>
                <a:cs typeface="DejaVu Sans Mono"/>
              </a:defRPr>
            </a:lvl4pPr>
            <a:lvl5pPr>
              <a:buNone/>
              <a:defRPr sz="2100" b="0">
                <a:solidFill>
                  <a:srgbClr val="283C4F"/>
                </a:solidFill>
                <a:latin typeface="DejaVu Sans Mono"/>
                <a:ea typeface="DejaVu Sans Mono"/>
                <a:cs typeface="DejaVu Sans Mono"/>
              </a:defRPr>
            </a:lvl5pPr>
            <a:lvl6pPr>
              <a:buNone/>
              <a:defRPr sz="2100" b="0">
                <a:solidFill>
                  <a:srgbClr val="283C4F"/>
                </a:solidFill>
                <a:latin typeface="DejaVu Sans Mono"/>
                <a:ea typeface="DejaVu Sans Mono"/>
                <a:cs typeface="DejaVu Sans Mono"/>
              </a:defRPr>
            </a:lvl6pPr>
            <a:lvl7pPr>
              <a:buNone/>
              <a:defRPr sz="2100" b="0">
                <a:solidFill>
                  <a:srgbClr val="283C4F"/>
                </a:solidFill>
                <a:latin typeface="DejaVu Sans Mono"/>
                <a:ea typeface="DejaVu Sans Mono"/>
                <a:cs typeface="DejaVu Sans Mono"/>
              </a:defRPr>
            </a:lvl7pPr>
            <a:lvl8pPr>
              <a:buNone/>
              <a:defRPr sz="2100" b="0">
                <a:solidFill>
                  <a:srgbClr val="283C4F"/>
                </a:solidFill>
                <a:latin typeface="DejaVu Sans Mono"/>
                <a:ea typeface="DejaVu Sans Mono"/>
                <a:cs typeface="DejaVu Sans Mono"/>
              </a:defRPr>
            </a:lvl8pPr>
            <a:lvl9pPr>
              <a:buNone/>
              <a:defRPr sz="2100" b="0">
                <a:solidFill>
                  <a:srgbClr val="283C4F"/>
                </a:solidFill>
                <a:latin typeface="DejaVu Sans Mono"/>
                <a:ea typeface="DejaVu Sans Mono"/>
                <a:cs typeface="DejaVu Sans Mono"/>
              </a:defRPr>
            </a:lvl9pPr>
          </a:lstStyle>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a = { 4, -3, 8, -3, 0, 5 };</a:t>
            </a:r>
          </a:p>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key = -3;</a:t>
            </a:r>
          </a:p>
        </p:txBody>
      </p:sp>
      <p:sp>
        <p:nvSpPr>
          <p:cNvPr id="5" name="body-0">
            <a:extLst>
              <a:ext uri="{FF2B5EF4-FFF2-40B4-BE49-F238E27FC236}">
                <a16:creationId xmlns:a16="http://schemas.microsoft.com/office/drawing/2014/main" id="{56028808-140F-438D-A4E1-A5ACFDCF283E}"/>
              </a:ext>
            </a:extLst>
          </p:cNvPr>
          <p:cNvSpPr>
            <a:spLocks noGrp="1"/>
          </p:cNvSpPr>
          <p:nvPr/>
        </p:nvSpPr>
        <p:spPr>
          <a:xfrm>
            <a:off x="609600" y="2867025"/>
            <a:ext cx="10763250" cy="6477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1. Подсчитать положительные значения и найти их сумму.</a:t>
            </a:r>
          </a:p>
        </p:txBody>
      </p:sp>
      <p:sp>
        <p:nvSpPr>
          <p:cNvPr id="6" name="body-1">
            <a:extLst>
              <a:ext uri="{FF2B5EF4-FFF2-40B4-BE49-F238E27FC236}">
                <a16:creationId xmlns:a16="http://schemas.microsoft.com/office/drawing/2014/main" id="{1956BEE7-87D5-4731-A773-1BE36264AAB5}"/>
              </a:ext>
            </a:extLst>
          </p:cNvPr>
          <p:cNvSpPr>
            <a:spLocks noGrp="1"/>
          </p:cNvSpPr>
          <p:nvPr/>
        </p:nvSpPr>
        <p:spPr>
          <a:xfrm>
            <a:off x="609600" y="3609975"/>
            <a:ext cx="10763250" cy="6477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2. Определить min и max с индексами первых вхождений.</a:t>
            </a:r>
          </a:p>
        </p:txBody>
      </p:sp>
      <p:sp>
        <p:nvSpPr>
          <p:cNvPr id="7" name="body-2">
            <a:extLst>
              <a:ext uri="{FF2B5EF4-FFF2-40B4-BE49-F238E27FC236}">
                <a16:creationId xmlns:a16="http://schemas.microsoft.com/office/drawing/2014/main" id="{13091873-4A82-4554-B370-32B27173BA24}"/>
              </a:ext>
            </a:extLst>
          </p:cNvPr>
          <p:cNvSpPr>
            <a:spLocks noGrp="1"/>
          </p:cNvSpPr>
          <p:nvPr/>
        </p:nvSpPr>
        <p:spPr>
          <a:xfrm>
            <a:off x="609600" y="4352925"/>
            <a:ext cx="10763250" cy="6477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3. Найти индекс первого элемента, равного key.</a:t>
            </a:r>
          </a:p>
        </p:txBody>
      </p:sp>
      <p:sp>
        <p:nvSpPr>
          <p:cNvPr id="8" name="body-3">
            <a:extLst>
              <a:ext uri="{FF2B5EF4-FFF2-40B4-BE49-F238E27FC236}">
                <a16:creationId xmlns:a16="http://schemas.microsoft.com/office/drawing/2014/main" id="{0A7A117B-21ED-48EE-8E01-C57DF521480B}"/>
              </a:ext>
            </a:extLst>
          </p:cNvPr>
          <p:cNvSpPr>
            <a:spLocks noGrp="1"/>
          </p:cNvSpPr>
          <p:nvPr/>
        </p:nvSpPr>
        <p:spPr>
          <a:xfrm>
            <a:off x="609600" y="5095875"/>
            <a:ext cx="10763250" cy="64770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buNone/>
              <a:defRPr sz="2100" b="0">
                <a:solidFill>
                  <a:srgbClr val="283C4F"/>
                </a:solidFill>
                <a:latin typeface="DejaVu Sans"/>
                <a:ea typeface="DejaVu Sans"/>
                <a:cs typeface="DejaVu Sans"/>
              </a:defRPr>
            </a:lvl1pPr>
            <a:lvl2pPr>
              <a:buNone/>
              <a:defRPr sz="2100" b="0">
                <a:solidFill>
                  <a:srgbClr val="283C4F"/>
                </a:solidFill>
                <a:latin typeface="DejaVu Sans"/>
                <a:ea typeface="DejaVu Sans"/>
                <a:cs typeface="DejaVu Sans"/>
              </a:defRPr>
            </a:lvl2pPr>
            <a:lvl3pPr>
              <a:buNone/>
              <a:defRPr sz="2100" b="0">
                <a:solidFill>
                  <a:srgbClr val="283C4F"/>
                </a:solidFill>
                <a:latin typeface="DejaVu Sans"/>
                <a:ea typeface="DejaVu Sans"/>
                <a:cs typeface="DejaVu Sans"/>
              </a:defRPr>
            </a:lvl3pPr>
            <a:lvl4pPr>
              <a:buNone/>
              <a:defRPr sz="2100" b="0">
                <a:solidFill>
                  <a:srgbClr val="283C4F"/>
                </a:solidFill>
                <a:latin typeface="DejaVu Sans"/>
                <a:ea typeface="DejaVu Sans"/>
                <a:cs typeface="DejaVu Sans"/>
              </a:defRPr>
            </a:lvl4pPr>
            <a:lvl5pPr>
              <a:buNone/>
              <a:defRPr sz="2100" b="0">
                <a:solidFill>
                  <a:srgbClr val="283C4F"/>
                </a:solidFill>
                <a:latin typeface="DejaVu Sans"/>
                <a:ea typeface="DejaVu Sans"/>
                <a:cs typeface="DejaVu Sans"/>
              </a:defRPr>
            </a:lvl5pPr>
            <a:lvl6pPr>
              <a:buNone/>
              <a:defRPr sz="2100" b="0">
                <a:solidFill>
                  <a:srgbClr val="283C4F"/>
                </a:solidFill>
                <a:latin typeface="DejaVu Sans"/>
                <a:ea typeface="DejaVu Sans"/>
                <a:cs typeface="DejaVu Sans"/>
              </a:defRPr>
            </a:lvl6pPr>
            <a:lvl7pPr>
              <a:buNone/>
              <a:defRPr sz="2100" b="0">
                <a:solidFill>
                  <a:srgbClr val="283C4F"/>
                </a:solidFill>
                <a:latin typeface="DejaVu Sans"/>
                <a:ea typeface="DejaVu Sans"/>
                <a:cs typeface="DejaVu Sans"/>
              </a:defRPr>
            </a:lvl7pPr>
            <a:lvl8pPr>
              <a:buNone/>
              <a:defRPr sz="2100" b="0">
                <a:solidFill>
                  <a:srgbClr val="283C4F"/>
                </a:solidFill>
                <a:latin typeface="DejaVu Sans"/>
                <a:ea typeface="DejaVu Sans"/>
                <a:cs typeface="DejaVu Sans"/>
              </a:defRPr>
            </a:lvl8pPr>
            <a:lvl9pPr>
              <a:buNone/>
              <a:defRPr sz="2100" b="0">
                <a:solidFill>
                  <a:srgbClr val="283C4F"/>
                </a:solidFill>
                <a:latin typeface="DejaVu Sans"/>
                <a:ea typeface="DejaVu Sans"/>
                <a:cs typeface="DejaVu Sans"/>
              </a:defRPr>
            </a:lvl9pPr>
          </a:lstStyle>
          <a:p>
            <a:pPr>
              <a:buNone/>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Массив задан в коде и содержит хотя бы один элемент.</a:t>
            </a:r>
          </a:p>
        </p:txBody>
      </p:sp>
    </p:spTree>
    <p:extLst>
      <p:ext uri="{BB962C8B-B14F-4D97-AF65-F5344CB8AC3E}">
        <p14:creationId xmlns:p14="http://schemas.microsoft.com/office/powerpoint/2010/main" val="1261628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433D46E8-12E3-455E-BF17-B1BD0E261FCB}"/>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Комплексный пример: обработка за один проход</a:t>
            </a:r>
          </a:p>
        </p:txBody>
      </p:sp>
      <p:sp>
        <p:nvSpPr>
          <p:cNvPr id="2" name="section">
            <a:extLst>
              <a:ext uri="{FF2B5EF4-FFF2-40B4-BE49-F238E27FC236}">
                <a16:creationId xmlns:a16="http://schemas.microsoft.com/office/drawing/2014/main" id="{37F30F35-4806-41FC-8F8F-9C1B625BF96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Комплексный пример</a:t>
            </a:r>
          </a:p>
        </p:txBody>
      </p:sp>
      <p:sp>
        <p:nvSpPr>
          <p:cNvPr id="3" name="number">
            <a:extLst>
              <a:ext uri="{FF2B5EF4-FFF2-40B4-BE49-F238E27FC236}">
                <a16:creationId xmlns:a16="http://schemas.microsoft.com/office/drawing/2014/main" id="{3BBFC7F0-B754-4C07-9A72-FD03D7FD80E0}"/>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32</a:t>
            </a:r>
          </a:p>
        </p:txBody>
      </p:sp>
      <p:sp>
        <p:nvSpPr>
          <p:cNvPr id="4" name="intro">
            <a:extLst>
              <a:ext uri="{FF2B5EF4-FFF2-40B4-BE49-F238E27FC236}">
                <a16:creationId xmlns:a16="http://schemas.microsoft.com/office/drawing/2014/main" id="{71AFC91F-FEA4-4ED1-B068-649CA2175890}"/>
              </a:ext>
            </a:extLst>
          </p:cNvPr>
          <p:cNvSpPr>
            <a:spLocks noGrp="1"/>
          </p:cNvSpPr>
          <p:nvPr/>
        </p:nvSpPr>
        <p:spPr>
          <a:xfrm>
            <a:off x="609600" y="1400175"/>
            <a:ext cx="10858500" cy="619125"/>
          </a:xfrm>
          <a:prstGeom prst="rect">
            <a:avLst/>
          </a:prstGeom>
          <a:noFill/>
          <a:ln w="0">
            <a:noFill/>
            <a:prstDash val="solid"/>
          </a:ln>
        </p:spPr>
        <p:txBody>
          <a:bodyPr wrap="square" lIns="0" tIns="0" rIns="0" bIns="0" anchor="t">
            <a:noAutofit/>
          </a:bodyPr>
          <a:lstStyle>
            <a:defPPr>
              <a:defRPr sz="1875" b="0">
                <a:solidFill>
                  <a:srgbClr val="283C4F"/>
                </a:solidFill>
                <a:latin typeface="DejaVu Sans"/>
                <a:ea typeface="DejaVu Sans"/>
                <a:cs typeface="DejaVu Sans"/>
              </a:defRPr>
            </a:defPPr>
            <a:lvl1pPr>
              <a:buNone/>
              <a:defRPr sz="1875" b="0">
                <a:solidFill>
                  <a:srgbClr val="283C4F"/>
                </a:solidFill>
                <a:latin typeface="DejaVu Sans"/>
                <a:ea typeface="DejaVu Sans"/>
                <a:cs typeface="DejaVu Sans"/>
              </a:defRPr>
            </a:lvl1pPr>
            <a:lvl2pPr>
              <a:buNone/>
              <a:defRPr sz="1875" b="0">
                <a:solidFill>
                  <a:srgbClr val="283C4F"/>
                </a:solidFill>
                <a:latin typeface="DejaVu Sans"/>
                <a:ea typeface="DejaVu Sans"/>
                <a:cs typeface="DejaVu Sans"/>
              </a:defRPr>
            </a:lvl2pPr>
            <a:lvl3pPr>
              <a:buNone/>
              <a:defRPr sz="1875" b="0">
                <a:solidFill>
                  <a:srgbClr val="283C4F"/>
                </a:solidFill>
                <a:latin typeface="DejaVu Sans"/>
                <a:ea typeface="DejaVu Sans"/>
                <a:cs typeface="DejaVu Sans"/>
              </a:defRPr>
            </a:lvl3pPr>
            <a:lvl4pPr>
              <a:buNone/>
              <a:defRPr sz="1875" b="0">
                <a:solidFill>
                  <a:srgbClr val="283C4F"/>
                </a:solidFill>
                <a:latin typeface="DejaVu Sans"/>
                <a:ea typeface="DejaVu Sans"/>
                <a:cs typeface="DejaVu Sans"/>
              </a:defRPr>
            </a:lvl4pPr>
            <a:lvl5pPr>
              <a:buNone/>
              <a:defRPr sz="1875" b="0">
                <a:solidFill>
                  <a:srgbClr val="283C4F"/>
                </a:solidFill>
                <a:latin typeface="DejaVu Sans"/>
                <a:ea typeface="DejaVu Sans"/>
                <a:cs typeface="DejaVu Sans"/>
              </a:defRPr>
            </a:lvl5pPr>
            <a:lvl6pPr>
              <a:buNone/>
              <a:defRPr sz="1875" b="0">
                <a:solidFill>
                  <a:srgbClr val="283C4F"/>
                </a:solidFill>
                <a:latin typeface="DejaVu Sans"/>
                <a:ea typeface="DejaVu Sans"/>
                <a:cs typeface="DejaVu Sans"/>
              </a:defRPr>
            </a:lvl6pPr>
            <a:lvl7pPr>
              <a:buNone/>
              <a:defRPr sz="1875" b="0">
                <a:solidFill>
                  <a:srgbClr val="283C4F"/>
                </a:solidFill>
                <a:latin typeface="DejaVu Sans"/>
                <a:ea typeface="DejaVu Sans"/>
                <a:cs typeface="DejaVu Sans"/>
              </a:defRPr>
            </a:lvl7pPr>
            <a:lvl8pPr>
              <a:buNone/>
              <a:defRPr sz="1875" b="0">
                <a:solidFill>
                  <a:srgbClr val="283C4F"/>
                </a:solidFill>
                <a:latin typeface="DejaVu Sans"/>
                <a:ea typeface="DejaVu Sans"/>
                <a:cs typeface="DejaVu Sans"/>
              </a:defRPr>
            </a:lvl8pPr>
            <a:lvl9pPr>
              <a:buNone/>
              <a:defRPr sz="1875" b="0">
                <a:solidFill>
                  <a:srgbClr val="283C4F"/>
                </a:solidFill>
                <a:latin typeface="DejaVu Sans"/>
                <a:ea typeface="DejaVu Sans"/>
                <a:cs typeface="DejaVu Sans"/>
              </a:defRPr>
            </a:lvl9pPr>
          </a:lstStyle>
          <a:p>
            <a:pPr>
              <a:buNone/>
              <a:defRPr sz="1875" b="0">
                <a:solidFill>
                  <a:srgbClr val="283C4F"/>
                </a:solidFill>
                <a:latin typeface="DejaVu Sans"/>
                <a:ea typeface="DejaVu Sans"/>
                <a:cs typeface="DejaVu Sans"/>
              </a:defRPr>
            </a:pPr>
            <a:r>
              <a:rPr sz="1875" b="0">
                <a:solidFill>
                  <a:srgbClr val="283C4F"/>
                </a:solidFill>
                <a:latin typeface="DejaVu Sans"/>
                <a:ea typeface="DejaVu Sans"/>
                <a:cs typeface="DejaVu Sans"/>
              </a:rPr>
              <a:t>Продолжение: a и key объявлены на предыдущем слайде. Массив непустой.</a:t>
            </a:r>
          </a:p>
        </p:txBody>
      </p:sp>
      <p:sp>
        <p:nvSpPr>
          <p:cNvPr id="5" name="code">
            <a:extLst>
              <a:ext uri="{FF2B5EF4-FFF2-40B4-BE49-F238E27FC236}">
                <a16:creationId xmlns:a16="http://schemas.microsoft.com/office/drawing/2014/main" id="{12E4C980-3410-495A-8CE5-AE525AC4C46E}"/>
              </a:ext>
            </a:extLst>
          </p:cNvPr>
          <p:cNvSpPr>
            <a:spLocks noGrp="1"/>
          </p:cNvSpPr>
          <p:nvPr/>
        </p:nvSpPr>
        <p:spPr>
          <a:xfrm>
            <a:off x="609600" y="2124075"/>
            <a:ext cx="10972800" cy="347662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count = 0, minIndex = 0, maxIndex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long sum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0) { count++; sum += a[i];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&lt; a[minIndex]) minIndex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a[maxIndex]) maxIndex =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Console.WriteLine($"Количество: {count}, сумма: {sum}");</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Console.WriteLine($"min = {a[minIndex]}, индекс = {minIndex}");</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Console.WriteLine($"max = {a[maxIndex]}, индекс = {maxIndex}");</a:t>
            </a:r>
          </a:p>
        </p:txBody>
      </p:sp>
      <p:sp>
        <p:nvSpPr>
          <p:cNvPr id="6" name="result">
            <a:extLst>
              <a:ext uri="{FF2B5EF4-FFF2-40B4-BE49-F238E27FC236}">
                <a16:creationId xmlns:a16="http://schemas.microsoft.com/office/drawing/2014/main" id="{BD8D0DD3-BE3F-4C81-9542-73BEB9CA34FD}"/>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Один перебор обновляет несколько независимых результатов.</a:t>
            </a:r>
          </a:p>
        </p:txBody>
      </p:sp>
      <p:sp>
        <p:nvSpPr>
          <p:cNvPr id="8" name="code">
            <a:extLst>
              <a:ext uri="{FF2B5EF4-FFF2-40B4-BE49-F238E27FC236}">
                <a16:creationId xmlns:a16="http://schemas.microsoft.com/office/drawing/2014/main" id="{D526D84F-2FCE-FE4C-63E6-69996B6B2814}"/>
              </a:ext>
            </a:extLst>
          </p:cNvPr>
          <p:cNvSpPr>
            <a:spLocks noGrp="1"/>
          </p:cNvSpPr>
          <p:nvPr/>
        </p:nvSpPr>
        <p:spPr>
          <a:xfrm>
            <a:off x="6599274" y="2124075"/>
            <a:ext cx="4983126" cy="1047750"/>
          </a:xfrm>
          <a:prstGeom prst="rect">
            <a:avLst/>
          </a:prstGeom>
          <a:solidFill>
            <a:srgbClr val="F1F5F7"/>
          </a:solidFill>
          <a:ln w="0">
            <a:noFill/>
            <a:prstDash val="solid"/>
          </a:ln>
        </p:spPr>
        <p:txBody>
          <a:bodyPr wrap="none" lIns="152400" tIns="152400" rIns="152400" bIns="152400" anchor="t">
            <a:noAutofit/>
          </a:bodyPr>
          <a:lstStyle>
            <a:defPPr>
              <a:defRPr sz="2100" b="0">
                <a:solidFill>
                  <a:srgbClr val="283C4F"/>
                </a:solidFill>
                <a:latin typeface="DejaVu Sans Mono"/>
                <a:ea typeface="DejaVu Sans Mono"/>
                <a:cs typeface="DejaVu Sans Mono"/>
              </a:defRPr>
            </a:defPPr>
            <a:lvl1pPr>
              <a:buNone/>
              <a:defRPr sz="2100" b="0">
                <a:solidFill>
                  <a:srgbClr val="283C4F"/>
                </a:solidFill>
                <a:latin typeface="DejaVu Sans Mono"/>
                <a:ea typeface="DejaVu Sans Mono"/>
                <a:cs typeface="DejaVu Sans Mono"/>
              </a:defRPr>
            </a:lvl1pPr>
            <a:lvl2pPr>
              <a:buNone/>
              <a:defRPr sz="2100" b="0">
                <a:solidFill>
                  <a:srgbClr val="283C4F"/>
                </a:solidFill>
                <a:latin typeface="DejaVu Sans Mono"/>
                <a:ea typeface="DejaVu Sans Mono"/>
                <a:cs typeface="DejaVu Sans Mono"/>
              </a:defRPr>
            </a:lvl2pPr>
            <a:lvl3pPr>
              <a:buNone/>
              <a:defRPr sz="2100" b="0">
                <a:solidFill>
                  <a:srgbClr val="283C4F"/>
                </a:solidFill>
                <a:latin typeface="DejaVu Sans Mono"/>
                <a:ea typeface="DejaVu Sans Mono"/>
                <a:cs typeface="DejaVu Sans Mono"/>
              </a:defRPr>
            </a:lvl3pPr>
            <a:lvl4pPr>
              <a:buNone/>
              <a:defRPr sz="2100" b="0">
                <a:solidFill>
                  <a:srgbClr val="283C4F"/>
                </a:solidFill>
                <a:latin typeface="DejaVu Sans Mono"/>
                <a:ea typeface="DejaVu Sans Mono"/>
                <a:cs typeface="DejaVu Sans Mono"/>
              </a:defRPr>
            </a:lvl4pPr>
            <a:lvl5pPr>
              <a:buNone/>
              <a:defRPr sz="2100" b="0">
                <a:solidFill>
                  <a:srgbClr val="283C4F"/>
                </a:solidFill>
                <a:latin typeface="DejaVu Sans Mono"/>
                <a:ea typeface="DejaVu Sans Mono"/>
                <a:cs typeface="DejaVu Sans Mono"/>
              </a:defRPr>
            </a:lvl5pPr>
            <a:lvl6pPr>
              <a:buNone/>
              <a:defRPr sz="2100" b="0">
                <a:solidFill>
                  <a:srgbClr val="283C4F"/>
                </a:solidFill>
                <a:latin typeface="DejaVu Sans Mono"/>
                <a:ea typeface="DejaVu Sans Mono"/>
                <a:cs typeface="DejaVu Sans Mono"/>
              </a:defRPr>
            </a:lvl6pPr>
            <a:lvl7pPr>
              <a:buNone/>
              <a:defRPr sz="2100" b="0">
                <a:solidFill>
                  <a:srgbClr val="283C4F"/>
                </a:solidFill>
                <a:latin typeface="DejaVu Sans Mono"/>
                <a:ea typeface="DejaVu Sans Mono"/>
                <a:cs typeface="DejaVu Sans Mono"/>
              </a:defRPr>
            </a:lvl7pPr>
            <a:lvl8pPr>
              <a:buNone/>
              <a:defRPr sz="2100" b="0">
                <a:solidFill>
                  <a:srgbClr val="283C4F"/>
                </a:solidFill>
                <a:latin typeface="DejaVu Sans Mono"/>
                <a:ea typeface="DejaVu Sans Mono"/>
                <a:cs typeface="DejaVu Sans Mono"/>
              </a:defRPr>
            </a:lvl8pPr>
            <a:lvl9pPr>
              <a:buNone/>
              <a:defRPr sz="2100" b="0">
                <a:solidFill>
                  <a:srgbClr val="283C4F"/>
                </a:solidFill>
                <a:latin typeface="DejaVu Sans Mono"/>
                <a:ea typeface="DejaVu Sans Mono"/>
                <a:cs typeface="DejaVu Sans Mono"/>
              </a:defRPr>
            </a:lvl9pPr>
          </a:lstStyle>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a = { 4, -3, 8, -3, 0, 5 };</a:t>
            </a:r>
          </a:p>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key = -3;</a:t>
            </a:r>
          </a:p>
        </p:txBody>
      </p:sp>
    </p:spTree>
    <p:extLst>
      <p:ext uri="{BB962C8B-B14F-4D97-AF65-F5344CB8AC3E}">
        <p14:creationId xmlns:p14="http://schemas.microsoft.com/office/powerpoint/2010/main" val="2095419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1708818-5E4C-4E98-B449-B34B80F0E171}"/>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Комплексный пример: поиск и результат</a:t>
            </a:r>
          </a:p>
        </p:txBody>
      </p:sp>
      <p:sp>
        <p:nvSpPr>
          <p:cNvPr id="2" name="section">
            <a:extLst>
              <a:ext uri="{FF2B5EF4-FFF2-40B4-BE49-F238E27FC236}">
                <a16:creationId xmlns:a16="http://schemas.microsoft.com/office/drawing/2014/main" id="{C985C420-1D33-426C-9376-8FEB53BAE6F6}"/>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Комплексный пример</a:t>
            </a:r>
          </a:p>
        </p:txBody>
      </p:sp>
      <p:sp>
        <p:nvSpPr>
          <p:cNvPr id="3" name="number">
            <a:extLst>
              <a:ext uri="{FF2B5EF4-FFF2-40B4-BE49-F238E27FC236}">
                <a16:creationId xmlns:a16="http://schemas.microsoft.com/office/drawing/2014/main" id="{9A8BDFF6-94D8-4FC6-9E10-FF3B366C0702}"/>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33</a:t>
            </a:r>
          </a:p>
        </p:txBody>
      </p:sp>
      <p:sp>
        <p:nvSpPr>
          <p:cNvPr id="4" name="intro">
            <a:extLst>
              <a:ext uri="{FF2B5EF4-FFF2-40B4-BE49-F238E27FC236}">
                <a16:creationId xmlns:a16="http://schemas.microsoft.com/office/drawing/2014/main" id="{504891C9-9B13-4255-8AE9-A4C3B8FED3ED}"/>
              </a:ext>
            </a:extLst>
          </p:cNvPr>
          <p:cNvSpPr>
            <a:spLocks noGrp="1"/>
          </p:cNvSpPr>
          <p:nvPr/>
        </p:nvSpPr>
        <p:spPr>
          <a:xfrm>
            <a:off x="609600" y="1400175"/>
            <a:ext cx="10858500" cy="619125"/>
          </a:xfrm>
          <a:prstGeom prst="rect">
            <a:avLst/>
          </a:prstGeom>
          <a:noFill/>
          <a:ln w="0">
            <a:noFill/>
            <a:prstDash val="solid"/>
          </a:ln>
        </p:spPr>
        <p:txBody>
          <a:bodyPr wrap="square" lIns="0" tIns="0" rIns="0" bIns="0" anchor="t">
            <a:noAutofit/>
          </a:bodyPr>
          <a:lstStyle>
            <a:defPPr>
              <a:defRPr sz="1875" b="0">
                <a:solidFill>
                  <a:srgbClr val="283C4F"/>
                </a:solidFill>
                <a:latin typeface="DejaVu Sans"/>
                <a:ea typeface="DejaVu Sans"/>
                <a:cs typeface="DejaVu Sans"/>
              </a:defRPr>
            </a:defPPr>
            <a:lvl1pPr>
              <a:buNone/>
              <a:defRPr sz="1875" b="0">
                <a:solidFill>
                  <a:srgbClr val="283C4F"/>
                </a:solidFill>
                <a:latin typeface="DejaVu Sans"/>
                <a:ea typeface="DejaVu Sans"/>
                <a:cs typeface="DejaVu Sans"/>
              </a:defRPr>
            </a:lvl1pPr>
            <a:lvl2pPr>
              <a:buNone/>
              <a:defRPr sz="1875" b="0">
                <a:solidFill>
                  <a:srgbClr val="283C4F"/>
                </a:solidFill>
                <a:latin typeface="DejaVu Sans"/>
                <a:ea typeface="DejaVu Sans"/>
                <a:cs typeface="DejaVu Sans"/>
              </a:defRPr>
            </a:lvl2pPr>
            <a:lvl3pPr>
              <a:buNone/>
              <a:defRPr sz="1875" b="0">
                <a:solidFill>
                  <a:srgbClr val="283C4F"/>
                </a:solidFill>
                <a:latin typeface="DejaVu Sans"/>
                <a:ea typeface="DejaVu Sans"/>
                <a:cs typeface="DejaVu Sans"/>
              </a:defRPr>
            </a:lvl3pPr>
            <a:lvl4pPr>
              <a:buNone/>
              <a:defRPr sz="1875" b="0">
                <a:solidFill>
                  <a:srgbClr val="283C4F"/>
                </a:solidFill>
                <a:latin typeface="DejaVu Sans"/>
                <a:ea typeface="DejaVu Sans"/>
                <a:cs typeface="DejaVu Sans"/>
              </a:defRPr>
            </a:lvl4pPr>
            <a:lvl5pPr>
              <a:buNone/>
              <a:defRPr sz="1875" b="0">
                <a:solidFill>
                  <a:srgbClr val="283C4F"/>
                </a:solidFill>
                <a:latin typeface="DejaVu Sans"/>
                <a:ea typeface="DejaVu Sans"/>
                <a:cs typeface="DejaVu Sans"/>
              </a:defRPr>
            </a:lvl5pPr>
            <a:lvl6pPr>
              <a:buNone/>
              <a:defRPr sz="1875" b="0">
                <a:solidFill>
                  <a:srgbClr val="283C4F"/>
                </a:solidFill>
                <a:latin typeface="DejaVu Sans"/>
                <a:ea typeface="DejaVu Sans"/>
                <a:cs typeface="DejaVu Sans"/>
              </a:defRPr>
            </a:lvl6pPr>
            <a:lvl7pPr>
              <a:buNone/>
              <a:defRPr sz="1875" b="0">
                <a:solidFill>
                  <a:srgbClr val="283C4F"/>
                </a:solidFill>
                <a:latin typeface="DejaVu Sans"/>
                <a:ea typeface="DejaVu Sans"/>
                <a:cs typeface="DejaVu Sans"/>
              </a:defRPr>
            </a:lvl7pPr>
            <a:lvl8pPr>
              <a:buNone/>
              <a:defRPr sz="1875" b="0">
                <a:solidFill>
                  <a:srgbClr val="283C4F"/>
                </a:solidFill>
                <a:latin typeface="DejaVu Sans"/>
                <a:ea typeface="DejaVu Sans"/>
                <a:cs typeface="DejaVu Sans"/>
              </a:defRPr>
            </a:lvl8pPr>
            <a:lvl9pPr>
              <a:buNone/>
              <a:defRPr sz="1875" b="0">
                <a:solidFill>
                  <a:srgbClr val="283C4F"/>
                </a:solidFill>
                <a:latin typeface="DejaVu Sans"/>
                <a:ea typeface="DejaVu Sans"/>
                <a:cs typeface="DejaVu Sans"/>
              </a:defRPr>
            </a:lvl9pPr>
          </a:lstStyle>
          <a:p>
            <a:pPr>
              <a:buNone/>
              <a:defRPr sz="1875" b="0">
                <a:solidFill>
                  <a:srgbClr val="283C4F"/>
                </a:solidFill>
                <a:latin typeface="DejaVu Sans"/>
                <a:ea typeface="DejaVu Sans"/>
                <a:cs typeface="DejaVu Sans"/>
              </a:defRPr>
            </a:pPr>
            <a:r>
              <a:rPr sz="1875" b="0">
                <a:solidFill>
                  <a:srgbClr val="283C4F"/>
                </a:solidFill>
                <a:latin typeface="DejaVu Sans"/>
                <a:ea typeface="DejaVu Sans"/>
                <a:cs typeface="DejaVu Sans"/>
              </a:rPr>
              <a:t>После полного анализа выполняем поиск первого вхождения key.</a:t>
            </a:r>
          </a:p>
        </p:txBody>
      </p:sp>
      <p:sp>
        <p:nvSpPr>
          <p:cNvPr id="5" name="code">
            <a:extLst>
              <a:ext uri="{FF2B5EF4-FFF2-40B4-BE49-F238E27FC236}">
                <a16:creationId xmlns:a16="http://schemas.microsoft.com/office/drawing/2014/main" id="{945DC6AB-5604-4F17-A373-920BBDE0A382}"/>
              </a:ext>
            </a:extLst>
          </p:cNvPr>
          <p:cNvSpPr>
            <a:spLocks noGrp="1"/>
          </p:cNvSpPr>
          <p:nvPr/>
        </p:nvSpPr>
        <p:spPr>
          <a:xfrm>
            <a:off x="609600" y="2124075"/>
            <a:ext cx="10972800" cy="347662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index = -1;</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 key) { index = i; break;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if (index == -1) Console.WriteLine("Не найден");</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else Console.WriteLine($"Первый индекс: {index}");</a:t>
            </a:r>
          </a:p>
        </p:txBody>
      </p:sp>
      <p:sp>
        <p:nvSpPr>
          <p:cNvPr id="6" name="result">
            <a:extLst>
              <a:ext uri="{FF2B5EF4-FFF2-40B4-BE49-F238E27FC236}">
                <a16:creationId xmlns:a16="http://schemas.microsoft.com/office/drawing/2014/main" id="{4EBBF6BB-0866-44D8-9EEC-EB9BD849A901}"/>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count = 3, sum = 17, min = −3 (индекс 1), max = 8 (индекс 2), index = 1.</a:t>
            </a:r>
          </a:p>
        </p:txBody>
      </p:sp>
      <p:sp>
        <p:nvSpPr>
          <p:cNvPr id="8" name="code">
            <a:extLst>
              <a:ext uri="{FF2B5EF4-FFF2-40B4-BE49-F238E27FC236}">
                <a16:creationId xmlns:a16="http://schemas.microsoft.com/office/drawing/2014/main" id="{19D6703C-9BF9-5058-00B6-9BD5971900C7}"/>
              </a:ext>
            </a:extLst>
          </p:cNvPr>
          <p:cNvSpPr>
            <a:spLocks noGrp="1"/>
          </p:cNvSpPr>
          <p:nvPr/>
        </p:nvSpPr>
        <p:spPr>
          <a:xfrm>
            <a:off x="6599274" y="2124075"/>
            <a:ext cx="4983126" cy="1047750"/>
          </a:xfrm>
          <a:prstGeom prst="rect">
            <a:avLst/>
          </a:prstGeom>
          <a:solidFill>
            <a:srgbClr val="F1F5F7"/>
          </a:solidFill>
          <a:ln w="0">
            <a:noFill/>
            <a:prstDash val="solid"/>
          </a:ln>
        </p:spPr>
        <p:txBody>
          <a:bodyPr wrap="none" lIns="152400" tIns="152400" rIns="152400" bIns="152400" anchor="t">
            <a:noAutofit/>
          </a:bodyPr>
          <a:lstStyle>
            <a:defPPr>
              <a:defRPr sz="2100" b="0">
                <a:solidFill>
                  <a:srgbClr val="283C4F"/>
                </a:solidFill>
                <a:latin typeface="DejaVu Sans Mono"/>
                <a:ea typeface="DejaVu Sans Mono"/>
                <a:cs typeface="DejaVu Sans Mono"/>
              </a:defRPr>
            </a:defPPr>
            <a:lvl1pPr>
              <a:buNone/>
              <a:defRPr sz="2100" b="0">
                <a:solidFill>
                  <a:srgbClr val="283C4F"/>
                </a:solidFill>
                <a:latin typeface="DejaVu Sans Mono"/>
                <a:ea typeface="DejaVu Sans Mono"/>
                <a:cs typeface="DejaVu Sans Mono"/>
              </a:defRPr>
            </a:lvl1pPr>
            <a:lvl2pPr>
              <a:buNone/>
              <a:defRPr sz="2100" b="0">
                <a:solidFill>
                  <a:srgbClr val="283C4F"/>
                </a:solidFill>
                <a:latin typeface="DejaVu Sans Mono"/>
                <a:ea typeface="DejaVu Sans Mono"/>
                <a:cs typeface="DejaVu Sans Mono"/>
              </a:defRPr>
            </a:lvl2pPr>
            <a:lvl3pPr>
              <a:buNone/>
              <a:defRPr sz="2100" b="0">
                <a:solidFill>
                  <a:srgbClr val="283C4F"/>
                </a:solidFill>
                <a:latin typeface="DejaVu Sans Mono"/>
                <a:ea typeface="DejaVu Sans Mono"/>
                <a:cs typeface="DejaVu Sans Mono"/>
              </a:defRPr>
            </a:lvl3pPr>
            <a:lvl4pPr>
              <a:buNone/>
              <a:defRPr sz="2100" b="0">
                <a:solidFill>
                  <a:srgbClr val="283C4F"/>
                </a:solidFill>
                <a:latin typeface="DejaVu Sans Mono"/>
                <a:ea typeface="DejaVu Sans Mono"/>
                <a:cs typeface="DejaVu Sans Mono"/>
              </a:defRPr>
            </a:lvl4pPr>
            <a:lvl5pPr>
              <a:buNone/>
              <a:defRPr sz="2100" b="0">
                <a:solidFill>
                  <a:srgbClr val="283C4F"/>
                </a:solidFill>
                <a:latin typeface="DejaVu Sans Mono"/>
                <a:ea typeface="DejaVu Sans Mono"/>
                <a:cs typeface="DejaVu Sans Mono"/>
              </a:defRPr>
            </a:lvl5pPr>
            <a:lvl6pPr>
              <a:buNone/>
              <a:defRPr sz="2100" b="0">
                <a:solidFill>
                  <a:srgbClr val="283C4F"/>
                </a:solidFill>
                <a:latin typeface="DejaVu Sans Mono"/>
                <a:ea typeface="DejaVu Sans Mono"/>
                <a:cs typeface="DejaVu Sans Mono"/>
              </a:defRPr>
            </a:lvl6pPr>
            <a:lvl7pPr>
              <a:buNone/>
              <a:defRPr sz="2100" b="0">
                <a:solidFill>
                  <a:srgbClr val="283C4F"/>
                </a:solidFill>
                <a:latin typeface="DejaVu Sans Mono"/>
                <a:ea typeface="DejaVu Sans Mono"/>
                <a:cs typeface="DejaVu Sans Mono"/>
              </a:defRPr>
            </a:lvl7pPr>
            <a:lvl8pPr>
              <a:buNone/>
              <a:defRPr sz="2100" b="0">
                <a:solidFill>
                  <a:srgbClr val="283C4F"/>
                </a:solidFill>
                <a:latin typeface="DejaVu Sans Mono"/>
                <a:ea typeface="DejaVu Sans Mono"/>
                <a:cs typeface="DejaVu Sans Mono"/>
              </a:defRPr>
            </a:lvl8pPr>
            <a:lvl9pPr>
              <a:buNone/>
              <a:defRPr sz="2100" b="0">
                <a:solidFill>
                  <a:srgbClr val="283C4F"/>
                </a:solidFill>
                <a:latin typeface="DejaVu Sans Mono"/>
                <a:ea typeface="DejaVu Sans Mono"/>
                <a:cs typeface="DejaVu Sans Mono"/>
              </a:defRPr>
            </a:lvl9pPr>
          </a:lstStyle>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a = { 4, -3, 8, -3, 0, 5 };</a:t>
            </a:r>
          </a:p>
          <a:p>
            <a:pPr>
              <a:buNone/>
              <a:defRPr sz="2100" b="0">
                <a:solidFill>
                  <a:srgbClr val="283C4F"/>
                </a:solidFill>
                <a:latin typeface="DejaVu Sans Mono"/>
                <a:ea typeface="DejaVu Sans Mono"/>
                <a:cs typeface="DejaVu Sans Mono"/>
              </a:defRPr>
            </a:pPr>
            <a:r>
              <a:rPr sz="2100" b="0" dirty="0">
                <a:solidFill>
                  <a:srgbClr val="283C4F"/>
                </a:solidFill>
                <a:latin typeface="DejaVu Sans Mono"/>
                <a:ea typeface="DejaVu Sans Mono"/>
                <a:cs typeface="DejaVu Sans Mono"/>
              </a:rPr>
              <a:t>int key = -3;</a:t>
            </a:r>
          </a:p>
        </p:txBody>
      </p:sp>
    </p:spTree>
    <p:extLst>
      <p:ext uri="{BB962C8B-B14F-4D97-AF65-F5344CB8AC3E}">
        <p14:creationId xmlns:p14="http://schemas.microsoft.com/office/powerpoint/2010/main" val="1195380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F21B9C2-56E7-452D-B072-2C8837C91D46}"/>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Сортировка одномерного массива</a:t>
            </a:r>
          </a:p>
        </p:txBody>
      </p:sp>
      <p:sp>
        <p:nvSpPr>
          <p:cNvPr id="2" name="section">
            <a:extLst>
              <a:ext uri="{FF2B5EF4-FFF2-40B4-BE49-F238E27FC236}">
                <a16:creationId xmlns:a16="http://schemas.microsoft.com/office/drawing/2014/main" id="{3AEE966D-2DAC-45F2-9635-50B8798CBFB6}"/>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a:t>
            </a:r>
          </a:p>
        </p:txBody>
      </p:sp>
      <p:sp>
        <p:nvSpPr>
          <p:cNvPr id="3" name="number">
            <a:extLst>
              <a:ext uri="{FF2B5EF4-FFF2-40B4-BE49-F238E27FC236}">
                <a16:creationId xmlns:a16="http://schemas.microsoft.com/office/drawing/2014/main" id="{1589CEF8-9651-416D-8C7B-621C72A4625D}"/>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34</a:t>
            </a:r>
          </a:p>
        </p:txBody>
      </p:sp>
      <p:sp>
        <p:nvSpPr>
          <p:cNvPr id="4" name="body-0">
            <a:extLst>
              <a:ext uri="{FF2B5EF4-FFF2-40B4-BE49-F238E27FC236}">
                <a16:creationId xmlns:a16="http://schemas.microsoft.com/office/drawing/2014/main" id="{B91F348B-6854-4B6C-882D-F0949F168F87}"/>
              </a:ext>
            </a:extLst>
          </p:cNvPr>
          <p:cNvSpPr>
            <a:spLocks noGrp="1"/>
          </p:cNvSpPr>
          <p:nvPr/>
        </p:nvSpPr>
        <p:spPr>
          <a:xfrm>
            <a:off x="609600" y="1457325"/>
            <a:ext cx="10858500" cy="90487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Сортировка изменяет порядок элементов по заданному правилу.</a:t>
            </a:r>
          </a:p>
        </p:txBody>
      </p:sp>
      <p:sp>
        <p:nvSpPr>
          <p:cNvPr id="5" name="body-1">
            <a:extLst>
              <a:ext uri="{FF2B5EF4-FFF2-40B4-BE49-F238E27FC236}">
                <a16:creationId xmlns:a16="http://schemas.microsoft.com/office/drawing/2014/main" id="{802D3D1C-F348-4140-B46E-EB2430FB0217}"/>
              </a:ext>
            </a:extLst>
          </p:cNvPr>
          <p:cNvSpPr>
            <a:spLocks noGrp="1"/>
          </p:cNvSpPr>
          <p:nvPr/>
        </p:nvSpPr>
        <p:spPr>
          <a:xfrm>
            <a:off x="609600" y="2457450"/>
            <a:ext cx="10858500" cy="90487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По возрастанию: каждый следующий элемент не меньше предыдущего. Равные значения допустимы.</a:t>
            </a:r>
          </a:p>
        </p:txBody>
      </p:sp>
      <p:sp>
        <p:nvSpPr>
          <p:cNvPr id="6" name="body-2">
            <a:extLst>
              <a:ext uri="{FF2B5EF4-FFF2-40B4-BE49-F238E27FC236}">
                <a16:creationId xmlns:a16="http://schemas.microsoft.com/office/drawing/2014/main" id="{B954644C-1602-4642-8248-8C69F1A7041D}"/>
              </a:ext>
            </a:extLst>
          </p:cNvPr>
          <p:cNvSpPr>
            <a:spLocks noGrp="1"/>
          </p:cNvSpPr>
          <p:nvPr/>
        </p:nvSpPr>
        <p:spPr>
          <a:xfrm>
            <a:off x="609600" y="3457575"/>
            <a:ext cx="10858500" cy="90487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По убыванию: каждый следующий элемент не больше предыдущего.</a:t>
            </a:r>
          </a:p>
        </p:txBody>
      </p:sp>
      <p:sp>
        <p:nvSpPr>
          <p:cNvPr id="7" name="body-3">
            <a:extLst>
              <a:ext uri="{FF2B5EF4-FFF2-40B4-BE49-F238E27FC236}">
                <a16:creationId xmlns:a16="http://schemas.microsoft.com/office/drawing/2014/main" id="{9811FD02-577D-40CB-B842-5D7BE7C675A3}"/>
              </a:ext>
            </a:extLst>
          </p:cNvPr>
          <p:cNvSpPr>
            <a:spLocks noGrp="1"/>
          </p:cNvSpPr>
          <p:nvPr/>
        </p:nvSpPr>
        <p:spPr>
          <a:xfrm>
            <a:off x="609600" y="4457700"/>
            <a:ext cx="10858500" cy="90487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Длина массива и набор значений сохраняются. Индексы конкретных элементов могут измениться.</a:t>
            </a:r>
          </a:p>
        </p:txBody>
      </p:sp>
      <p:sp>
        <p:nvSpPr>
          <p:cNvPr id="8" name="result">
            <a:extLst>
              <a:ext uri="{FF2B5EF4-FFF2-40B4-BE49-F238E27FC236}">
                <a16:creationId xmlns:a16="http://schemas.microsoft.com/office/drawing/2014/main" id="{E374A54C-7A89-4301-8977-8B8AC3A9E5F1}"/>
              </a:ext>
            </a:extLst>
          </p:cNvPr>
          <p:cNvSpPr>
            <a:spLocks noGrp="1"/>
          </p:cNvSpPr>
          <p:nvPr/>
        </p:nvSpPr>
        <p:spPr>
          <a:xfrm>
            <a:off x="609600" y="5819775"/>
            <a:ext cx="10953750" cy="419100"/>
          </a:xfrm>
          <a:prstGeom prst="rect">
            <a:avLst/>
          </a:prstGeom>
          <a:noFill/>
          <a:ln w="0">
            <a:noFill/>
            <a:prstDash val="solid"/>
          </a:ln>
        </p:spPr>
        <p:txBody>
          <a:bodyPr wrap="square" lIns="0" tIns="0" rIns="0" bIns="0" anchor="t">
            <a:noAutofit/>
          </a:bodyPr>
          <a:lstStyle>
            <a:defPPr>
              <a:defRPr sz="1875" b="1">
                <a:solidFill>
                  <a:srgbClr val="007F78"/>
                </a:solidFill>
                <a:latin typeface="DejaVu Sans"/>
                <a:ea typeface="DejaVu Sans"/>
                <a:cs typeface="DejaVu Sans"/>
              </a:defRPr>
            </a:defPPr>
            <a:lvl1pPr>
              <a:defRPr sz="1875" b="1">
                <a:solidFill>
                  <a:srgbClr val="007F78"/>
                </a:solidFill>
                <a:latin typeface="DejaVu Sans"/>
                <a:ea typeface="DejaVu Sans"/>
                <a:cs typeface="DejaVu Sans"/>
              </a:defRPr>
            </a:lvl1pPr>
            <a:lvl2pPr>
              <a:defRPr sz="1875" b="1">
                <a:solidFill>
                  <a:srgbClr val="007F78"/>
                </a:solidFill>
                <a:latin typeface="DejaVu Sans"/>
                <a:ea typeface="DejaVu Sans"/>
                <a:cs typeface="DejaVu Sans"/>
              </a:defRPr>
            </a:lvl2pPr>
            <a:lvl3pPr>
              <a:defRPr sz="1875" b="1">
                <a:solidFill>
                  <a:srgbClr val="007F78"/>
                </a:solidFill>
                <a:latin typeface="DejaVu Sans"/>
                <a:ea typeface="DejaVu Sans"/>
                <a:cs typeface="DejaVu Sans"/>
              </a:defRPr>
            </a:lvl3pPr>
            <a:lvl4pPr>
              <a:defRPr sz="1875" b="1">
                <a:solidFill>
                  <a:srgbClr val="007F78"/>
                </a:solidFill>
                <a:latin typeface="DejaVu Sans"/>
                <a:ea typeface="DejaVu Sans"/>
                <a:cs typeface="DejaVu Sans"/>
              </a:defRPr>
            </a:lvl4pPr>
            <a:lvl5pPr>
              <a:defRPr sz="1875" b="1">
                <a:solidFill>
                  <a:srgbClr val="007F78"/>
                </a:solidFill>
                <a:latin typeface="DejaVu Sans"/>
                <a:ea typeface="DejaVu Sans"/>
                <a:cs typeface="DejaVu Sans"/>
              </a:defRPr>
            </a:lvl5pPr>
            <a:lvl6pPr>
              <a:defRPr sz="1875" b="1">
                <a:solidFill>
                  <a:srgbClr val="007F78"/>
                </a:solidFill>
                <a:latin typeface="DejaVu Sans"/>
                <a:ea typeface="DejaVu Sans"/>
                <a:cs typeface="DejaVu Sans"/>
              </a:defRPr>
            </a:lvl6pPr>
            <a:lvl7pPr>
              <a:defRPr sz="1875" b="1">
                <a:solidFill>
                  <a:srgbClr val="007F78"/>
                </a:solidFill>
                <a:latin typeface="DejaVu Sans"/>
                <a:ea typeface="DejaVu Sans"/>
                <a:cs typeface="DejaVu Sans"/>
              </a:defRPr>
            </a:lvl7pPr>
            <a:lvl8pPr>
              <a:defRPr sz="1875" b="1">
                <a:solidFill>
                  <a:srgbClr val="007F78"/>
                </a:solidFill>
                <a:latin typeface="DejaVu Sans"/>
                <a:ea typeface="DejaVu Sans"/>
                <a:cs typeface="DejaVu Sans"/>
              </a:defRPr>
            </a:lvl8pPr>
            <a:lvl9pPr>
              <a:defRPr sz="1875" b="1">
                <a:solidFill>
                  <a:srgbClr val="007F78"/>
                </a:solidFill>
                <a:latin typeface="DejaVu Sans"/>
                <a:ea typeface="DejaVu Sans"/>
                <a:cs typeface="DejaVu Sans"/>
              </a:defRPr>
            </a:lvl9pPr>
          </a:lstStyle>
          <a:p>
            <a:pPr>
              <a:defRPr sz="1875" b="1">
                <a:solidFill>
                  <a:srgbClr val="007F78"/>
                </a:solidFill>
                <a:latin typeface="DejaVu Sans"/>
                <a:ea typeface="DejaVu Sans"/>
                <a:cs typeface="DejaVu Sans"/>
              </a:defRPr>
            </a:pPr>
            <a:r>
              <a:rPr sz="1875" b="1">
                <a:solidFill>
                  <a:srgbClr val="007F78"/>
                </a:solidFill>
                <a:latin typeface="DejaVu Sans"/>
                <a:ea typeface="DejaVu Sans"/>
                <a:cs typeface="DejaVu Sans"/>
              </a:rPr>
              <a:t>Пример: 5 1 4 2 3 после сортировки по возрастанию: 1 2 3 4 5.</a:t>
            </a:r>
          </a:p>
        </p:txBody>
      </p:sp>
    </p:spTree>
    <p:extLst>
      <p:ext uri="{BB962C8B-B14F-4D97-AF65-F5344CB8AC3E}">
        <p14:creationId xmlns:p14="http://schemas.microsoft.com/office/powerpoint/2010/main" val="448977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F3440E64-6A03-4739-8516-68C8CEEAD2D5}"/>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Сортировка пузырьком: принцип</a:t>
            </a:r>
          </a:p>
        </p:txBody>
      </p:sp>
      <p:sp>
        <p:nvSpPr>
          <p:cNvPr id="2" name="section">
            <a:extLst>
              <a:ext uri="{FF2B5EF4-FFF2-40B4-BE49-F238E27FC236}">
                <a16:creationId xmlns:a16="http://schemas.microsoft.com/office/drawing/2014/main" id="{FA87CB45-E5AC-4200-AD2F-7208C81EC008}"/>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пузырьком</a:t>
            </a:r>
          </a:p>
        </p:txBody>
      </p:sp>
      <p:sp>
        <p:nvSpPr>
          <p:cNvPr id="3" name="number">
            <a:extLst>
              <a:ext uri="{FF2B5EF4-FFF2-40B4-BE49-F238E27FC236}">
                <a16:creationId xmlns:a16="http://schemas.microsoft.com/office/drawing/2014/main" id="{21F5FE17-B42D-4170-ACCC-C33314DD5B0B}"/>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35</a:t>
            </a:r>
          </a:p>
        </p:txBody>
      </p:sp>
      <p:sp>
        <p:nvSpPr>
          <p:cNvPr id="4" name="body-0">
            <a:extLst>
              <a:ext uri="{FF2B5EF4-FFF2-40B4-BE49-F238E27FC236}">
                <a16:creationId xmlns:a16="http://schemas.microsoft.com/office/drawing/2014/main" id="{1631794D-36A7-4A75-B9DA-E349F7598594}"/>
              </a:ext>
            </a:extLst>
          </p:cNvPr>
          <p:cNvSpPr>
            <a:spLocks noGrp="1"/>
          </p:cNvSpPr>
          <p:nvPr/>
        </p:nvSpPr>
        <p:spPr>
          <a:xfrm>
            <a:off x="609600" y="1438275"/>
            <a:ext cx="10858500" cy="80962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Сравниваем соседние элементы a[j] и a[j + 1] слева направо.</a:t>
            </a:r>
          </a:p>
        </p:txBody>
      </p:sp>
      <p:sp>
        <p:nvSpPr>
          <p:cNvPr id="5" name="body-1">
            <a:extLst>
              <a:ext uri="{FF2B5EF4-FFF2-40B4-BE49-F238E27FC236}">
                <a16:creationId xmlns:a16="http://schemas.microsoft.com/office/drawing/2014/main" id="{A77784DD-1C70-45BA-8F1C-7D0832A8144A}"/>
              </a:ext>
            </a:extLst>
          </p:cNvPr>
          <p:cNvSpPr>
            <a:spLocks noGrp="1"/>
          </p:cNvSpPr>
          <p:nvPr/>
        </p:nvSpPr>
        <p:spPr>
          <a:xfrm>
            <a:off x="609600" y="2343150"/>
            <a:ext cx="10858500" cy="80962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Если левый элемент больше правого, меняем их местами.</a:t>
            </a:r>
          </a:p>
        </p:txBody>
      </p:sp>
      <p:sp>
        <p:nvSpPr>
          <p:cNvPr id="6" name="body-2">
            <a:extLst>
              <a:ext uri="{FF2B5EF4-FFF2-40B4-BE49-F238E27FC236}">
                <a16:creationId xmlns:a16="http://schemas.microsoft.com/office/drawing/2014/main" id="{AA8200B9-406F-41B3-BBFE-B517C7A806DB}"/>
              </a:ext>
            </a:extLst>
          </p:cNvPr>
          <p:cNvSpPr>
            <a:spLocks noGrp="1"/>
          </p:cNvSpPr>
          <p:nvPr/>
        </p:nvSpPr>
        <p:spPr>
          <a:xfrm>
            <a:off x="609600" y="3248025"/>
            <a:ext cx="10858500" cy="80962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После полного прохода максимум рассматриваемой части оказывается на её правой границе.</a:t>
            </a:r>
          </a:p>
        </p:txBody>
      </p:sp>
      <p:sp>
        <p:nvSpPr>
          <p:cNvPr id="7" name="body-3">
            <a:extLst>
              <a:ext uri="{FF2B5EF4-FFF2-40B4-BE49-F238E27FC236}">
                <a16:creationId xmlns:a16="http://schemas.microsoft.com/office/drawing/2014/main" id="{A107BC23-5F53-4C09-8005-F84A9C15D9B7}"/>
              </a:ext>
            </a:extLst>
          </p:cNvPr>
          <p:cNvSpPr>
            <a:spLocks noGrp="1"/>
          </p:cNvSpPr>
          <p:nvPr/>
        </p:nvSpPr>
        <p:spPr>
          <a:xfrm>
            <a:off x="609600" y="4152900"/>
            <a:ext cx="10858500" cy="809625"/>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На следующем проходе правую границу уменьшаем на один элемент.</a:t>
            </a:r>
          </a:p>
        </p:txBody>
      </p:sp>
      <p:sp>
        <p:nvSpPr>
          <p:cNvPr id="8" name="code">
            <a:extLst>
              <a:ext uri="{FF2B5EF4-FFF2-40B4-BE49-F238E27FC236}">
                <a16:creationId xmlns:a16="http://schemas.microsoft.com/office/drawing/2014/main" id="{DBEDD033-2EA8-4BE4-84C7-D83853E098ED}"/>
              </a:ext>
            </a:extLst>
          </p:cNvPr>
          <p:cNvSpPr>
            <a:spLocks noGrp="1"/>
          </p:cNvSpPr>
          <p:nvPr/>
        </p:nvSpPr>
        <p:spPr>
          <a:xfrm>
            <a:off x="609600" y="5210175"/>
            <a:ext cx="10972800" cy="971550"/>
          </a:xfrm>
          <a:prstGeom prst="rect">
            <a:avLst/>
          </a:prstGeom>
          <a:solidFill>
            <a:srgbClr val="F1F5F7"/>
          </a:solidFill>
          <a:ln w="0">
            <a:noFill/>
            <a:prstDash val="solid"/>
          </a:ln>
        </p:spPr>
        <p:txBody>
          <a:bodyPr wrap="none" lIns="152400" tIns="152400" rIns="152400" bIns="152400" anchor="t">
            <a:noAutofit/>
          </a:bodyPr>
          <a:lstStyle>
            <a:defPPr>
              <a:defRPr sz="1800" b="0">
                <a:solidFill>
                  <a:srgbClr val="283C4F"/>
                </a:solidFill>
                <a:latin typeface="DejaVu Sans Mono"/>
                <a:ea typeface="DejaVu Sans Mono"/>
                <a:cs typeface="DejaVu Sans Mono"/>
              </a:defRPr>
            </a:defPPr>
            <a:lvl1pPr>
              <a:defRPr sz="1800" b="0">
                <a:solidFill>
                  <a:srgbClr val="283C4F"/>
                </a:solidFill>
                <a:latin typeface="DejaVu Sans Mono"/>
                <a:ea typeface="DejaVu Sans Mono"/>
                <a:cs typeface="DejaVu Sans Mono"/>
              </a:defRPr>
            </a:lvl1pPr>
            <a:lvl2pPr>
              <a:defRPr sz="1800" b="0">
                <a:solidFill>
                  <a:srgbClr val="283C4F"/>
                </a:solidFill>
                <a:latin typeface="DejaVu Sans Mono"/>
                <a:ea typeface="DejaVu Sans Mono"/>
                <a:cs typeface="DejaVu Sans Mono"/>
              </a:defRPr>
            </a:lvl2pPr>
            <a:lvl3pPr>
              <a:defRPr sz="1800" b="0">
                <a:solidFill>
                  <a:srgbClr val="283C4F"/>
                </a:solidFill>
                <a:latin typeface="DejaVu Sans Mono"/>
                <a:ea typeface="DejaVu Sans Mono"/>
                <a:cs typeface="DejaVu Sans Mono"/>
              </a:defRPr>
            </a:lvl3pPr>
            <a:lvl4pPr>
              <a:defRPr sz="1800" b="0">
                <a:solidFill>
                  <a:srgbClr val="283C4F"/>
                </a:solidFill>
                <a:latin typeface="DejaVu Sans Mono"/>
                <a:ea typeface="DejaVu Sans Mono"/>
                <a:cs typeface="DejaVu Sans Mono"/>
              </a:defRPr>
            </a:lvl4pPr>
            <a:lvl5pPr>
              <a:defRPr sz="1800" b="0">
                <a:solidFill>
                  <a:srgbClr val="283C4F"/>
                </a:solidFill>
                <a:latin typeface="DejaVu Sans Mono"/>
                <a:ea typeface="DejaVu Sans Mono"/>
                <a:cs typeface="DejaVu Sans Mono"/>
              </a:defRPr>
            </a:lvl5pPr>
            <a:lvl6pPr>
              <a:defRPr sz="1800" b="0">
                <a:solidFill>
                  <a:srgbClr val="283C4F"/>
                </a:solidFill>
                <a:latin typeface="DejaVu Sans Mono"/>
                <a:ea typeface="DejaVu Sans Mono"/>
                <a:cs typeface="DejaVu Sans Mono"/>
              </a:defRPr>
            </a:lvl6pPr>
            <a:lvl7pPr>
              <a:defRPr sz="1800" b="0">
                <a:solidFill>
                  <a:srgbClr val="283C4F"/>
                </a:solidFill>
                <a:latin typeface="DejaVu Sans Mono"/>
                <a:ea typeface="DejaVu Sans Mono"/>
                <a:cs typeface="DejaVu Sans Mono"/>
              </a:defRPr>
            </a:lvl7pPr>
            <a:lvl8pPr>
              <a:defRPr sz="1800" b="0">
                <a:solidFill>
                  <a:srgbClr val="283C4F"/>
                </a:solidFill>
                <a:latin typeface="DejaVu Sans Mono"/>
                <a:ea typeface="DejaVu Sans Mono"/>
                <a:cs typeface="DejaVu Sans Mono"/>
              </a:defRPr>
            </a:lvl8pPr>
            <a:lvl9pPr>
              <a:defRPr sz="1800" b="0">
                <a:solidFill>
                  <a:srgbClr val="283C4F"/>
                </a:solidFill>
                <a:latin typeface="DejaVu Sans Mono"/>
                <a:ea typeface="DejaVu Sans Mono"/>
                <a:cs typeface="DejaVu Sans Mono"/>
              </a:defRPr>
            </a:lvl9pPr>
          </a:lstStyle>
          <a:p>
            <a:pPr>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int temp = a[j];</a:t>
            </a:r>
          </a:p>
          <a:p>
            <a:pPr>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a[j] = a[j + 1];</a:t>
            </a:r>
          </a:p>
          <a:p>
            <a:pPr>
              <a:defRPr sz="1800" b="0">
                <a:solidFill>
                  <a:srgbClr val="283C4F"/>
                </a:solidFill>
                <a:latin typeface="DejaVu Sans Mono"/>
                <a:ea typeface="DejaVu Sans Mono"/>
                <a:cs typeface="DejaVu Sans Mono"/>
              </a:defRPr>
            </a:pPr>
            <a:r>
              <a:rPr sz="1800" b="0">
                <a:solidFill>
                  <a:srgbClr val="283C4F"/>
                </a:solidFill>
                <a:latin typeface="DejaVu Sans Mono"/>
                <a:ea typeface="DejaVu Sans Mono"/>
                <a:cs typeface="DejaVu Sans Mono"/>
              </a:rPr>
              <a:t>a[j + 1] = temp;</a:t>
            </a:r>
          </a:p>
        </p:txBody>
      </p:sp>
    </p:spTree>
    <p:extLst>
      <p:ext uri="{BB962C8B-B14F-4D97-AF65-F5344CB8AC3E}">
        <p14:creationId xmlns:p14="http://schemas.microsoft.com/office/powerpoint/2010/main" val="1218849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FD10C0-FC76-4E90-A2C1-860BA89494D0}"/>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Пузырёк: первый проход по шагам</a:t>
            </a:r>
          </a:p>
        </p:txBody>
      </p:sp>
      <p:sp>
        <p:nvSpPr>
          <p:cNvPr id="2" name="section">
            <a:extLst>
              <a:ext uri="{FF2B5EF4-FFF2-40B4-BE49-F238E27FC236}">
                <a16:creationId xmlns:a16="http://schemas.microsoft.com/office/drawing/2014/main" id="{36D7D27F-8280-4CCE-9ED5-DE4CB371511E}"/>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пузырьком</a:t>
            </a:r>
          </a:p>
        </p:txBody>
      </p:sp>
      <p:sp>
        <p:nvSpPr>
          <p:cNvPr id="3" name="number">
            <a:extLst>
              <a:ext uri="{FF2B5EF4-FFF2-40B4-BE49-F238E27FC236}">
                <a16:creationId xmlns:a16="http://schemas.microsoft.com/office/drawing/2014/main" id="{F07111E2-EE80-4BAA-9BE9-D4ABCE044DFF}"/>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36</a:t>
            </a:r>
          </a:p>
        </p:txBody>
      </p:sp>
      <p:sp>
        <p:nvSpPr>
          <p:cNvPr id="4" name="intro">
            <a:extLst>
              <a:ext uri="{FF2B5EF4-FFF2-40B4-BE49-F238E27FC236}">
                <a16:creationId xmlns:a16="http://schemas.microsoft.com/office/drawing/2014/main" id="{399A21ED-D363-42F1-B537-854CE25087F1}"/>
              </a:ext>
            </a:extLst>
          </p:cNvPr>
          <p:cNvSpPr>
            <a:spLocks noGrp="1"/>
          </p:cNvSpPr>
          <p:nvPr/>
        </p:nvSpPr>
        <p:spPr>
          <a:xfrm>
            <a:off x="609600" y="1438275"/>
            <a:ext cx="10953750" cy="5524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Исходный массив: { 5, 1, 4, 2, 3 }. Сравнение a[j] &gt; a[j + 1].</a:t>
            </a:r>
          </a:p>
        </p:txBody>
      </p:sp>
      <p:graphicFrame>
        <p:nvGraphicFramePr>
          <p:cNvPr id="5" name="Таблица 4">
            <a:extLst>
              <a:ext uri="{FF2B5EF4-FFF2-40B4-BE49-F238E27FC236}">
                <a16:creationId xmlns:a16="http://schemas.microsoft.com/office/drawing/2014/main" id="{C414BCD9-74C2-4401-9C10-CEFE83FEB6BF}"/>
              </a:ext>
            </a:extLst>
          </p:cNvPr>
          <p:cNvGraphicFramePr/>
          <p:nvPr/>
        </p:nvGraphicFramePr>
        <p:xfrm>
          <a:off x="609600" y="2190750"/>
          <a:ext cx="10972800" cy="2952750"/>
        </p:xfrm>
        <a:graphic>
          <a:graphicData uri="http://schemas.openxmlformats.org/drawingml/2006/table">
            <a:tbl>
              <a:tblPr/>
              <a:tblGrid>
                <a:gridCol w="1047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4876800">
                  <a:extLst>
                    <a:ext uri="{9D8B030D-6E8A-4147-A177-3AD203B41FA5}">
                      <a16:colId xmlns:a16="http://schemas.microsoft.com/office/drawing/2014/main" val="20003"/>
                    </a:ext>
                  </a:extLst>
                </a:gridCol>
              </a:tblGrid>
              <a:tr h="590550">
                <a:tc>
                  <a:txBody>
                    <a:bodyPr/>
                    <a:lstStyle/>
                    <a:p>
                      <a:r>
                        <a:rPr sz="2025" b="1">
                          <a:solidFill>
                            <a:srgbClr val="FFFFFF"/>
                          </a:solidFill>
                          <a:latin typeface="DejaVu Sans"/>
                          <a:ea typeface="DejaVu Sans"/>
                          <a:cs typeface="DejaVu Sans"/>
                        </a:rPr>
                        <a:t>j</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025" b="1">
                          <a:solidFill>
                            <a:srgbClr val="FFFFFF"/>
                          </a:solidFill>
                          <a:latin typeface="DejaVu Sans"/>
                          <a:ea typeface="DejaVu Sans"/>
                          <a:cs typeface="DejaVu Sans"/>
                        </a:rPr>
                        <a:t>Сравниваем</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025" b="1">
                          <a:solidFill>
                            <a:srgbClr val="FFFFFF"/>
                          </a:solidFill>
                          <a:latin typeface="DejaVu Sans"/>
                          <a:ea typeface="DejaVu Sans"/>
                          <a:cs typeface="DejaVu Sans"/>
                        </a:rPr>
                        <a:t>Действие</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025" b="1">
                          <a:solidFill>
                            <a:srgbClr val="FFFFFF"/>
                          </a:solidFill>
                          <a:latin typeface="DejaVu Sans"/>
                          <a:ea typeface="DejaVu Sans"/>
                          <a:cs typeface="DejaVu Sans"/>
                        </a:rPr>
                        <a:t>Массив после шага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90550">
                <a:tc>
                  <a:txBody>
                    <a:bodyPr/>
                    <a:lstStyle/>
                    <a:p>
                      <a:r>
                        <a:rPr sz="2025" b="0">
                          <a:solidFill>
                            <a:srgbClr val="283C4F"/>
                          </a:solidFill>
                          <a:latin typeface="DejaVu Sans"/>
                          <a:ea typeface="DejaVu Sans"/>
                          <a:cs typeface="DejaVu Sans"/>
                        </a:rPr>
                        <a:t>0</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5 и 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Обмен</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1 5 4 2 3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90550">
                <a:tc>
                  <a:txBody>
                    <a:bodyPr/>
                    <a:lstStyle/>
                    <a:p>
                      <a:r>
                        <a:rPr sz="2025" b="0">
                          <a:solidFill>
                            <a:srgbClr val="283C4F"/>
                          </a:solidFill>
                          <a:latin typeface="DejaVu Sans"/>
                          <a:ea typeface="DejaVu Sans"/>
                          <a:cs typeface="DejaVu Sans"/>
                        </a:rPr>
                        <a:t>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5 и 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Обмен</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1 4 5 2 3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90550">
                <a:tc>
                  <a:txBody>
                    <a:bodyPr/>
                    <a:lstStyle/>
                    <a:p>
                      <a:r>
                        <a:rPr sz="2025" b="0">
                          <a:solidFill>
                            <a:srgbClr val="283C4F"/>
                          </a:solidFill>
                          <a:latin typeface="DejaVu Sans"/>
                          <a:ea typeface="DejaVu Sans"/>
                          <a:cs typeface="DejaVu Sans"/>
                        </a:rPr>
                        <a:t>2</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5 и 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Обмен</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1 4 2 5 3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90550">
                <a:tc>
                  <a:txBody>
                    <a:bodyPr/>
                    <a:lstStyle/>
                    <a:p>
                      <a:r>
                        <a:rPr sz="2025" b="0">
                          <a:solidFill>
                            <a:srgbClr val="283C4F"/>
                          </a:solidFill>
                          <a:latin typeface="DejaVu Sans"/>
                          <a:ea typeface="DejaVu Sans"/>
                          <a:cs typeface="DejaVu Sans"/>
                        </a:rPr>
                        <a:t>3</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5 и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Обмен</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2025" b="0">
                          <a:solidFill>
                            <a:srgbClr val="283C4F"/>
                          </a:solidFill>
                          <a:latin typeface="DejaVu Sans"/>
                          <a:ea typeface="DejaVu Sans"/>
                          <a:cs typeface="DejaVu Sans"/>
                        </a:rPr>
                        <a:t>1 4 2 3 5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result">
            <a:extLst>
              <a:ext uri="{FF2B5EF4-FFF2-40B4-BE49-F238E27FC236}">
                <a16:creationId xmlns:a16="http://schemas.microsoft.com/office/drawing/2014/main" id="{1BAC2DED-947D-43EB-9462-D7366B13E68B}"/>
              </a:ext>
            </a:extLst>
          </p:cNvPr>
          <p:cNvSpPr>
            <a:spLocks noGrp="1"/>
          </p:cNvSpPr>
          <p:nvPr/>
        </p:nvSpPr>
        <p:spPr>
          <a:xfrm>
            <a:off x="609600" y="5543550"/>
            <a:ext cx="10906125" cy="704850"/>
          </a:xfrm>
          <a:prstGeom prst="rect">
            <a:avLst/>
          </a:prstGeom>
          <a:noFill/>
          <a:ln w="0">
            <a:noFill/>
            <a:prstDash val="solid"/>
          </a:ln>
        </p:spPr>
        <p:txBody>
          <a:bodyPr wrap="square" lIns="0" tIns="0" rIns="0" bIns="0" anchor="t">
            <a:noAutofit/>
          </a:bodyPr>
          <a:lstStyle>
            <a:defPPr>
              <a:defRPr sz="1950" b="1">
                <a:solidFill>
                  <a:srgbClr val="007F78"/>
                </a:solidFill>
                <a:latin typeface="DejaVu Sans"/>
                <a:ea typeface="DejaVu Sans"/>
                <a:cs typeface="DejaVu Sans"/>
              </a:defRPr>
            </a:defPPr>
            <a:lvl1pPr>
              <a:defRPr sz="1950" b="1">
                <a:solidFill>
                  <a:srgbClr val="007F78"/>
                </a:solidFill>
                <a:latin typeface="DejaVu Sans"/>
                <a:ea typeface="DejaVu Sans"/>
                <a:cs typeface="DejaVu Sans"/>
              </a:defRPr>
            </a:lvl1pPr>
            <a:lvl2pPr>
              <a:defRPr sz="1950" b="1">
                <a:solidFill>
                  <a:srgbClr val="007F78"/>
                </a:solidFill>
                <a:latin typeface="DejaVu Sans"/>
                <a:ea typeface="DejaVu Sans"/>
                <a:cs typeface="DejaVu Sans"/>
              </a:defRPr>
            </a:lvl2pPr>
            <a:lvl3pPr>
              <a:defRPr sz="1950" b="1">
                <a:solidFill>
                  <a:srgbClr val="007F78"/>
                </a:solidFill>
                <a:latin typeface="DejaVu Sans"/>
                <a:ea typeface="DejaVu Sans"/>
                <a:cs typeface="DejaVu Sans"/>
              </a:defRPr>
            </a:lvl3pPr>
            <a:lvl4pPr>
              <a:defRPr sz="1950" b="1">
                <a:solidFill>
                  <a:srgbClr val="007F78"/>
                </a:solidFill>
                <a:latin typeface="DejaVu Sans"/>
                <a:ea typeface="DejaVu Sans"/>
                <a:cs typeface="DejaVu Sans"/>
              </a:defRPr>
            </a:lvl4pPr>
            <a:lvl5pPr>
              <a:defRPr sz="1950" b="1">
                <a:solidFill>
                  <a:srgbClr val="007F78"/>
                </a:solidFill>
                <a:latin typeface="DejaVu Sans"/>
                <a:ea typeface="DejaVu Sans"/>
                <a:cs typeface="DejaVu Sans"/>
              </a:defRPr>
            </a:lvl5pPr>
            <a:lvl6pPr>
              <a:defRPr sz="1950" b="1">
                <a:solidFill>
                  <a:srgbClr val="007F78"/>
                </a:solidFill>
                <a:latin typeface="DejaVu Sans"/>
                <a:ea typeface="DejaVu Sans"/>
                <a:cs typeface="DejaVu Sans"/>
              </a:defRPr>
            </a:lvl6pPr>
            <a:lvl7pPr>
              <a:defRPr sz="1950" b="1">
                <a:solidFill>
                  <a:srgbClr val="007F78"/>
                </a:solidFill>
                <a:latin typeface="DejaVu Sans"/>
                <a:ea typeface="DejaVu Sans"/>
                <a:cs typeface="DejaVu Sans"/>
              </a:defRPr>
            </a:lvl7pPr>
            <a:lvl8pPr>
              <a:defRPr sz="1950" b="1">
                <a:solidFill>
                  <a:srgbClr val="007F78"/>
                </a:solidFill>
                <a:latin typeface="DejaVu Sans"/>
                <a:ea typeface="DejaVu Sans"/>
                <a:cs typeface="DejaVu Sans"/>
              </a:defRPr>
            </a:lvl8pPr>
            <a:lvl9pPr>
              <a:defRPr sz="1950" b="1">
                <a:solidFill>
                  <a:srgbClr val="007F78"/>
                </a:solidFill>
                <a:latin typeface="DejaVu Sans"/>
                <a:ea typeface="DejaVu Sans"/>
                <a:cs typeface="DejaVu Sans"/>
              </a:defRPr>
            </a:lvl9pPr>
          </a:lstStyle>
          <a:p>
            <a:pPr>
              <a:defRPr sz="1950" b="1">
                <a:solidFill>
                  <a:srgbClr val="007F78"/>
                </a:solidFill>
                <a:latin typeface="DejaVu Sans"/>
                <a:ea typeface="DejaVu Sans"/>
                <a:cs typeface="DejaVu Sans"/>
              </a:defRPr>
            </a:pPr>
            <a:r>
              <a:rPr sz="1950" b="1">
                <a:solidFill>
                  <a:srgbClr val="007F78"/>
                </a:solidFill>
                <a:latin typeface="DejaVu Sans"/>
                <a:ea typeface="DejaVu Sans"/>
                <a:cs typeface="DejaVu Sans"/>
              </a:rPr>
              <a:t>Число 5 заняло окончательную позицию. Остальная часть ещё не отсортирована.</a:t>
            </a:r>
          </a:p>
        </p:txBody>
      </p:sp>
    </p:spTree>
    <p:extLst>
      <p:ext uri="{BB962C8B-B14F-4D97-AF65-F5344CB8AC3E}">
        <p14:creationId xmlns:p14="http://schemas.microsoft.com/office/powerpoint/2010/main" val="1941769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868AA3A-CA6C-4CD3-8D45-6D7C93D72B0C}"/>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Сортировка пузырьком: код C#</a:t>
            </a:r>
          </a:p>
        </p:txBody>
      </p:sp>
      <p:sp>
        <p:nvSpPr>
          <p:cNvPr id="2" name="section">
            <a:extLst>
              <a:ext uri="{FF2B5EF4-FFF2-40B4-BE49-F238E27FC236}">
                <a16:creationId xmlns:a16="http://schemas.microsoft.com/office/drawing/2014/main" id="{A32B354F-F3D2-4EAE-AA33-E62547D10AF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a:t>
            </a:r>
          </a:p>
        </p:txBody>
      </p:sp>
      <p:sp>
        <p:nvSpPr>
          <p:cNvPr id="3" name="number">
            <a:extLst>
              <a:ext uri="{FF2B5EF4-FFF2-40B4-BE49-F238E27FC236}">
                <a16:creationId xmlns:a16="http://schemas.microsoft.com/office/drawing/2014/main" id="{B21B5B18-279C-4ACE-BAC6-52597B3967E8}"/>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37</a:t>
            </a:r>
          </a:p>
        </p:txBody>
      </p:sp>
      <p:sp>
        <p:nvSpPr>
          <p:cNvPr id="4" name="intro">
            <a:extLst>
              <a:ext uri="{FF2B5EF4-FFF2-40B4-BE49-F238E27FC236}">
                <a16:creationId xmlns:a16="http://schemas.microsoft.com/office/drawing/2014/main" id="{41087BFF-60C4-491D-92D7-ED1FBFCB9F4D}"/>
              </a:ext>
            </a:extLst>
          </p:cNvPr>
          <p:cNvSpPr>
            <a:spLocks noGrp="1"/>
          </p:cNvSpPr>
          <p:nvPr/>
        </p:nvSpPr>
        <p:spPr>
          <a:xfrm>
            <a:off x="609600" y="1390650"/>
            <a:ext cx="10972800" cy="476250"/>
          </a:xfrm>
          <a:prstGeom prst="rect">
            <a:avLst/>
          </a:prstGeom>
          <a:noFill/>
          <a:ln w="0">
            <a:noFill/>
            <a:prstDash val="solid"/>
          </a:ln>
        </p:spPr>
        <p:txBody>
          <a:bodyPr wrap="square" lIns="0" tIns="0" rIns="0" bIns="0" anchor="t">
            <a:noAutofit/>
          </a:bodyPr>
          <a:lstStyle>
            <a:defPPr>
              <a:defRPr sz="1875" b="0">
                <a:solidFill>
                  <a:srgbClr val="283C4F"/>
                </a:solidFill>
                <a:latin typeface="DejaVu Sans"/>
                <a:ea typeface="DejaVu Sans"/>
                <a:cs typeface="DejaVu Sans"/>
              </a:defRPr>
            </a:defPPr>
            <a:lvl1pPr>
              <a:defRPr sz="1875" b="0">
                <a:solidFill>
                  <a:srgbClr val="283C4F"/>
                </a:solidFill>
                <a:latin typeface="DejaVu Sans"/>
                <a:ea typeface="DejaVu Sans"/>
                <a:cs typeface="DejaVu Sans"/>
              </a:defRPr>
            </a:lvl1pPr>
            <a:lvl2pPr>
              <a:defRPr sz="1875" b="0">
                <a:solidFill>
                  <a:srgbClr val="283C4F"/>
                </a:solidFill>
                <a:latin typeface="DejaVu Sans"/>
                <a:ea typeface="DejaVu Sans"/>
                <a:cs typeface="DejaVu Sans"/>
              </a:defRPr>
            </a:lvl2pPr>
            <a:lvl3pPr>
              <a:defRPr sz="1875" b="0">
                <a:solidFill>
                  <a:srgbClr val="283C4F"/>
                </a:solidFill>
                <a:latin typeface="DejaVu Sans"/>
                <a:ea typeface="DejaVu Sans"/>
                <a:cs typeface="DejaVu Sans"/>
              </a:defRPr>
            </a:lvl3pPr>
            <a:lvl4pPr>
              <a:defRPr sz="1875" b="0">
                <a:solidFill>
                  <a:srgbClr val="283C4F"/>
                </a:solidFill>
                <a:latin typeface="DejaVu Sans"/>
                <a:ea typeface="DejaVu Sans"/>
                <a:cs typeface="DejaVu Sans"/>
              </a:defRPr>
            </a:lvl4pPr>
            <a:lvl5pPr>
              <a:defRPr sz="1875" b="0">
                <a:solidFill>
                  <a:srgbClr val="283C4F"/>
                </a:solidFill>
                <a:latin typeface="DejaVu Sans"/>
                <a:ea typeface="DejaVu Sans"/>
                <a:cs typeface="DejaVu Sans"/>
              </a:defRPr>
            </a:lvl5pPr>
            <a:lvl6pPr>
              <a:defRPr sz="1875" b="0">
                <a:solidFill>
                  <a:srgbClr val="283C4F"/>
                </a:solidFill>
                <a:latin typeface="DejaVu Sans"/>
                <a:ea typeface="DejaVu Sans"/>
                <a:cs typeface="DejaVu Sans"/>
              </a:defRPr>
            </a:lvl6pPr>
            <a:lvl7pPr>
              <a:defRPr sz="1875" b="0">
                <a:solidFill>
                  <a:srgbClr val="283C4F"/>
                </a:solidFill>
                <a:latin typeface="DejaVu Sans"/>
                <a:ea typeface="DejaVu Sans"/>
                <a:cs typeface="DejaVu Sans"/>
              </a:defRPr>
            </a:lvl7pPr>
            <a:lvl8pPr>
              <a:defRPr sz="1875" b="0">
                <a:solidFill>
                  <a:srgbClr val="283C4F"/>
                </a:solidFill>
                <a:latin typeface="DejaVu Sans"/>
                <a:ea typeface="DejaVu Sans"/>
                <a:cs typeface="DejaVu Sans"/>
              </a:defRPr>
            </a:lvl8pPr>
            <a:lvl9pPr>
              <a:defRPr sz="1875" b="0">
                <a:solidFill>
                  <a:srgbClr val="283C4F"/>
                </a:solidFill>
                <a:latin typeface="DejaVu Sans"/>
                <a:ea typeface="DejaVu Sans"/>
                <a:cs typeface="DejaVu Sans"/>
              </a:defRPr>
            </a:lvl9pPr>
          </a:lstStyle>
          <a:p>
            <a:pPr>
              <a:defRPr sz="1875" b="0">
                <a:solidFill>
                  <a:srgbClr val="283C4F"/>
                </a:solidFill>
                <a:latin typeface="DejaVu Sans"/>
                <a:ea typeface="DejaVu Sans"/>
                <a:cs typeface="DejaVu Sans"/>
              </a:defRPr>
            </a:pPr>
            <a:r>
              <a:rPr sz="1875" b="0">
                <a:solidFill>
                  <a:srgbClr val="283C4F"/>
                </a:solidFill>
                <a:latin typeface="DejaVu Sans"/>
                <a:ea typeface="DejaVu Sans"/>
                <a:cs typeface="DejaVu Sans"/>
              </a:rPr>
              <a:t>pass — номер прохода с нуля. j — индекс левого элемента сравниваемой пары.</a:t>
            </a:r>
          </a:p>
        </p:txBody>
      </p:sp>
      <p:sp>
        <p:nvSpPr>
          <p:cNvPr id="5" name="code">
            <a:extLst>
              <a:ext uri="{FF2B5EF4-FFF2-40B4-BE49-F238E27FC236}">
                <a16:creationId xmlns:a16="http://schemas.microsoft.com/office/drawing/2014/main" id="{AEDA24D0-38B5-4CA0-82C7-578F67AF15B1}"/>
              </a:ext>
            </a:extLst>
          </p:cNvPr>
          <p:cNvSpPr>
            <a:spLocks noGrp="1"/>
          </p:cNvSpPr>
          <p:nvPr/>
        </p:nvSpPr>
        <p:spPr>
          <a:xfrm>
            <a:off x="609600" y="1981200"/>
            <a:ext cx="10972800" cy="385762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defRPr sz="1875" b="0">
                <a:solidFill>
                  <a:srgbClr val="283C4F"/>
                </a:solidFill>
                <a:latin typeface="DejaVu Sans Mono"/>
                <a:ea typeface="DejaVu Sans Mono"/>
                <a:cs typeface="DejaVu Sans Mono"/>
              </a:defRPr>
            </a:lvl1pPr>
            <a:lvl2pPr>
              <a:defRPr sz="1875" b="0">
                <a:solidFill>
                  <a:srgbClr val="283C4F"/>
                </a:solidFill>
                <a:latin typeface="DejaVu Sans Mono"/>
                <a:ea typeface="DejaVu Sans Mono"/>
                <a:cs typeface="DejaVu Sans Mono"/>
              </a:defRPr>
            </a:lvl2pPr>
            <a:lvl3pPr>
              <a:defRPr sz="1875" b="0">
                <a:solidFill>
                  <a:srgbClr val="283C4F"/>
                </a:solidFill>
                <a:latin typeface="DejaVu Sans Mono"/>
                <a:ea typeface="DejaVu Sans Mono"/>
                <a:cs typeface="DejaVu Sans Mono"/>
              </a:defRPr>
            </a:lvl3pPr>
            <a:lvl4pPr>
              <a:defRPr sz="1875" b="0">
                <a:solidFill>
                  <a:srgbClr val="283C4F"/>
                </a:solidFill>
                <a:latin typeface="DejaVu Sans Mono"/>
                <a:ea typeface="DejaVu Sans Mono"/>
                <a:cs typeface="DejaVu Sans Mono"/>
              </a:defRPr>
            </a:lvl4pPr>
            <a:lvl5pPr>
              <a:defRPr sz="1875" b="0">
                <a:solidFill>
                  <a:srgbClr val="283C4F"/>
                </a:solidFill>
                <a:latin typeface="DejaVu Sans Mono"/>
                <a:ea typeface="DejaVu Sans Mono"/>
                <a:cs typeface="DejaVu Sans Mono"/>
              </a:defRPr>
            </a:lvl5pPr>
            <a:lvl6pPr>
              <a:defRPr sz="1875" b="0">
                <a:solidFill>
                  <a:srgbClr val="283C4F"/>
                </a:solidFill>
                <a:latin typeface="DejaVu Sans Mono"/>
                <a:ea typeface="DejaVu Sans Mono"/>
                <a:cs typeface="DejaVu Sans Mono"/>
              </a:defRPr>
            </a:lvl6pPr>
            <a:lvl7pPr>
              <a:defRPr sz="1875" b="0">
                <a:solidFill>
                  <a:srgbClr val="283C4F"/>
                </a:solidFill>
                <a:latin typeface="DejaVu Sans Mono"/>
                <a:ea typeface="DejaVu Sans Mono"/>
                <a:cs typeface="DejaVu Sans Mono"/>
              </a:defRPr>
            </a:lvl7pPr>
            <a:lvl8pPr>
              <a:defRPr sz="1875" b="0">
                <a:solidFill>
                  <a:srgbClr val="283C4F"/>
                </a:solidFill>
                <a:latin typeface="DejaVu Sans Mono"/>
                <a:ea typeface="DejaVu Sans Mono"/>
                <a:cs typeface="DejaVu Sans Mono"/>
              </a:defRPr>
            </a:lvl8pPr>
            <a:lvl9pPr>
              <a:defRPr sz="1875" b="0">
                <a:solidFill>
                  <a:srgbClr val="283C4F"/>
                </a:solidFill>
                <a:latin typeface="DejaVu Sans Mono"/>
                <a:ea typeface="DejaVu Sans Mono"/>
                <a:cs typeface="DejaVu Sans Mono"/>
              </a:defRPr>
            </a:lvl9pPr>
          </a:lstStyle>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5, 1, 4, 2, 3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pass = 0; pass &lt; a.Length - 1; pass++)</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for (int j = 0; j &lt; a.Length - 1 - pass; j++)</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(a[j] &gt; a[j + 1])</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int temp = a[j];</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a[j] = a[j + 1];</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a[j + 1] = temp;</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6" name="result">
            <a:extLst>
              <a:ext uri="{FF2B5EF4-FFF2-40B4-BE49-F238E27FC236}">
                <a16:creationId xmlns:a16="http://schemas.microsoft.com/office/drawing/2014/main" id="{3676D97B-0746-46E8-999B-FC7C29C05D1C}"/>
              </a:ext>
            </a:extLst>
          </p:cNvPr>
          <p:cNvSpPr>
            <a:spLocks noGrp="1"/>
          </p:cNvSpPr>
          <p:nvPr/>
        </p:nvSpPr>
        <p:spPr>
          <a:xfrm>
            <a:off x="609600" y="5943600"/>
            <a:ext cx="10972800" cy="352425"/>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defRPr sz="1800" b="1">
                <a:solidFill>
                  <a:srgbClr val="007F78"/>
                </a:solidFill>
                <a:latin typeface="DejaVu Sans"/>
                <a:ea typeface="DejaVu Sans"/>
                <a:cs typeface="DejaVu Sans"/>
              </a:defRPr>
            </a:lvl1pPr>
            <a:lvl2pPr>
              <a:defRPr sz="1800" b="1">
                <a:solidFill>
                  <a:srgbClr val="007F78"/>
                </a:solidFill>
                <a:latin typeface="DejaVu Sans"/>
                <a:ea typeface="DejaVu Sans"/>
                <a:cs typeface="DejaVu Sans"/>
              </a:defRPr>
            </a:lvl2pPr>
            <a:lvl3pPr>
              <a:defRPr sz="1800" b="1">
                <a:solidFill>
                  <a:srgbClr val="007F78"/>
                </a:solidFill>
                <a:latin typeface="DejaVu Sans"/>
                <a:ea typeface="DejaVu Sans"/>
                <a:cs typeface="DejaVu Sans"/>
              </a:defRPr>
            </a:lvl3pPr>
            <a:lvl4pPr>
              <a:defRPr sz="1800" b="1">
                <a:solidFill>
                  <a:srgbClr val="007F78"/>
                </a:solidFill>
                <a:latin typeface="DejaVu Sans"/>
                <a:ea typeface="DejaVu Sans"/>
                <a:cs typeface="DejaVu Sans"/>
              </a:defRPr>
            </a:lvl4pPr>
            <a:lvl5pPr>
              <a:defRPr sz="1800" b="1">
                <a:solidFill>
                  <a:srgbClr val="007F78"/>
                </a:solidFill>
                <a:latin typeface="DejaVu Sans"/>
                <a:ea typeface="DejaVu Sans"/>
                <a:cs typeface="DejaVu Sans"/>
              </a:defRPr>
            </a:lvl5pPr>
            <a:lvl6pPr>
              <a:defRPr sz="1800" b="1">
                <a:solidFill>
                  <a:srgbClr val="007F78"/>
                </a:solidFill>
                <a:latin typeface="DejaVu Sans"/>
                <a:ea typeface="DejaVu Sans"/>
                <a:cs typeface="DejaVu Sans"/>
              </a:defRPr>
            </a:lvl6pPr>
            <a:lvl7pPr>
              <a:defRPr sz="1800" b="1">
                <a:solidFill>
                  <a:srgbClr val="007F78"/>
                </a:solidFill>
                <a:latin typeface="DejaVu Sans"/>
                <a:ea typeface="DejaVu Sans"/>
                <a:cs typeface="DejaVu Sans"/>
              </a:defRPr>
            </a:lvl7pPr>
            <a:lvl8pPr>
              <a:defRPr sz="1800" b="1">
                <a:solidFill>
                  <a:srgbClr val="007F78"/>
                </a:solidFill>
                <a:latin typeface="DejaVu Sans"/>
                <a:ea typeface="DejaVu Sans"/>
                <a:cs typeface="DejaVu Sans"/>
              </a:defRPr>
            </a:lvl8pPr>
            <a:lvl9pPr>
              <a:defRPr sz="1800" b="1">
                <a:solidFill>
                  <a:srgbClr val="007F78"/>
                </a:solidFill>
                <a:latin typeface="DejaVu Sans"/>
                <a:ea typeface="DejaVu Sans"/>
                <a:cs typeface="DejaVu Sans"/>
              </a:defRPr>
            </a:lvl9pPr>
          </a:lstStyle>
          <a:p>
            <a:pPr>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Граница j &lt; a.Length - 1 - pass обеспечивает допустимый индекс j + 1.</a:t>
            </a:r>
          </a:p>
        </p:txBody>
      </p:sp>
    </p:spTree>
    <p:extLst>
      <p:ext uri="{BB962C8B-B14F-4D97-AF65-F5344CB8AC3E}">
        <p14:creationId xmlns:p14="http://schemas.microsoft.com/office/powerpoint/2010/main" val="1812230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EB6E9593-6DDD-46FD-A3A0-2D2BA206F5B1}"/>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Пузырёк: результат каждого прохода</a:t>
            </a:r>
          </a:p>
        </p:txBody>
      </p:sp>
      <p:sp>
        <p:nvSpPr>
          <p:cNvPr id="2" name="section">
            <a:extLst>
              <a:ext uri="{FF2B5EF4-FFF2-40B4-BE49-F238E27FC236}">
                <a16:creationId xmlns:a16="http://schemas.microsoft.com/office/drawing/2014/main" id="{A58BEDB3-E093-4AE9-A3FA-E7A59AB9E0CE}"/>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пузырьком</a:t>
            </a:r>
          </a:p>
        </p:txBody>
      </p:sp>
      <p:sp>
        <p:nvSpPr>
          <p:cNvPr id="3" name="number">
            <a:extLst>
              <a:ext uri="{FF2B5EF4-FFF2-40B4-BE49-F238E27FC236}">
                <a16:creationId xmlns:a16="http://schemas.microsoft.com/office/drawing/2014/main" id="{599D2CEC-6B8C-4E17-9CBC-FAD2F627AB55}"/>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38</a:t>
            </a:r>
          </a:p>
        </p:txBody>
      </p:sp>
      <p:graphicFrame>
        <p:nvGraphicFramePr>
          <p:cNvPr id="4" name="Таблица 3">
            <a:extLst>
              <a:ext uri="{FF2B5EF4-FFF2-40B4-BE49-F238E27FC236}">
                <a16:creationId xmlns:a16="http://schemas.microsoft.com/office/drawing/2014/main" id="{794EE9EB-B7C0-4F02-9A78-59EF52F22D7B}"/>
              </a:ext>
            </a:extLst>
          </p:cNvPr>
          <p:cNvGraphicFramePr/>
          <p:nvPr/>
        </p:nvGraphicFramePr>
        <p:xfrm>
          <a:off x="609600" y="1562100"/>
          <a:ext cx="10972800" cy="2762250"/>
        </p:xfrm>
        <a:graphic>
          <a:graphicData uri="http://schemas.openxmlformats.org/drawingml/2006/table">
            <a:tbl>
              <a:tblPr/>
              <a:tblGrid>
                <a:gridCol w="3095625">
                  <a:extLst>
                    <a:ext uri="{9D8B030D-6E8A-4147-A177-3AD203B41FA5}">
                      <a16:colId xmlns:a16="http://schemas.microsoft.com/office/drawing/2014/main" val="20000"/>
                    </a:ext>
                  </a:extLst>
                </a:gridCol>
                <a:gridCol w="4781550">
                  <a:extLst>
                    <a:ext uri="{9D8B030D-6E8A-4147-A177-3AD203B41FA5}">
                      <a16:colId xmlns:a16="http://schemas.microsoft.com/office/drawing/2014/main" val="20001"/>
                    </a:ext>
                  </a:extLst>
                </a:gridCol>
                <a:gridCol w="3095625">
                  <a:extLst>
                    <a:ext uri="{9D8B030D-6E8A-4147-A177-3AD203B41FA5}">
                      <a16:colId xmlns:a16="http://schemas.microsoft.com/office/drawing/2014/main" val="20002"/>
                    </a:ext>
                  </a:extLst>
                </a:gridCol>
              </a:tblGrid>
              <a:tr h="552450">
                <a:tc>
                  <a:txBody>
                    <a:bodyPr/>
                    <a:lstStyle/>
                    <a:p>
                      <a:r>
                        <a:rPr sz="1950" b="1">
                          <a:solidFill>
                            <a:srgbClr val="FFFFFF"/>
                          </a:solidFill>
                          <a:latin typeface="DejaVu Sans"/>
                          <a:ea typeface="DejaVu Sans"/>
                          <a:cs typeface="DejaVu Sans"/>
                        </a:rPr>
                        <a:t>Проход</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950" b="1">
                          <a:solidFill>
                            <a:srgbClr val="FFFFFF"/>
                          </a:solidFill>
                          <a:latin typeface="DejaVu Sans"/>
                          <a:ea typeface="DejaVu Sans"/>
                          <a:cs typeface="DejaVu Sans"/>
                        </a:rPr>
                        <a:t>Массив после прохода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950" b="1">
                          <a:solidFill>
                            <a:srgbClr val="FFFFFF"/>
                          </a:solidFill>
                          <a:latin typeface="DejaVu Sans"/>
                          <a:ea typeface="DejaVu Sans"/>
                          <a:cs typeface="DejaVu Sans"/>
                        </a:rPr>
                        <a:t>Проверенные пары</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52450">
                <a:tc>
                  <a:txBody>
                    <a:bodyPr/>
                    <a:lstStyle/>
                    <a:p>
                      <a:r>
                        <a:rPr sz="1950" b="0">
                          <a:solidFill>
                            <a:srgbClr val="283C4F"/>
                          </a:solidFill>
                          <a:latin typeface="DejaVu Sans"/>
                          <a:ea typeface="DejaVu Sans"/>
                          <a:cs typeface="DejaVu Sans"/>
                        </a:rPr>
                        <a:t>1-й, pass = 0</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1 4 2 3 5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52450">
                <a:tc>
                  <a:txBody>
                    <a:bodyPr/>
                    <a:lstStyle/>
                    <a:p>
                      <a:r>
                        <a:rPr sz="1950" b="0">
                          <a:solidFill>
                            <a:srgbClr val="283C4F"/>
                          </a:solidFill>
                          <a:latin typeface="DejaVu Sans"/>
                          <a:ea typeface="DejaVu Sans"/>
                          <a:cs typeface="DejaVu Sans"/>
                        </a:rPr>
                        <a:t>2-й, pass = 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1 2 3 4 5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52450">
                <a:tc>
                  <a:txBody>
                    <a:bodyPr/>
                    <a:lstStyle/>
                    <a:p>
                      <a:r>
                        <a:rPr sz="1950" b="0">
                          <a:solidFill>
                            <a:srgbClr val="283C4F"/>
                          </a:solidFill>
                          <a:latin typeface="DejaVu Sans"/>
                          <a:ea typeface="DejaVu Sans"/>
                          <a:cs typeface="DejaVu Sans"/>
                        </a:rPr>
                        <a:t>3-й, pass = 2</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1 2 3 4 5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950"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52450">
                <a:tc>
                  <a:txBody>
                    <a:bodyPr/>
                    <a:lstStyle/>
                    <a:p>
                      <a:r>
                        <a:rPr sz="1950" b="0">
                          <a:solidFill>
                            <a:srgbClr val="283C4F"/>
                          </a:solidFill>
                          <a:latin typeface="DejaVu Sans"/>
                          <a:ea typeface="DejaVu Sans"/>
                          <a:cs typeface="DejaVu Sans"/>
                        </a:rPr>
                        <a:t>4-й, pass = 3</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1 2 3 4 5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950" b="0">
                          <a:solidFill>
                            <a:srgbClr val="283C4F"/>
                          </a:solidFill>
                          <a:latin typeface="DejaVu Sans"/>
                          <a:ea typeface="DejaVu Sans"/>
                          <a:cs typeface="DejaVu Sans"/>
                        </a:rPr>
                        <a:t>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body-0">
            <a:extLst>
              <a:ext uri="{FF2B5EF4-FFF2-40B4-BE49-F238E27FC236}">
                <a16:creationId xmlns:a16="http://schemas.microsoft.com/office/drawing/2014/main" id="{AA624DB8-2F87-45C7-982B-A3F1DA05822D}"/>
              </a:ext>
            </a:extLst>
          </p:cNvPr>
          <p:cNvSpPr>
            <a:spLocks noGrp="1"/>
          </p:cNvSpPr>
          <p:nvPr/>
        </p:nvSpPr>
        <p:spPr>
          <a:xfrm>
            <a:off x="609600" y="4695825"/>
            <a:ext cx="10839450" cy="68580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В данной реализации 4 + 3 + 2 + 1 = 10 сравнений, даже если порядок уже правильный.</a:t>
            </a:r>
          </a:p>
        </p:txBody>
      </p:sp>
    </p:spTree>
    <p:extLst>
      <p:ext uri="{BB962C8B-B14F-4D97-AF65-F5344CB8AC3E}">
        <p14:creationId xmlns:p14="http://schemas.microsoft.com/office/powerpoint/2010/main" val="2178944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1BB65021-B074-414D-8552-A0BF4AC0DB6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Сортировка вставками: принцип</a:t>
            </a:r>
          </a:p>
        </p:txBody>
      </p:sp>
      <p:sp>
        <p:nvSpPr>
          <p:cNvPr id="2" name="section">
            <a:extLst>
              <a:ext uri="{FF2B5EF4-FFF2-40B4-BE49-F238E27FC236}">
                <a16:creationId xmlns:a16="http://schemas.microsoft.com/office/drawing/2014/main" id="{07B5AE3B-C54D-445D-BD34-74DDD73E524F}"/>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вставками</a:t>
            </a:r>
          </a:p>
        </p:txBody>
      </p:sp>
      <p:sp>
        <p:nvSpPr>
          <p:cNvPr id="3" name="number">
            <a:extLst>
              <a:ext uri="{FF2B5EF4-FFF2-40B4-BE49-F238E27FC236}">
                <a16:creationId xmlns:a16="http://schemas.microsoft.com/office/drawing/2014/main" id="{54D950DC-6AA3-4BC3-8F34-37F7A33657A7}"/>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39</a:t>
            </a:r>
          </a:p>
        </p:txBody>
      </p:sp>
      <p:sp>
        <p:nvSpPr>
          <p:cNvPr id="4" name="body-0">
            <a:extLst>
              <a:ext uri="{FF2B5EF4-FFF2-40B4-BE49-F238E27FC236}">
                <a16:creationId xmlns:a16="http://schemas.microsoft.com/office/drawing/2014/main" id="{4EE8E29F-FAA2-463E-AFF3-F63F49C780D6}"/>
              </a:ext>
            </a:extLst>
          </p:cNvPr>
          <p:cNvSpPr>
            <a:spLocks noGrp="1"/>
          </p:cNvSpPr>
          <p:nvPr/>
        </p:nvSpPr>
        <p:spPr>
          <a:xfrm>
            <a:off x="609600" y="1438275"/>
            <a:ext cx="10858500" cy="97155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Слева постепенно формируем отсортированную часть массива. Сначала в ней только a[0].</a:t>
            </a:r>
          </a:p>
        </p:txBody>
      </p:sp>
      <p:sp>
        <p:nvSpPr>
          <p:cNvPr id="5" name="body-1">
            <a:extLst>
              <a:ext uri="{FF2B5EF4-FFF2-40B4-BE49-F238E27FC236}">
                <a16:creationId xmlns:a16="http://schemas.microsoft.com/office/drawing/2014/main" id="{B49446CA-880A-4816-8B2A-FB2CC662B57A}"/>
              </a:ext>
            </a:extLst>
          </p:cNvPr>
          <p:cNvSpPr>
            <a:spLocks noGrp="1"/>
          </p:cNvSpPr>
          <p:nvPr/>
        </p:nvSpPr>
        <p:spPr>
          <a:xfrm>
            <a:off x="609600" y="2505075"/>
            <a:ext cx="10858500" cy="97155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Берём следующий элемент и сохраняем его значение в key.</a:t>
            </a:r>
          </a:p>
        </p:txBody>
      </p:sp>
      <p:sp>
        <p:nvSpPr>
          <p:cNvPr id="6" name="body-2">
            <a:extLst>
              <a:ext uri="{FF2B5EF4-FFF2-40B4-BE49-F238E27FC236}">
                <a16:creationId xmlns:a16="http://schemas.microsoft.com/office/drawing/2014/main" id="{BEAEF2FA-14DF-4D89-BD57-440119B5FB3B}"/>
              </a:ext>
            </a:extLst>
          </p:cNvPr>
          <p:cNvSpPr>
            <a:spLocks noGrp="1"/>
          </p:cNvSpPr>
          <p:nvPr/>
        </p:nvSpPr>
        <p:spPr>
          <a:xfrm>
            <a:off x="609600" y="3571875"/>
            <a:ext cx="10858500" cy="97155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Элементы слева, которые больше key, сдвигаем на одну позицию вправо.</a:t>
            </a:r>
          </a:p>
        </p:txBody>
      </p:sp>
      <p:sp>
        <p:nvSpPr>
          <p:cNvPr id="7" name="body-3">
            <a:extLst>
              <a:ext uri="{FF2B5EF4-FFF2-40B4-BE49-F238E27FC236}">
                <a16:creationId xmlns:a16="http://schemas.microsoft.com/office/drawing/2014/main" id="{ADFEFE59-3FBE-4233-BCCF-EF3D6D4EA176}"/>
              </a:ext>
            </a:extLst>
          </p:cNvPr>
          <p:cNvSpPr>
            <a:spLocks noGrp="1"/>
          </p:cNvSpPr>
          <p:nvPr/>
        </p:nvSpPr>
        <p:spPr>
          <a:xfrm>
            <a:off x="609600" y="4638675"/>
            <a:ext cx="10858500" cy="971550"/>
          </a:xfrm>
          <a:prstGeom prst="rect">
            <a:avLst/>
          </a:prstGeom>
          <a:noFill/>
          <a:ln w="0">
            <a:noFill/>
            <a:prstDash val="solid"/>
          </a:ln>
        </p:spPr>
        <p:txBody>
          <a:bodyPr wrap="square" lIns="0" tIns="0" rIns="0" bIns="0" anchor="t">
            <a:noAutofit/>
          </a:bodyPr>
          <a:lstStyle>
            <a:defPPr>
              <a:defRPr sz="2100" b="0">
                <a:solidFill>
                  <a:srgbClr val="283C4F"/>
                </a:solidFill>
                <a:latin typeface="DejaVu Sans"/>
                <a:ea typeface="DejaVu Sans"/>
                <a:cs typeface="DejaVu Sans"/>
              </a:defRPr>
            </a:defPPr>
            <a:lvl1pPr>
              <a:defRPr sz="2100" b="0">
                <a:solidFill>
                  <a:srgbClr val="283C4F"/>
                </a:solidFill>
                <a:latin typeface="DejaVu Sans"/>
                <a:ea typeface="DejaVu Sans"/>
                <a:cs typeface="DejaVu Sans"/>
              </a:defRPr>
            </a:lvl1pPr>
            <a:lvl2pPr>
              <a:defRPr sz="2100" b="0">
                <a:solidFill>
                  <a:srgbClr val="283C4F"/>
                </a:solidFill>
                <a:latin typeface="DejaVu Sans"/>
                <a:ea typeface="DejaVu Sans"/>
                <a:cs typeface="DejaVu Sans"/>
              </a:defRPr>
            </a:lvl2pPr>
            <a:lvl3pPr>
              <a:defRPr sz="2100" b="0">
                <a:solidFill>
                  <a:srgbClr val="283C4F"/>
                </a:solidFill>
                <a:latin typeface="DejaVu Sans"/>
                <a:ea typeface="DejaVu Sans"/>
                <a:cs typeface="DejaVu Sans"/>
              </a:defRPr>
            </a:lvl3pPr>
            <a:lvl4pPr>
              <a:defRPr sz="2100" b="0">
                <a:solidFill>
                  <a:srgbClr val="283C4F"/>
                </a:solidFill>
                <a:latin typeface="DejaVu Sans"/>
                <a:ea typeface="DejaVu Sans"/>
                <a:cs typeface="DejaVu Sans"/>
              </a:defRPr>
            </a:lvl4pPr>
            <a:lvl5pPr>
              <a:defRPr sz="2100" b="0">
                <a:solidFill>
                  <a:srgbClr val="283C4F"/>
                </a:solidFill>
                <a:latin typeface="DejaVu Sans"/>
                <a:ea typeface="DejaVu Sans"/>
                <a:cs typeface="DejaVu Sans"/>
              </a:defRPr>
            </a:lvl5pPr>
            <a:lvl6pPr>
              <a:defRPr sz="2100" b="0">
                <a:solidFill>
                  <a:srgbClr val="283C4F"/>
                </a:solidFill>
                <a:latin typeface="DejaVu Sans"/>
                <a:ea typeface="DejaVu Sans"/>
                <a:cs typeface="DejaVu Sans"/>
              </a:defRPr>
            </a:lvl6pPr>
            <a:lvl7pPr>
              <a:defRPr sz="2100" b="0">
                <a:solidFill>
                  <a:srgbClr val="283C4F"/>
                </a:solidFill>
                <a:latin typeface="DejaVu Sans"/>
                <a:ea typeface="DejaVu Sans"/>
                <a:cs typeface="DejaVu Sans"/>
              </a:defRPr>
            </a:lvl7pPr>
            <a:lvl8pPr>
              <a:defRPr sz="2100" b="0">
                <a:solidFill>
                  <a:srgbClr val="283C4F"/>
                </a:solidFill>
                <a:latin typeface="DejaVu Sans"/>
                <a:ea typeface="DejaVu Sans"/>
                <a:cs typeface="DejaVu Sans"/>
              </a:defRPr>
            </a:lvl8pPr>
            <a:lvl9pPr>
              <a:defRPr sz="2100" b="0">
                <a:solidFill>
                  <a:srgbClr val="283C4F"/>
                </a:solidFill>
                <a:latin typeface="DejaVu Sans"/>
                <a:ea typeface="DejaVu Sans"/>
                <a:cs typeface="DejaVu Sans"/>
              </a:defRPr>
            </a:lvl9pPr>
          </a:lstStyle>
          <a:p>
            <a:pPr>
              <a:defRPr sz="2100" b="0">
                <a:solidFill>
                  <a:srgbClr val="283C4F"/>
                </a:solidFill>
                <a:latin typeface="DejaVu Sans"/>
                <a:ea typeface="DejaVu Sans"/>
                <a:cs typeface="DejaVu Sans"/>
              </a:defRPr>
            </a:pPr>
            <a:r>
              <a:rPr sz="2100" b="0">
                <a:solidFill>
                  <a:srgbClr val="283C4F"/>
                </a:solidFill>
                <a:latin typeface="DejaVu Sans"/>
                <a:ea typeface="DejaVu Sans"/>
                <a:cs typeface="DejaVu Sans"/>
              </a:rPr>
              <a:t>Записываем key в освободившееся место. Отсортированная часть увеличивается на один элемент.</a:t>
            </a:r>
          </a:p>
        </p:txBody>
      </p:sp>
    </p:spTree>
    <p:extLst>
      <p:ext uri="{BB962C8B-B14F-4D97-AF65-F5344CB8AC3E}">
        <p14:creationId xmlns:p14="http://schemas.microsoft.com/office/powerpoint/2010/main" val="1534444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59E59FAE-EDE9-4BD3-8E02-16B7CD5D6F29}"/>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Вставки: один шаг со сдвигами</a:t>
            </a:r>
          </a:p>
        </p:txBody>
      </p:sp>
      <p:sp>
        <p:nvSpPr>
          <p:cNvPr id="2" name="section">
            <a:extLst>
              <a:ext uri="{FF2B5EF4-FFF2-40B4-BE49-F238E27FC236}">
                <a16:creationId xmlns:a16="http://schemas.microsoft.com/office/drawing/2014/main" id="{EF040532-DFD2-41C7-ABA4-9DD3F2C7C841}"/>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вставками</a:t>
            </a:r>
          </a:p>
        </p:txBody>
      </p:sp>
      <p:sp>
        <p:nvSpPr>
          <p:cNvPr id="3" name="number">
            <a:extLst>
              <a:ext uri="{FF2B5EF4-FFF2-40B4-BE49-F238E27FC236}">
                <a16:creationId xmlns:a16="http://schemas.microsoft.com/office/drawing/2014/main" id="{F912CEC6-FD22-43FD-A95B-4200520BFD51}"/>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40</a:t>
            </a:r>
          </a:p>
        </p:txBody>
      </p:sp>
      <p:sp>
        <p:nvSpPr>
          <p:cNvPr id="4" name="intro">
            <a:extLst>
              <a:ext uri="{FF2B5EF4-FFF2-40B4-BE49-F238E27FC236}">
                <a16:creationId xmlns:a16="http://schemas.microsoft.com/office/drawing/2014/main" id="{74548D84-D6EE-4955-8802-BFAE9F3AE981}"/>
              </a:ext>
            </a:extLst>
          </p:cNvPr>
          <p:cNvSpPr>
            <a:spLocks noGrp="1"/>
          </p:cNvSpPr>
          <p:nvPr/>
        </p:nvSpPr>
        <p:spPr>
          <a:xfrm>
            <a:off x="609600" y="1438275"/>
            <a:ext cx="10953750" cy="5524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Перед шагом i = 3: { 1, 4, 5, 2, 3 }. Сохраняем key = 2.</a:t>
            </a:r>
          </a:p>
        </p:txBody>
      </p:sp>
      <p:graphicFrame>
        <p:nvGraphicFramePr>
          <p:cNvPr id="5" name="Таблица 4">
            <a:extLst>
              <a:ext uri="{FF2B5EF4-FFF2-40B4-BE49-F238E27FC236}">
                <a16:creationId xmlns:a16="http://schemas.microsoft.com/office/drawing/2014/main" id="{B0B52DA6-B2EE-4043-8F16-37068A0166E1}"/>
              </a:ext>
            </a:extLst>
          </p:cNvPr>
          <p:cNvGraphicFramePr/>
          <p:nvPr/>
        </p:nvGraphicFramePr>
        <p:xfrm>
          <a:off x="609600" y="2190750"/>
          <a:ext cx="10972800" cy="2857500"/>
        </p:xfrm>
        <a:graphic>
          <a:graphicData uri="http://schemas.openxmlformats.org/drawingml/2006/table">
            <a:tbl>
              <a:tblPr/>
              <a:tblGrid>
                <a:gridCol w="6096000">
                  <a:extLst>
                    <a:ext uri="{9D8B030D-6E8A-4147-A177-3AD203B41FA5}">
                      <a16:colId xmlns:a16="http://schemas.microsoft.com/office/drawing/2014/main" val="20000"/>
                    </a:ext>
                  </a:extLst>
                </a:gridCol>
                <a:gridCol w="34480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571500">
                <a:tc>
                  <a:txBody>
                    <a:bodyPr/>
                    <a:lstStyle/>
                    <a:p>
                      <a:r>
                        <a:rPr sz="1875" b="1">
                          <a:solidFill>
                            <a:srgbClr val="FFFFFF"/>
                          </a:solidFill>
                          <a:latin typeface="DejaVu Sans"/>
                          <a:ea typeface="DejaVu Sans"/>
                          <a:cs typeface="DejaVu Sans"/>
                        </a:rPr>
                        <a:t>Действие</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75" b="1">
                          <a:solidFill>
                            <a:srgbClr val="FFFFFF"/>
                          </a:solidFill>
                          <a:latin typeface="DejaVu Sans"/>
                          <a:ea typeface="DejaVu Sans"/>
                          <a:cs typeface="DejaVu Sans"/>
                        </a:rPr>
                        <a:t>Массив</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75" b="1">
                          <a:solidFill>
                            <a:srgbClr val="FFFFFF"/>
                          </a:solidFill>
                          <a:latin typeface="DejaVu Sans"/>
                          <a:ea typeface="DejaVu Sans"/>
                          <a:cs typeface="DejaVu Sans"/>
                        </a:rPr>
                        <a:t>key</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71500">
                <a:tc>
                  <a:txBody>
                    <a:bodyPr/>
                    <a:lstStyle/>
                    <a:p>
                      <a:r>
                        <a:rPr sz="1875" b="0">
                          <a:solidFill>
                            <a:srgbClr val="283C4F"/>
                          </a:solidFill>
                          <a:latin typeface="DejaVu Sans"/>
                          <a:ea typeface="DejaVu Sans"/>
                          <a:cs typeface="DejaVu Sans"/>
                        </a:rPr>
                        <a:t>5 &gt; 2: сдвигаем 5 вправо</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1 4 5 5 3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71500">
                <a:tc>
                  <a:txBody>
                    <a:bodyPr/>
                    <a:lstStyle/>
                    <a:p>
                      <a:r>
                        <a:rPr sz="1875" b="0">
                          <a:solidFill>
                            <a:srgbClr val="283C4F"/>
                          </a:solidFill>
                          <a:latin typeface="DejaVu Sans"/>
                          <a:ea typeface="DejaVu Sans"/>
                          <a:cs typeface="DejaVu Sans"/>
                        </a:rPr>
                        <a:t>4 &gt; 2: сдвигаем 4 вправо</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1 4 4 5 3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875" b="0">
                          <a:solidFill>
                            <a:srgbClr val="283C4F"/>
                          </a:solidFill>
                          <a:latin typeface="DejaVu Sans"/>
                          <a:ea typeface="DejaVu Sans"/>
                          <a:cs typeface="DejaVu Sans"/>
                        </a:rPr>
                        <a:t>1 &gt; 2: false, сдвиги завершены</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1 4 4 5 3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71500">
                <a:tc>
                  <a:txBody>
                    <a:bodyPr/>
                    <a:lstStyle/>
                    <a:p>
                      <a:r>
                        <a:rPr sz="1875" b="0">
                          <a:solidFill>
                            <a:srgbClr val="283C4F"/>
                          </a:solidFill>
                          <a:latin typeface="DejaVu Sans"/>
                          <a:ea typeface="DejaVu Sans"/>
                          <a:cs typeface="DejaVu Sans"/>
                        </a:rPr>
                        <a:t>Записываем key в a[1]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1 2 4 5 3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result">
            <a:extLst>
              <a:ext uri="{FF2B5EF4-FFF2-40B4-BE49-F238E27FC236}">
                <a16:creationId xmlns:a16="http://schemas.microsoft.com/office/drawing/2014/main" id="{F6E62BB4-FAFE-4EFA-BF26-4E26BA2476CE}"/>
              </a:ext>
            </a:extLst>
          </p:cNvPr>
          <p:cNvSpPr>
            <a:spLocks noGrp="1"/>
          </p:cNvSpPr>
          <p:nvPr/>
        </p:nvSpPr>
        <p:spPr>
          <a:xfrm>
            <a:off x="609600" y="5467350"/>
            <a:ext cx="10906125" cy="752475"/>
          </a:xfrm>
          <a:prstGeom prst="rect">
            <a:avLst/>
          </a:prstGeom>
          <a:noFill/>
          <a:ln w="0">
            <a:noFill/>
            <a:prstDash val="solid"/>
          </a:ln>
        </p:spPr>
        <p:txBody>
          <a:bodyPr wrap="square" lIns="0" tIns="0" rIns="0" bIns="0" anchor="t">
            <a:noAutofit/>
          </a:bodyPr>
          <a:lstStyle>
            <a:defPPr>
              <a:defRPr sz="1950" b="1">
                <a:solidFill>
                  <a:srgbClr val="007F78"/>
                </a:solidFill>
                <a:latin typeface="DejaVu Sans"/>
                <a:ea typeface="DejaVu Sans"/>
                <a:cs typeface="DejaVu Sans"/>
              </a:defRPr>
            </a:defPPr>
            <a:lvl1pPr>
              <a:defRPr sz="1950" b="1">
                <a:solidFill>
                  <a:srgbClr val="007F78"/>
                </a:solidFill>
                <a:latin typeface="DejaVu Sans"/>
                <a:ea typeface="DejaVu Sans"/>
                <a:cs typeface="DejaVu Sans"/>
              </a:defRPr>
            </a:lvl1pPr>
            <a:lvl2pPr>
              <a:defRPr sz="1950" b="1">
                <a:solidFill>
                  <a:srgbClr val="007F78"/>
                </a:solidFill>
                <a:latin typeface="DejaVu Sans"/>
                <a:ea typeface="DejaVu Sans"/>
                <a:cs typeface="DejaVu Sans"/>
              </a:defRPr>
            </a:lvl2pPr>
            <a:lvl3pPr>
              <a:defRPr sz="1950" b="1">
                <a:solidFill>
                  <a:srgbClr val="007F78"/>
                </a:solidFill>
                <a:latin typeface="DejaVu Sans"/>
                <a:ea typeface="DejaVu Sans"/>
                <a:cs typeface="DejaVu Sans"/>
              </a:defRPr>
            </a:lvl3pPr>
            <a:lvl4pPr>
              <a:defRPr sz="1950" b="1">
                <a:solidFill>
                  <a:srgbClr val="007F78"/>
                </a:solidFill>
                <a:latin typeface="DejaVu Sans"/>
                <a:ea typeface="DejaVu Sans"/>
                <a:cs typeface="DejaVu Sans"/>
              </a:defRPr>
            </a:lvl4pPr>
            <a:lvl5pPr>
              <a:defRPr sz="1950" b="1">
                <a:solidFill>
                  <a:srgbClr val="007F78"/>
                </a:solidFill>
                <a:latin typeface="DejaVu Sans"/>
                <a:ea typeface="DejaVu Sans"/>
                <a:cs typeface="DejaVu Sans"/>
              </a:defRPr>
            </a:lvl5pPr>
            <a:lvl6pPr>
              <a:defRPr sz="1950" b="1">
                <a:solidFill>
                  <a:srgbClr val="007F78"/>
                </a:solidFill>
                <a:latin typeface="DejaVu Sans"/>
                <a:ea typeface="DejaVu Sans"/>
                <a:cs typeface="DejaVu Sans"/>
              </a:defRPr>
            </a:lvl6pPr>
            <a:lvl7pPr>
              <a:defRPr sz="1950" b="1">
                <a:solidFill>
                  <a:srgbClr val="007F78"/>
                </a:solidFill>
                <a:latin typeface="DejaVu Sans"/>
                <a:ea typeface="DejaVu Sans"/>
                <a:cs typeface="DejaVu Sans"/>
              </a:defRPr>
            </a:lvl7pPr>
            <a:lvl8pPr>
              <a:defRPr sz="1950" b="1">
                <a:solidFill>
                  <a:srgbClr val="007F78"/>
                </a:solidFill>
                <a:latin typeface="DejaVu Sans"/>
                <a:ea typeface="DejaVu Sans"/>
                <a:cs typeface="DejaVu Sans"/>
              </a:defRPr>
            </a:lvl8pPr>
            <a:lvl9pPr>
              <a:defRPr sz="1950" b="1">
                <a:solidFill>
                  <a:srgbClr val="007F78"/>
                </a:solidFill>
                <a:latin typeface="DejaVu Sans"/>
                <a:ea typeface="DejaVu Sans"/>
                <a:cs typeface="DejaVu Sans"/>
              </a:defRPr>
            </a:lvl9pPr>
          </a:lstStyle>
          <a:p>
            <a:pPr>
              <a:defRPr sz="1950" b="1">
                <a:solidFill>
                  <a:srgbClr val="007F78"/>
                </a:solidFill>
                <a:latin typeface="DejaVu Sans"/>
                <a:ea typeface="DejaVu Sans"/>
                <a:cs typeface="DejaVu Sans"/>
              </a:defRPr>
            </a:pPr>
            <a:r>
              <a:rPr sz="1950" b="1">
                <a:solidFill>
                  <a:srgbClr val="007F78"/>
                </a:solidFill>
                <a:latin typeface="DejaVu Sans"/>
                <a:ea typeface="DejaVu Sans"/>
                <a:cs typeface="DejaVu Sans"/>
              </a:rPr>
              <a:t>Повторения во время сдвигов временные. Исходное число 2 хранится в key.</a:t>
            </a:r>
          </a:p>
        </p:txBody>
      </p:sp>
    </p:spTree>
    <p:extLst>
      <p:ext uri="{BB962C8B-B14F-4D97-AF65-F5344CB8AC3E}">
        <p14:creationId xmlns:p14="http://schemas.microsoft.com/office/powerpoint/2010/main" val="484018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6969082-4E41-4EB1-9467-0221784B49AF}"/>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Сортировка вставками: код C#</a:t>
            </a:r>
          </a:p>
        </p:txBody>
      </p:sp>
      <p:sp>
        <p:nvSpPr>
          <p:cNvPr id="2" name="section">
            <a:extLst>
              <a:ext uri="{FF2B5EF4-FFF2-40B4-BE49-F238E27FC236}">
                <a16:creationId xmlns:a16="http://schemas.microsoft.com/office/drawing/2014/main" id="{96438D06-57A9-4291-ABDB-528C552D0795}"/>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a:t>
            </a:r>
          </a:p>
        </p:txBody>
      </p:sp>
      <p:sp>
        <p:nvSpPr>
          <p:cNvPr id="3" name="number">
            <a:extLst>
              <a:ext uri="{FF2B5EF4-FFF2-40B4-BE49-F238E27FC236}">
                <a16:creationId xmlns:a16="http://schemas.microsoft.com/office/drawing/2014/main" id="{58C50653-D5D4-4A9B-B177-4E85EAEA3460}"/>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41</a:t>
            </a:r>
          </a:p>
        </p:txBody>
      </p:sp>
      <p:sp>
        <p:nvSpPr>
          <p:cNvPr id="4" name="intro">
            <a:extLst>
              <a:ext uri="{FF2B5EF4-FFF2-40B4-BE49-F238E27FC236}">
                <a16:creationId xmlns:a16="http://schemas.microsoft.com/office/drawing/2014/main" id="{10CD11F1-DBC2-45B4-8E1C-6B4E16AC7A25}"/>
              </a:ext>
            </a:extLst>
          </p:cNvPr>
          <p:cNvSpPr>
            <a:spLocks noGrp="1"/>
          </p:cNvSpPr>
          <p:nvPr/>
        </p:nvSpPr>
        <p:spPr>
          <a:xfrm>
            <a:off x="609600" y="1390650"/>
            <a:ext cx="10972800" cy="476250"/>
          </a:xfrm>
          <a:prstGeom prst="rect">
            <a:avLst/>
          </a:prstGeom>
          <a:noFill/>
          <a:ln w="0">
            <a:noFill/>
            <a:prstDash val="solid"/>
          </a:ln>
        </p:spPr>
        <p:txBody>
          <a:bodyPr wrap="square" lIns="0" tIns="0" rIns="0" bIns="0" anchor="t">
            <a:noAutofit/>
          </a:bodyPr>
          <a:lstStyle>
            <a:defPPr>
              <a:defRPr sz="1875" b="0">
                <a:solidFill>
                  <a:srgbClr val="283C4F"/>
                </a:solidFill>
                <a:latin typeface="DejaVu Sans"/>
                <a:ea typeface="DejaVu Sans"/>
                <a:cs typeface="DejaVu Sans"/>
              </a:defRPr>
            </a:defPPr>
            <a:lvl1pPr>
              <a:defRPr sz="1875" b="0">
                <a:solidFill>
                  <a:srgbClr val="283C4F"/>
                </a:solidFill>
                <a:latin typeface="DejaVu Sans"/>
                <a:ea typeface="DejaVu Sans"/>
                <a:cs typeface="DejaVu Sans"/>
              </a:defRPr>
            </a:lvl1pPr>
            <a:lvl2pPr>
              <a:defRPr sz="1875" b="0">
                <a:solidFill>
                  <a:srgbClr val="283C4F"/>
                </a:solidFill>
                <a:latin typeface="DejaVu Sans"/>
                <a:ea typeface="DejaVu Sans"/>
                <a:cs typeface="DejaVu Sans"/>
              </a:defRPr>
            </a:lvl2pPr>
            <a:lvl3pPr>
              <a:defRPr sz="1875" b="0">
                <a:solidFill>
                  <a:srgbClr val="283C4F"/>
                </a:solidFill>
                <a:latin typeface="DejaVu Sans"/>
                <a:ea typeface="DejaVu Sans"/>
                <a:cs typeface="DejaVu Sans"/>
              </a:defRPr>
            </a:lvl3pPr>
            <a:lvl4pPr>
              <a:defRPr sz="1875" b="0">
                <a:solidFill>
                  <a:srgbClr val="283C4F"/>
                </a:solidFill>
                <a:latin typeface="DejaVu Sans"/>
                <a:ea typeface="DejaVu Sans"/>
                <a:cs typeface="DejaVu Sans"/>
              </a:defRPr>
            </a:lvl4pPr>
            <a:lvl5pPr>
              <a:defRPr sz="1875" b="0">
                <a:solidFill>
                  <a:srgbClr val="283C4F"/>
                </a:solidFill>
                <a:latin typeface="DejaVu Sans"/>
                <a:ea typeface="DejaVu Sans"/>
                <a:cs typeface="DejaVu Sans"/>
              </a:defRPr>
            </a:lvl5pPr>
            <a:lvl6pPr>
              <a:defRPr sz="1875" b="0">
                <a:solidFill>
                  <a:srgbClr val="283C4F"/>
                </a:solidFill>
                <a:latin typeface="DejaVu Sans"/>
                <a:ea typeface="DejaVu Sans"/>
                <a:cs typeface="DejaVu Sans"/>
              </a:defRPr>
            </a:lvl6pPr>
            <a:lvl7pPr>
              <a:defRPr sz="1875" b="0">
                <a:solidFill>
                  <a:srgbClr val="283C4F"/>
                </a:solidFill>
                <a:latin typeface="DejaVu Sans"/>
                <a:ea typeface="DejaVu Sans"/>
                <a:cs typeface="DejaVu Sans"/>
              </a:defRPr>
            </a:lvl7pPr>
            <a:lvl8pPr>
              <a:defRPr sz="1875" b="0">
                <a:solidFill>
                  <a:srgbClr val="283C4F"/>
                </a:solidFill>
                <a:latin typeface="DejaVu Sans"/>
                <a:ea typeface="DejaVu Sans"/>
                <a:cs typeface="DejaVu Sans"/>
              </a:defRPr>
            </a:lvl8pPr>
            <a:lvl9pPr>
              <a:defRPr sz="1875" b="0">
                <a:solidFill>
                  <a:srgbClr val="283C4F"/>
                </a:solidFill>
                <a:latin typeface="DejaVu Sans"/>
                <a:ea typeface="DejaVu Sans"/>
                <a:cs typeface="DejaVu Sans"/>
              </a:defRPr>
            </a:lvl9pPr>
          </a:lstStyle>
          <a:p>
            <a:pPr>
              <a:defRPr sz="1875" b="0">
                <a:solidFill>
                  <a:srgbClr val="283C4F"/>
                </a:solidFill>
                <a:latin typeface="DejaVu Sans"/>
                <a:ea typeface="DejaVu Sans"/>
                <a:cs typeface="DejaVu Sans"/>
              </a:defRPr>
            </a:pPr>
            <a:r>
              <a:rPr sz="1875" b="0">
                <a:solidFill>
                  <a:srgbClr val="283C4F"/>
                </a:solidFill>
                <a:latin typeface="DejaVu Sans"/>
                <a:ea typeface="DejaVu Sans"/>
                <a:cs typeface="DejaVu Sans"/>
              </a:rPr>
              <a:t>i — индекс вставляемого элемента. j движется по отсортированной части справа налево.</a:t>
            </a:r>
          </a:p>
        </p:txBody>
      </p:sp>
      <p:sp>
        <p:nvSpPr>
          <p:cNvPr id="5" name="code">
            <a:extLst>
              <a:ext uri="{FF2B5EF4-FFF2-40B4-BE49-F238E27FC236}">
                <a16:creationId xmlns:a16="http://schemas.microsoft.com/office/drawing/2014/main" id="{AF98177C-D956-4C0B-AC4F-B24C7284F868}"/>
              </a:ext>
            </a:extLst>
          </p:cNvPr>
          <p:cNvSpPr>
            <a:spLocks noGrp="1"/>
          </p:cNvSpPr>
          <p:nvPr/>
        </p:nvSpPr>
        <p:spPr>
          <a:xfrm>
            <a:off x="609600" y="1981200"/>
            <a:ext cx="10972800" cy="385762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defRPr sz="1875" b="0">
                <a:solidFill>
                  <a:srgbClr val="283C4F"/>
                </a:solidFill>
                <a:latin typeface="DejaVu Sans Mono"/>
                <a:ea typeface="DejaVu Sans Mono"/>
                <a:cs typeface="DejaVu Sans Mono"/>
              </a:defRPr>
            </a:lvl1pPr>
            <a:lvl2pPr>
              <a:defRPr sz="1875" b="0">
                <a:solidFill>
                  <a:srgbClr val="283C4F"/>
                </a:solidFill>
                <a:latin typeface="DejaVu Sans Mono"/>
                <a:ea typeface="DejaVu Sans Mono"/>
                <a:cs typeface="DejaVu Sans Mono"/>
              </a:defRPr>
            </a:lvl2pPr>
            <a:lvl3pPr>
              <a:defRPr sz="1875" b="0">
                <a:solidFill>
                  <a:srgbClr val="283C4F"/>
                </a:solidFill>
                <a:latin typeface="DejaVu Sans Mono"/>
                <a:ea typeface="DejaVu Sans Mono"/>
                <a:cs typeface="DejaVu Sans Mono"/>
              </a:defRPr>
            </a:lvl3pPr>
            <a:lvl4pPr>
              <a:defRPr sz="1875" b="0">
                <a:solidFill>
                  <a:srgbClr val="283C4F"/>
                </a:solidFill>
                <a:latin typeface="DejaVu Sans Mono"/>
                <a:ea typeface="DejaVu Sans Mono"/>
                <a:cs typeface="DejaVu Sans Mono"/>
              </a:defRPr>
            </a:lvl4pPr>
            <a:lvl5pPr>
              <a:defRPr sz="1875" b="0">
                <a:solidFill>
                  <a:srgbClr val="283C4F"/>
                </a:solidFill>
                <a:latin typeface="DejaVu Sans Mono"/>
                <a:ea typeface="DejaVu Sans Mono"/>
                <a:cs typeface="DejaVu Sans Mono"/>
              </a:defRPr>
            </a:lvl5pPr>
            <a:lvl6pPr>
              <a:defRPr sz="1875" b="0">
                <a:solidFill>
                  <a:srgbClr val="283C4F"/>
                </a:solidFill>
                <a:latin typeface="DejaVu Sans Mono"/>
                <a:ea typeface="DejaVu Sans Mono"/>
                <a:cs typeface="DejaVu Sans Mono"/>
              </a:defRPr>
            </a:lvl6pPr>
            <a:lvl7pPr>
              <a:defRPr sz="1875" b="0">
                <a:solidFill>
                  <a:srgbClr val="283C4F"/>
                </a:solidFill>
                <a:latin typeface="DejaVu Sans Mono"/>
                <a:ea typeface="DejaVu Sans Mono"/>
                <a:cs typeface="DejaVu Sans Mono"/>
              </a:defRPr>
            </a:lvl7pPr>
            <a:lvl8pPr>
              <a:defRPr sz="1875" b="0">
                <a:solidFill>
                  <a:srgbClr val="283C4F"/>
                </a:solidFill>
                <a:latin typeface="DejaVu Sans Mono"/>
                <a:ea typeface="DejaVu Sans Mono"/>
                <a:cs typeface="DejaVu Sans Mono"/>
              </a:defRPr>
            </a:lvl8pPr>
            <a:lvl9pPr>
              <a:defRPr sz="1875" b="0">
                <a:solidFill>
                  <a:srgbClr val="283C4F"/>
                </a:solidFill>
                <a:latin typeface="DejaVu Sans Mono"/>
                <a:ea typeface="DejaVu Sans Mono"/>
                <a:cs typeface="DejaVu Sans Mono"/>
              </a:defRPr>
            </a:lvl9pPr>
          </a:lstStyle>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5, 1, 4, 2, 3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1; i &lt; a.Length; i++)</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int key = a[i];</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int j = i - 1;</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while (j &gt;= 0 &amp;&amp; a[j] &gt; key)</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a[j + 1] = a[j];</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j--;</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a[j + 1] = key;</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6" name="result">
            <a:extLst>
              <a:ext uri="{FF2B5EF4-FFF2-40B4-BE49-F238E27FC236}">
                <a16:creationId xmlns:a16="http://schemas.microsoft.com/office/drawing/2014/main" id="{3AE63F3E-84C8-4D6B-891F-87060314D39D}"/>
              </a:ext>
            </a:extLst>
          </p:cNvPr>
          <p:cNvSpPr>
            <a:spLocks noGrp="1"/>
          </p:cNvSpPr>
          <p:nvPr/>
        </p:nvSpPr>
        <p:spPr>
          <a:xfrm>
            <a:off x="609600" y="5943600"/>
            <a:ext cx="10972800" cy="352425"/>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defRPr sz="1800" b="1">
                <a:solidFill>
                  <a:srgbClr val="007F78"/>
                </a:solidFill>
                <a:latin typeface="DejaVu Sans"/>
                <a:ea typeface="DejaVu Sans"/>
                <a:cs typeface="DejaVu Sans"/>
              </a:defRPr>
            </a:lvl1pPr>
            <a:lvl2pPr>
              <a:defRPr sz="1800" b="1">
                <a:solidFill>
                  <a:srgbClr val="007F78"/>
                </a:solidFill>
                <a:latin typeface="DejaVu Sans"/>
                <a:ea typeface="DejaVu Sans"/>
                <a:cs typeface="DejaVu Sans"/>
              </a:defRPr>
            </a:lvl2pPr>
            <a:lvl3pPr>
              <a:defRPr sz="1800" b="1">
                <a:solidFill>
                  <a:srgbClr val="007F78"/>
                </a:solidFill>
                <a:latin typeface="DejaVu Sans"/>
                <a:ea typeface="DejaVu Sans"/>
                <a:cs typeface="DejaVu Sans"/>
              </a:defRPr>
            </a:lvl3pPr>
            <a:lvl4pPr>
              <a:defRPr sz="1800" b="1">
                <a:solidFill>
                  <a:srgbClr val="007F78"/>
                </a:solidFill>
                <a:latin typeface="DejaVu Sans"/>
                <a:ea typeface="DejaVu Sans"/>
                <a:cs typeface="DejaVu Sans"/>
              </a:defRPr>
            </a:lvl4pPr>
            <a:lvl5pPr>
              <a:defRPr sz="1800" b="1">
                <a:solidFill>
                  <a:srgbClr val="007F78"/>
                </a:solidFill>
                <a:latin typeface="DejaVu Sans"/>
                <a:ea typeface="DejaVu Sans"/>
                <a:cs typeface="DejaVu Sans"/>
              </a:defRPr>
            </a:lvl5pPr>
            <a:lvl6pPr>
              <a:defRPr sz="1800" b="1">
                <a:solidFill>
                  <a:srgbClr val="007F78"/>
                </a:solidFill>
                <a:latin typeface="DejaVu Sans"/>
                <a:ea typeface="DejaVu Sans"/>
                <a:cs typeface="DejaVu Sans"/>
              </a:defRPr>
            </a:lvl6pPr>
            <a:lvl7pPr>
              <a:defRPr sz="1800" b="1">
                <a:solidFill>
                  <a:srgbClr val="007F78"/>
                </a:solidFill>
                <a:latin typeface="DejaVu Sans"/>
                <a:ea typeface="DejaVu Sans"/>
                <a:cs typeface="DejaVu Sans"/>
              </a:defRPr>
            </a:lvl7pPr>
            <a:lvl8pPr>
              <a:defRPr sz="1800" b="1">
                <a:solidFill>
                  <a:srgbClr val="007F78"/>
                </a:solidFill>
                <a:latin typeface="DejaVu Sans"/>
                <a:ea typeface="DejaVu Sans"/>
                <a:cs typeface="DejaVu Sans"/>
              </a:defRPr>
            </a:lvl8pPr>
            <a:lvl9pPr>
              <a:defRPr sz="1800" b="1">
                <a:solidFill>
                  <a:srgbClr val="007F78"/>
                </a:solidFill>
                <a:latin typeface="DejaVu Sans"/>
                <a:ea typeface="DejaVu Sans"/>
                <a:cs typeface="DejaVu Sans"/>
              </a:defRPr>
            </a:lvl9pPr>
          </a:lstStyle>
          <a:p>
            <a:pPr>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При j == -1 условие &amp;&amp; не вычисляет a[j]. key записывается в a[0].</a:t>
            </a:r>
          </a:p>
        </p:txBody>
      </p:sp>
    </p:spTree>
    <p:extLst>
      <p:ext uri="{BB962C8B-B14F-4D97-AF65-F5344CB8AC3E}">
        <p14:creationId xmlns:p14="http://schemas.microsoft.com/office/powerpoint/2010/main" val="4599177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D45C440-0F83-47B9-B2F5-1AEC2B9481FD}"/>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Вставки: рост отсортированной части</a:t>
            </a:r>
          </a:p>
        </p:txBody>
      </p:sp>
      <p:sp>
        <p:nvSpPr>
          <p:cNvPr id="2" name="section">
            <a:extLst>
              <a:ext uri="{FF2B5EF4-FFF2-40B4-BE49-F238E27FC236}">
                <a16:creationId xmlns:a16="http://schemas.microsoft.com/office/drawing/2014/main" id="{8F429F6B-DD20-49E1-A515-DCF518054D82}"/>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Сортировка вставками</a:t>
            </a:r>
          </a:p>
        </p:txBody>
      </p:sp>
      <p:sp>
        <p:nvSpPr>
          <p:cNvPr id="3" name="number">
            <a:extLst>
              <a:ext uri="{FF2B5EF4-FFF2-40B4-BE49-F238E27FC236}">
                <a16:creationId xmlns:a16="http://schemas.microsoft.com/office/drawing/2014/main" id="{1430DAF7-08B5-4E02-88B7-E23DD41A21BE}"/>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42</a:t>
            </a:r>
          </a:p>
        </p:txBody>
      </p:sp>
      <p:graphicFrame>
        <p:nvGraphicFramePr>
          <p:cNvPr id="4" name="Таблица 3">
            <a:extLst>
              <a:ext uri="{FF2B5EF4-FFF2-40B4-BE49-F238E27FC236}">
                <a16:creationId xmlns:a16="http://schemas.microsoft.com/office/drawing/2014/main" id="{49570A3F-368D-412F-A726-FD086C36E00A}"/>
              </a:ext>
            </a:extLst>
          </p:cNvPr>
          <p:cNvGraphicFramePr/>
          <p:nvPr/>
        </p:nvGraphicFramePr>
        <p:xfrm>
          <a:off x="609600" y="1581150"/>
          <a:ext cx="10972800" cy="3371850"/>
        </p:xfrm>
        <a:graphic>
          <a:graphicData uri="http://schemas.openxmlformats.org/drawingml/2006/table">
            <a:tbl>
              <a:tblPr/>
              <a:tblGrid>
                <a:gridCol w="1905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gridCol w="3667125">
                  <a:extLst>
                    <a:ext uri="{9D8B030D-6E8A-4147-A177-3AD203B41FA5}">
                      <a16:colId xmlns:a16="http://schemas.microsoft.com/office/drawing/2014/main" val="20003"/>
                    </a:ext>
                  </a:extLst>
                </a:gridCol>
              </a:tblGrid>
              <a:tr h="561975">
                <a:tc>
                  <a:txBody>
                    <a:bodyPr/>
                    <a:lstStyle/>
                    <a:p>
                      <a:r>
                        <a:rPr sz="1875" b="1">
                          <a:solidFill>
                            <a:srgbClr val="FFFFFF"/>
                          </a:solidFill>
                          <a:latin typeface="DejaVu Sans"/>
                          <a:ea typeface="DejaVu Sans"/>
                          <a:cs typeface="DejaVu Sans"/>
                        </a:rPr>
                        <a:t>Шаг</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75" b="1">
                          <a:solidFill>
                            <a:srgbClr val="FFFFFF"/>
                          </a:solidFill>
                          <a:latin typeface="DejaVu Sans"/>
                          <a:ea typeface="DejaVu Sans"/>
                          <a:cs typeface="DejaVu Sans"/>
                        </a:rPr>
                        <a:t>key</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75" b="1">
                          <a:solidFill>
                            <a:srgbClr val="FFFFFF"/>
                          </a:solidFill>
                          <a:latin typeface="DejaVu Sans"/>
                          <a:ea typeface="DejaVu Sans"/>
                          <a:cs typeface="DejaVu Sans"/>
                        </a:rPr>
                        <a:t>Массив после вставки</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1875" b="1">
                          <a:solidFill>
                            <a:srgbClr val="FFFFFF"/>
                          </a:solidFill>
                          <a:latin typeface="DejaVu Sans"/>
                          <a:ea typeface="DejaVu Sans"/>
                          <a:cs typeface="DejaVu Sans"/>
                        </a:rPr>
                        <a:t>Отсортировано слева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61975">
                <a:tc>
                  <a:txBody>
                    <a:bodyPr/>
                    <a:lstStyle/>
                    <a:p>
                      <a:r>
                        <a:rPr sz="1875" b="0">
                          <a:solidFill>
                            <a:srgbClr val="283C4F"/>
                          </a:solidFill>
                          <a:latin typeface="DejaVu Sans"/>
                          <a:ea typeface="DejaVu Sans"/>
                          <a:cs typeface="DejaVu Sans"/>
                        </a:rPr>
                        <a:t>До цикла</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5 1 4 2 3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1 элемент</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r h="561975">
                <a:tc>
                  <a:txBody>
                    <a:bodyPr/>
                    <a:lstStyle/>
                    <a:p>
                      <a:r>
                        <a:rPr sz="1875" b="0">
                          <a:solidFill>
                            <a:srgbClr val="283C4F"/>
                          </a:solidFill>
                          <a:latin typeface="DejaVu Sans"/>
                          <a:ea typeface="DejaVu Sans"/>
                          <a:cs typeface="DejaVu Sans"/>
                        </a:rPr>
                        <a:t>i = 1</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1</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1 5 4 2 3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2 элемента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2"/>
                  </a:ext>
                </a:extLst>
              </a:tr>
              <a:tr h="561975">
                <a:tc>
                  <a:txBody>
                    <a:bodyPr/>
                    <a:lstStyle/>
                    <a:p>
                      <a:r>
                        <a:rPr sz="1875" b="0">
                          <a:solidFill>
                            <a:srgbClr val="283C4F"/>
                          </a:solidFill>
                          <a:latin typeface="DejaVu Sans"/>
                          <a:ea typeface="DejaVu Sans"/>
                          <a:cs typeface="DejaVu Sans"/>
                        </a:rPr>
                        <a:t>i = 2</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1 4 5 2 3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3 элемента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3"/>
                  </a:ext>
                </a:extLst>
              </a:tr>
              <a:tr h="561975">
                <a:tc>
                  <a:txBody>
                    <a:bodyPr/>
                    <a:lstStyle/>
                    <a:p>
                      <a:r>
                        <a:rPr sz="1875" b="0">
                          <a:solidFill>
                            <a:srgbClr val="283C4F"/>
                          </a:solidFill>
                          <a:latin typeface="DejaVu Sans"/>
                          <a:ea typeface="DejaVu Sans"/>
                          <a:cs typeface="DejaVu Sans"/>
                        </a:rPr>
                        <a:t>i = 3</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2</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1 2 4 5 3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tc>
                  <a:txBody>
                    <a:bodyPr/>
                    <a:lstStyle/>
                    <a:p>
                      <a:r>
                        <a:rPr sz="1875" b="0">
                          <a:solidFill>
                            <a:srgbClr val="283C4F"/>
                          </a:solidFill>
                          <a:latin typeface="DejaVu Sans"/>
                          <a:ea typeface="DejaVu Sans"/>
                          <a:cs typeface="DejaVu Sans"/>
                        </a:rPr>
                        <a:t>4 элемента</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FFFFF"/>
                    </a:solidFill>
                  </a:tcPr>
                </a:tc>
                <a:extLst>
                  <a:ext uri="{0D108BD9-81ED-4DB2-BD59-A6C34878D82A}">
                    <a16:rowId xmlns:a16="http://schemas.microsoft.com/office/drawing/2014/main" val="10004"/>
                  </a:ext>
                </a:extLst>
              </a:tr>
              <a:tr h="561975">
                <a:tc>
                  <a:txBody>
                    <a:bodyPr/>
                    <a:lstStyle/>
                    <a:p>
                      <a:r>
                        <a:rPr sz="1875" b="0">
                          <a:solidFill>
                            <a:srgbClr val="283C4F"/>
                          </a:solidFill>
                          <a:latin typeface="DejaVu Sans"/>
                          <a:ea typeface="DejaVu Sans"/>
                          <a:cs typeface="DejaVu Sans"/>
                        </a:rPr>
                        <a:t>i = 4</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3</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1 2 3 4 5</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1875" b="0">
                          <a:solidFill>
                            <a:srgbClr val="283C4F"/>
                          </a:solidFill>
                          <a:latin typeface="DejaVu Sans"/>
                          <a:ea typeface="DejaVu Sans"/>
                          <a:cs typeface="DejaVu Sans"/>
                        </a:rPr>
                        <a:t>5 элементов</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5"/>
                  </a:ext>
                </a:extLst>
              </a:tr>
            </a:tbl>
          </a:graphicData>
        </a:graphic>
      </p:graphicFrame>
      <p:sp>
        <p:nvSpPr>
          <p:cNvPr id="5" name="result">
            <a:extLst>
              <a:ext uri="{FF2B5EF4-FFF2-40B4-BE49-F238E27FC236}">
                <a16:creationId xmlns:a16="http://schemas.microsoft.com/office/drawing/2014/main" id="{CA9A26D1-4021-42EB-B707-47D556433A7A}"/>
              </a:ext>
            </a:extLst>
          </p:cNvPr>
          <p:cNvSpPr>
            <a:spLocks noGrp="1"/>
          </p:cNvSpPr>
          <p:nvPr/>
        </p:nvSpPr>
        <p:spPr>
          <a:xfrm>
            <a:off x="609600" y="5419725"/>
            <a:ext cx="10906125" cy="600075"/>
          </a:xfrm>
          <a:prstGeom prst="rect">
            <a:avLst/>
          </a:prstGeom>
          <a:noFill/>
          <a:ln w="0">
            <a:noFill/>
            <a:prstDash val="solid"/>
          </a:ln>
        </p:spPr>
        <p:txBody>
          <a:bodyPr wrap="square" lIns="0" tIns="0" rIns="0" bIns="0" anchor="t">
            <a:noAutofit/>
          </a:bodyPr>
          <a:lstStyle>
            <a:defPPr>
              <a:defRPr sz="2025" b="1">
                <a:solidFill>
                  <a:srgbClr val="007F78"/>
                </a:solidFill>
                <a:latin typeface="DejaVu Sans"/>
                <a:ea typeface="DejaVu Sans"/>
                <a:cs typeface="DejaVu Sans"/>
              </a:defRPr>
            </a:defPPr>
            <a:lvl1pPr>
              <a:defRPr sz="2025" b="1">
                <a:solidFill>
                  <a:srgbClr val="007F78"/>
                </a:solidFill>
                <a:latin typeface="DejaVu Sans"/>
                <a:ea typeface="DejaVu Sans"/>
                <a:cs typeface="DejaVu Sans"/>
              </a:defRPr>
            </a:lvl1pPr>
            <a:lvl2pPr>
              <a:defRPr sz="2025" b="1">
                <a:solidFill>
                  <a:srgbClr val="007F78"/>
                </a:solidFill>
                <a:latin typeface="DejaVu Sans"/>
                <a:ea typeface="DejaVu Sans"/>
                <a:cs typeface="DejaVu Sans"/>
              </a:defRPr>
            </a:lvl2pPr>
            <a:lvl3pPr>
              <a:defRPr sz="2025" b="1">
                <a:solidFill>
                  <a:srgbClr val="007F78"/>
                </a:solidFill>
                <a:latin typeface="DejaVu Sans"/>
                <a:ea typeface="DejaVu Sans"/>
                <a:cs typeface="DejaVu Sans"/>
              </a:defRPr>
            </a:lvl3pPr>
            <a:lvl4pPr>
              <a:defRPr sz="2025" b="1">
                <a:solidFill>
                  <a:srgbClr val="007F78"/>
                </a:solidFill>
                <a:latin typeface="DejaVu Sans"/>
                <a:ea typeface="DejaVu Sans"/>
                <a:cs typeface="DejaVu Sans"/>
              </a:defRPr>
            </a:lvl4pPr>
            <a:lvl5pPr>
              <a:defRPr sz="2025" b="1">
                <a:solidFill>
                  <a:srgbClr val="007F78"/>
                </a:solidFill>
                <a:latin typeface="DejaVu Sans"/>
                <a:ea typeface="DejaVu Sans"/>
                <a:cs typeface="DejaVu Sans"/>
              </a:defRPr>
            </a:lvl5pPr>
            <a:lvl6pPr>
              <a:defRPr sz="2025" b="1">
                <a:solidFill>
                  <a:srgbClr val="007F78"/>
                </a:solidFill>
                <a:latin typeface="DejaVu Sans"/>
                <a:ea typeface="DejaVu Sans"/>
                <a:cs typeface="DejaVu Sans"/>
              </a:defRPr>
            </a:lvl6pPr>
            <a:lvl7pPr>
              <a:defRPr sz="2025" b="1">
                <a:solidFill>
                  <a:srgbClr val="007F78"/>
                </a:solidFill>
                <a:latin typeface="DejaVu Sans"/>
                <a:ea typeface="DejaVu Sans"/>
                <a:cs typeface="DejaVu Sans"/>
              </a:defRPr>
            </a:lvl7pPr>
            <a:lvl8pPr>
              <a:defRPr sz="2025" b="1">
                <a:solidFill>
                  <a:srgbClr val="007F78"/>
                </a:solidFill>
                <a:latin typeface="DejaVu Sans"/>
                <a:ea typeface="DejaVu Sans"/>
                <a:cs typeface="DejaVu Sans"/>
              </a:defRPr>
            </a:lvl8pPr>
            <a:lvl9pPr>
              <a:defRPr sz="2025" b="1">
                <a:solidFill>
                  <a:srgbClr val="007F78"/>
                </a:solidFill>
                <a:latin typeface="DejaVu Sans"/>
                <a:ea typeface="DejaVu Sans"/>
                <a:cs typeface="DejaVu Sans"/>
              </a:defRPr>
            </a:lvl9pPr>
          </a:lstStyle>
          <a:p>
            <a:pPr>
              <a:defRPr sz="2025" b="1">
                <a:solidFill>
                  <a:srgbClr val="007F78"/>
                </a:solidFill>
                <a:latin typeface="DejaVu Sans"/>
                <a:ea typeface="DejaVu Sans"/>
                <a:cs typeface="DejaVu Sans"/>
              </a:defRPr>
            </a:pPr>
            <a:r>
              <a:rPr sz="2025" b="1">
                <a:solidFill>
                  <a:srgbClr val="007F78"/>
                </a:solidFill>
                <a:latin typeface="DejaVu Sans"/>
                <a:ea typeface="DejaVu Sans"/>
                <a:cs typeface="DejaVu Sans"/>
              </a:rPr>
              <a:t>После шага i элементы от a[0] до a[i] уже упорядочены.</a:t>
            </a:r>
          </a:p>
        </p:txBody>
      </p:sp>
    </p:spTree>
    <p:extLst>
      <p:ext uri="{BB962C8B-B14F-4D97-AF65-F5344CB8AC3E}">
        <p14:creationId xmlns:p14="http://schemas.microsoft.com/office/powerpoint/2010/main" val="282388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descr="Изображение выглядит как текст, снимок экрана, программное обеспечение, веб-страница&#10;&#10;Контент, сгенерированный ИИ, может содержать ошибки.">
            <a:extLst>
              <a:ext uri="{FF2B5EF4-FFF2-40B4-BE49-F238E27FC236}">
                <a16:creationId xmlns:a16="http://schemas.microsoft.com/office/drawing/2014/main" id="{E1E4D5C8-E6C3-9A13-8033-8BD1C847FF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426" y="0"/>
            <a:ext cx="10287000" cy="6858000"/>
          </a:xfrm>
          <a:prstGeom prst="rect">
            <a:avLst/>
          </a:prstGeom>
        </p:spPr>
      </p:pic>
    </p:spTree>
    <p:extLst>
      <p:ext uri="{BB962C8B-B14F-4D97-AF65-F5344CB8AC3E}">
        <p14:creationId xmlns:p14="http://schemas.microsoft.com/office/powerpoint/2010/main" val="2202360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5A894887-BFAF-4CFF-9E61-6E0F1036597E}"/>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Задача: сортировка двумя способами</a:t>
            </a:r>
          </a:p>
        </p:txBody>
      </p:sp>
      <p:sp>
        <p:nvSpPr>
          <p:cNvPr id="2" name="section">
            <a:extLst>
              <a:ext uri="{FF2B5EF4-FFF2-40B4-BE49-F238E27FC236}">
                <a16:creationId xmlns:a16="http://schemas.microsoft.com/office/drawing/2014/main" id="{15483015-9155-49A4-ADB0-C7C4F83D8758}"/>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Практика сортировки</a:t>
            </a:r>
          </a:p>
        </p:txBody>
      </p:sp>
      <p:sp>
        <p:nvSpPr>
          <p:cNvPr id="3" name="number">
            <a:extLst>
              <a:ext uri="{FF2B5EF4-FFF2-40B4-BE49-F238E27FC236}">
                <a16:creationId xmlns:a16="http://schemas.microsoft.com/office/drawing/2014/main" id="{010564F8-F512-4328-95EF-83E7BAE2E20D}"/>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44</a:t>
            </a:r>
          </a:p>
        </p:txBody>
      </p:sp>
      <p:sp>
        <p:nvSpPr>
          <p:cNvPr id="4" name="intro">
            <a:extLst>
              <a:ext uri="{FF2B5EF4-FFF2-40B4-BE49-F238E27FC236}">
                <a16:creationId xmlns:a16="http://schemas.microsoft.com/office/drawing/2014/main" id="{267242A6-9B4B-4DCC-B147-752282FA1FD9}"/>
              </a:ext>
            </a:extLst>
          </p:cNvPr>
          <p:cNvSpPr>
            <a:spLocks noGrp="1"/>
          </p:cNvSpPr>
          <p:nvPr/>
        </p:nvSpPr>
        <p:spPr>
          <a:xfrm>
            <a:off x="609600" y="1428750"/>
            <a:ext cx="10953750" cy="476250"/>
          </a:xfrm>
          <a:prstGeom prst="rect">
            <a:avLst/>
          </a:prstGeom>
          <a:noFill/>
          <a:ln w="0">
            <a:noFill/>
            <a:prstDash val="solid"/>
          </a:ln>
        </p:spPr>
        <p:txBody>
          <a:bodyPr wrap="none" lIns="0" tIns="0" rIns="0" bIns="0" anchor="t">
            <a:noAutofit/>
          </a:bodyPr>
          <a:lstStyle>
            <a:defPPr>
              <a:defRPr sz="2100" b="0">
                <a:solidFill>
                  <a:srgbClr val="283C4F"/>
                </a:solidFill>
                <a:latin typeface="DejaVu Sans Mono"/>
                <a:ea typeface="DejaVu Sans Mono"/>
                <a:cs typeface="DejaVu Sans Mono"/>
              </a:defRPr>
            </a:defPPr>
            <a:lvl1pPr>
              <a:defRPr sz="2100" b="0">
                <a:solidFill>
                  <a:srgbClr val="283C4F"/>
                </a:solidFill>
                <a:latin typeface="DejaVu Sans Mono"/>
                <a:ea typeface="DejaVu Sans Mono"/>
                <a:cs typeface="DejaVu Sans Mono"/>
              </a:defRPr>
            </a:lvl1pPr>
            <a:lvl2pPr>
              <a:defRPr sz="2100" b="0">
                <a:solidFill>
                  <a:srgbClr val="283C4F"/>
                </a:solidFill>
                <a:latin typeface="DejaVu Sans Mono"/>
                <a:ea typeface="DejaVu Sans Mono"/>
                <a:cs typeface="DejaVu Sans Mono"/>
              </a:defRPr>
            </a:lvl2pPr>
            <a:lvl3pPr>
              <a:defRPr sz="2100" b="0">
                <a:solidFill>
                  <a:srgbClr val="283C4F"/>
                </a:solidFill>
                <a:latin typeface="DejaVu Sans Mono"/>
                <a:ea typeface="DejaVu Sans Mono"/>
                <a:cs typeface="DejaVu Sans Mono"/>
              </a:defRPr>
            </a:lvl3pPr>
            <a:lvl4pPr>
              <a:defRPr sz="2100" b="0">
                <a:solidFill>
                  <a:srgbClr val="283C4F"/>
                </a:solidFill>
                <a:latin typeface="DejaVu Sans Mono"/>
                <a:ea typeface="DejaVu Sans Mono"/>
                <a:cs typeface="DejaVu Sans Mono"/>
              </a:defRPr>
            </a:lvl4pPr>
            <a:lvl5pPr>
              <a:defRPr sz="2100" b="0">
                <a:solidFill>
                  <a:srgbClr val="283C4F"/>
                </a:solidFill>
                <a:latin typeface="DejaVu Sans Mono"/>
                <a:ea typeface="DejaVu Sans Mono"/>
                <a:cs typeface="DejaVu Sans Mono"/>
              </a:defRPr>
            </a:lvl5pPr>
            <a:lvl6pPr>
              <a:defRPr sz="2100" b="0">
                <a:solidFill>
                  <a:srgbClr val="283C4F"/>
                </a:solidFill>
                <a:latin typeface="DejaVu Sans Mono"/>
                <a:ea typeface="DejaVu Sans Mono"/>
                <a:cs typeface="DejaVu Sans Mono"/>
              </a:defRPr>
            </a:lvl6pPr>
            <a:lvl7pPr>
              <a:defRPr sz="2100" b="0">
                <a:solidFill>
                  <a:srgbClr val="283C4F"/>
                </a:solidFill>
                <a:latin typeface="DejaVu Sans Mono"/>
                <a:ea typeface="DejaVu Sans Mono"/>
                <a:cs typeface="DejaVu Sans Mono"/>
              </a:defRPr>
            </a:lvl7pPr>
            <a:lvl8pPr>
              <a:defRPr sz="2100" b="0">
                <a:solidFill>
                  <a:srgbClr val="283C4F"/>
                </a:solidFill>
                <a:latin typeface="DejaVu Sans Mono"/>
                <a:ea typeface="DejaVu Sans Mono"/>
                <a:cs typeface="DejaVu Sans Mono"/>
              </a:defRPr>
            </a:lvl8pPr>
            <a:lvl9pPr>
              <a:defRPr sz="2100" b="0">
                <a:solidFill>
                  <a:srgbClr val="283C4F"/>
                </a:solidFill>
                <a:latin typeface="DejaVu Sans Mono"/>
                <a:ea typeface="DejaVu Sans Mono"/>
                <a:cs typeface="DejaVu Sans Mono"/>
              </a:defRPr>
            </a:lvl9pPr>
          </a:lstStyle>
          <a:p>
            <a:pPr>
              <a:defRPr sz="2100" b="0">
                <a:solidFill>
                  <a:srgbClr val="283C4F"/>
                </a:solidFill>
                <a:latin typeface="DejaVu Sans Mono"/>
                <a:ea typeface="DejaVu Sans Mono"/>
                <a:cs typeface="DejaVu Sans Mono"/>
              </a:defRPr>
            </a:pPr>
            <a:r>
              <a:rPr sz="2100" b="0">
                <a:solidFill>
                  <a:srgbClr val="283C4F"/>
                </a:solidFill>
                <a:latin typeface="DejaVu Sans Mono"/>
                <a:ea typeface="DejaVu Sans Mono"/>
                <a:cs typeface="DejaVu Sans Mono"/>
              </a:rPr>
              <a:t>Данные: { 6, -4, 0, 9, -4, 9, 2, -1 }</a:t>
            </a:r>
          </a:p>
        </p:txBody>
      </p:sp>
      <p:sp>
        <p:nvSpPr>
          <p:cNvPr id="5" name="body-0">
            <a:extLst>
              <a:ext uri="{FF2B5EF4-FFF2-40B4-BE49-F238E27FC236}">
                <a16:creationId xmlns:a16="http://schemas.microsoft.com/office/drawing/2014/main" id="{950430AA-1FDB-40E8-8FD5-8C7CA215EF71}"/>
              </a:ext>
            </a:extLst>
          </p:cNvPr>
          <p:cNvSpPr>
            <a:spLocks noGrp="1"/>
          </p:cNvSpPr>
          <p:nvPr/>
        </p:nvSpPr>
        <p:spPr>
          <a:xfrm>
            <a:off x="609600" y="2171700"/>
            <a:ext cx="10858500" cy="7048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1. Создайте две независимые копии исходного массива.</a:t>
            </a:r>
          </a:p>
        </p:txBody>
      </p:sp>
      <p:sp>
        <p:nvSpPr>
          <p:cNvPr id="6" name="body-1">
            <a:extLst>
              <a:ext uri="{FF2B5EF4-FFF2-40B4-BE49-F238E27FC236}">
                <a16:creationId xmlns:a16="http://schemas.microsoft.com/office/drawing/2014/main" id="{B399F34D-F62C-4088-9849-85BDF3783DF7}"/>
              </a:ext>
            </a:extLst>
          </p:cNvPr>
          <p:cNvSpPr>
            <a:spLocks noGrp="1"/>
          </p:cNvSpPr>
          <p:nvPr/>
        </p:nvSpPr>
        <p:spPr>
          <a:xfrm>
            <a:off x="609600" y="2971800"/>
            <a:ext cx="10858500" cy="7048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2. Первую отсортируйте пузырьком, вторую — вставками по возрастанию.</a:t>
            </a:r>
          </a:p>
        </p:txBody>
      </p:sp>
      <p:sp>
        <p:nvSpPr>
          <p:cNvPr id="7" name="body-2">
            <a:extLst>
              <a:ext uri="{FF2B5EF4-FFF2-40B4-BE49-F238E27FC236}">
                <a16:creationId xmlns:a16="http://schemas.microsoft.com/office/drawing/2014/main" id="{ACB1F203-1A5E-4597-AF58-5E7C7930A491}"/>
              </a:ext>
            </a:extLst>
          </p:cNvPr>
          <p:cNvSpPr>
            <a:spLocks noGrp="1"/>
          </p:cNvSpPr>
          <p:nvPr/>
        </p:nvSpPr>
        <p:spPr>
          <a:xfrm>
            <a:off x="609600" y="3771900"/>
            <a:ext cx="10858500" cy="7048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3. Выводите массив после каждой итерации внешнего цикла. Сравните итоговые результаты.</a:t>
            </a:r>
          </a:p>
        </p:txBody>
      </p:sp>
      <p:sp>
        <p:nvSpPr>
          <p:cNvPr id="8" name="body-3">
            <a:extLst>
              <a:ext uri="{FF2B5EF4-FFF2-40B4-BE49-F238E27FC236}">
                <a16:creationId xmlns:a16="http://schemas.microsoft.com/office/drawing/2014/main" id="{0A4B4376-2BBB-40A1-A9C3-5D5EEB2AD014}"/>
              </a:ext>
            </a:extLst>
          </p:cNvPr>
          <p:cNvSpPr>
            <a:spLocks noGrp="1"/>
          </p:cNvSpPr>
          <p:nvPr/>
        </p:nvSpPr>
        <p:spPr>
          <a:xfrm>
            <a:off x="609600" y="4572000"/>
            <a:ext cx="10858500" cy="704850"/>
          </a:xfrm>
          <a:prstGeom prst="rect">
            <a:avLst/>
          </a:prstGeom>
          <a:noFill/>
          <a:ln w="0">
            <a:noFill/>
            <a:prstDash val="solid"/>
          </a:ln>
        </p:spPr>
        <p:txBody>
          <a:bodyPr wrap="square" lIns="0" tIns="0" rIns="0" bIns="0" anchor="t">
            <a:noAutofit/>
          </a:bodyPr>
          <a:lstStyle>
            <a:defPPr>
              <a:defRPr sz="2025" b="0">
                <a:solidFill>
                  <a:srgbClr val="283C4F"/>
                </a:solidFill>
                <a:latin typeface="DejaVu Sans"/>
                <a:ea typeface="DejaVu Sans"/>
                <a:cs typeface="DejaVu Sans"/>
              </a:defRPr>
            </a:defPPr>
            <a:lvl1pPr>
              <a:defRPr sz="2025" b="0">
                <a:solidFill>
                  <a:srgbClr val="283C4F"/>
                </a:solidFill>
                <a:latin typeface="DejaVu Sans"/>
                <a:ea typeface="DejaVu Sans"/>
                <a:cs typeface="DejaVu Sans"/>
              </a:defRPr>
            </a:lvl1pPr>
            <a:lvl2pPr>
              <a:defRPr sz="2025" b="0">
                <a:solidFill>
                  <a:srgbClr val="283C4F"/>
                </a:solidFill>
                <a:latin typeface="DejaVu Sans"/>
                <a:ea typeface="DejaVu Sans"/>
                <a:cs typeface="DejaVu Sans"/>
              </a:defRPr>
            </a:lvl2pPr>
            <a:lvl3pPr>
              <a:defRPr sz="2025" b="0">
                <a:solidFill>
                  <a:srgbClr val="283C4F"/>
                </a:solidFill>
                <a:latin typeface="DejaVu Sans"/>
                <a:ea typeface="DejaVu Sans"/>
                <a:cs typeface="DejaVu Sans"/>
              </a:defRPr>
            </a:lvl3pPr>
            <a:lvl4pPr>
              <a:defRPr sz="2025" b="0">
                <a:solidFill>
                  <a:srgbClr val="283C4F"/>
                </a:solidFill>
                <a:latin typeface="DejaVu Sans"/>
                <a:ea typeface="DejaVu Sans"/>
                <a:cs typeface="DejaVu Sans"/>
              </a:defRPr>
            </a:lvl4pPr>
            <a:lvl5pPr>
              <a:defRPr sz="2025" b="0">
                <a:solidFill>
                  <a:srgbClr val="283C4F"/>
                </a:solidFill>
                <a:latin typeface="DejaVu Sans"/>
                <a:ea typeface="DejaVu Sans"/>
                <a:cs typeface="DejaVu Sans"/>
              </a:defRPr>
            </a:lvl5pPr>
            <a:lvl6pPr>
              <a:defRPr sz="2025" b="0">
                <a:solidFill>
                  <a:srgbClr val="283C4F"/>
                </a:solidFill>
                <a:latin typeface="DejaVu Sans"/>
                <a:ea typeface="DejaVu Sans"/>
                <a:cs typeface="DejaVu Sans"/>
              </a:defRPr>
            </a:lvl6pPr>
            <a:lvl7pPr>
              <a:defRPr sz="2025" b="0">
                <a:solidFill>
                  <a:srgbClr val="283C4F"/>
                </a:solidFill>
                <a:latin typeface="DejaVu Sans"/>
                <a:ea typeface="DejaVu Sans"/>
                <a:cs typeface="DejaVu Sans"/>
              </a:defRPr>
            </a:lvl7pPr>
            <a:lvl8pPr>
              <a:defRPr sz="2025" b="0">
                <a:solidFill>
                  <a:srgbClr val="283C4F"/>
                </a:solidFill>
                <a:latin typeface="DejaVu Sans"/>
                <a:ea typeface="DejaVu Sans"/>
                <a:cs typeface="DejaVu Sans"/>
              </a:defRPr>
            </a:lvl8pPr>
            <a:lvl9pPr>
              <a:defRPr sz="2025" b="0">
                <a:solidFill>
                  <a:srgbClr val="283C4F"/>
                </a:solidFill>
                <a:latin typeface="DejaVu Sans"/>
                <a:ea typeface="DejaVu Sans"/>
                <a:cs typeface="DejaVu Sans"/>
              </a:defRPr>
            </a:lvl9pPr>
          </a:lstStyle>
          <a:p>
            <a:pPr>
              <a:defRPr sz="2025" b="0">
                <a:solidFill>
                  <a:srgbClr val="283C4F"/>
                </a:solidFill>
                <a:latin typeface="DejaVu Sans"/>
                <a:ea typeface="DejaVu Sans"/>
                <a:cs typeface="DejaVu Sans"/>
              </a:defRPr>
            </a:pPr>
            <a:r>
              <a:rPr sz="2025" b="0">
                <a:solidFill>
                  <a:srgbClr val="283C4F"/>
                </a:solidFill>
                <a:latin typeface="DejaVu Sans"/>
                <a:ea typeface="DejaVu Sans"/>
                <a:cs typeface="DejaVu Sans"/>
              </a:rPr>
              <a:t>4. Проверьте работу на уже отсортированном массиве и на массиве из одинаковых чисел.</a:t>
            </a:r>
          </a:p>
        </p:txBody>
      </p:sp>
    </p:spTree>
    <p:extLst>
      <p:ext uri="{BB962C8B-B14F-4D97-AF65-F5344CB8AC3E}">
        <p14:creationId xmlns:p14="http://schemas.microsoft.com/office/powerpoint/2010/main" val="1610537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621F8082-0E40-45EC-B9BD-BA9ABA34A223}"/>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defRPr sz="3150" b="1">
                <a:solidFill>
                  <a:srgbClr val="162D46"/>
                </a:solidFill>
                <a:latin typeface="DejaVu Sans"/>
                <a:ea typeface="DejaVu Sans"/>
                <a:cs typeface="DejaVu Sans"/>
              </a:defRPr>
            </a:lvl1pPr>
            <a:lvl2pPr>
              <a:defRPr sz="3150" b="1">
                <a:solidFill>
                  <a:srgbClr val="162D46"/>
                </a:solidFill>
                <a:latin typeface="DejaVu Sans"/>
                <a:ea typeface="DejaVu Sans"/>
                <a:cs typeface="DejaVu Sans"/>
              </a:defRPr>
            </a:lvl2pPr>
            <a:lvl3pPr>
              <a:defRPr sz="3150" b="1">
                <a:solidFill>
                  <a:srgbClr val="162D46"/>
                </a:solidFill>
                <a:latin typeface="DejaVu Sans"/>
                <a:ea typeface="DejaVu Sans"/>
                <a:cs typeface="DejaVu Sans"/>
              </a:defRPr>
            </a:lvl3pPr>
            <a:lvl4pPr>
              <a:defRPr sz="3150" b="1">
                <a:solidFill>
                  <a:srgbClr val="162D46"/>
                </a:solidFill>
                <a:latin typeface="DejaVu Sans"/>
                <a:ea typeface="DejaVu Sans"/>
                <a:cs typeface="DejaVu Sans"/>
              </a:defRPr>
            </a:lvl4pPr>
            <a:lvl5pPr>
              <a:defRPr sz="3150" b="1">
                <a:solidFill>
                  <a:srgbClr val="162D46"/>
                </a:solidFill>
                <a:latin typeface="DejaVu Sans"/>
                <a:ea typeface="DejaVu Sans"/>
                <a:cs typeface="DejaVu Sans"/>
              </a:defRPr>
            </a:lvl5pPr>
            <a:lvl6pPr>
              <a:defRPr sz="3150" b="1">
                <a:solidFill>
                  <a:srgbClr val="162D46"/>
                </a:solidFill>
                <a:latin typeface="DejaVu Sans"/>
                <a:ea typeface="DejaVu Sans"/>
                <a:cs typeface="DejaVu Sans"/>
              </a:defRPr>
            </a:lvl6pPr>
            <a:lvl7pPr>
              <a:defRPr sz="3150" b="1">
                <a:solidFill>
                  <a:srgbClr val="162D46"/>
                </a:solidFill>
                <a:latin typeface="DejaVu Sans"/>
                <a:ea typeface="DejaVu Sans"/>
                <a:cs typeface="DejaVu Sans"/>
              </a:defRPr>
            </a:lvl7pPr>
            <a:lvl8pPr>
              <a:defRPr sz="3150" b="1">
                <a:solidFill>
                  <a:srgbClr val="162D46"/>
                </a:solidFill>
                <a:latin typeface="DejaVu Sans"/>
                <a:ea typeface="DejaVu Sans"/>
                <a:cs typeface="DejaVu Sans"/>
              </a:defRPr>
            </a:lvl8pPr>
            <a:lvl9pPr>
              <a:defRPr sz="3150" b="1">
                <a:solidFill>
                  <a:srgbClr val="162D46"/>
                </a:solidFill>
                <a:latin typeface="DejaVu Sans"/>
                <a:ea typeface="DejaVu Sans"/>
                <a:cs typeface="DejaVu Sans"/>
              </a:defRPr>
            </a:lvl9pPr>
          </a:lstStyle>
          <a:p>
            <a:pPr>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Разбор задачи: копии и ожидаемый результат</a:t>
            </a:r>
          </a:p>
        </p:txBody>
      </p:sp>
      <p:sp>
        <p:nvSpPr>
          <p:cNvPr id="2" name="section">
            <a:extLst>
              <a:ext uri="{FF2B5EF4-FFF2-40B4-BE49-F238E27FC236}">
                <a16:creationId xmlns:a16="http://schemas.microsoft.com/office/drawing/2014/main" id="{C02C8B77-3262-4FDE-858B-CEA7EC190454}"/>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defRPr sz="1200" b="0">
                <a:solidFill>
                  <a:srgbClr val="627489"/>
                </a:solidFill>
                <a:latin typeface="DejaVu Sans"/>
                <a:ea typeface="DejaVu Sans"/>
                <a:cs typeface="DejaVu Sans"/>
              </a:defRPr>
            </a:lvl1pPr>
            <a:lvl2pPr>
              <a:defRPr sz="1200" b="0">
                <a:solidFill>
                  <a:srgbClr val="627489"/>
                </a:solidFill>
                <a:latin typeface="DejaVu Sans"/>
                <a:ea typeface="DejaVu Sans"/>
                <a:cs typeface="DejaVu Sans"/>
              </a:defRPr>
            </a:lvl2pPr>
            <a:lvl3pPr>
              <a:defRPr sz="1200" b="0">
                <a:solidFill>
                  <a:srgbClr val="627489"/>
                </a:solidFill>
                <a:latin typeface="DejaVu Sans"/>
                <a:ea typeface="DejaVu Sans"/>
                <a:cs typeface="DejaVu Sans"/>
              </a:defRPr>
            </a:lvl3pPr>
            <a:lvl4pPr>
              <a:defRPr sz="1200" b="0">
                <a:solidFill>
                  <a:srgbClr val="627489"/>
                </a:solidFill>
                <a:latin typeface="DejaVu Sans"/>
                <a:ea typeface="DejaVu Sans"/>
                <a:cs typeface="DejaVu Sans"/>
              </a:defRPr>
            </a:lvl4pPr>
            <a:lvl5pPr>
              <a:defRPr sz="1200" b="0">
                <a:solidFill>
                  <a:srgbClr val="627489"/>
                </a:solidFill>
                <a:latin typeface="DejaVu Sans"/>
                <a:ea typeface="DejaVu Sans"/>
                <a:cs typeface="DejaVu Sans"/>
              </a:defRPr>
            </a:lvl5pPr>
            <a:lvl6pPr>
              <a:defRPr sz="1200" b="0">
                <a:solidFill>
                  <a:srgbClr val="627489"/>
                </a:solidFill>
                <a:latin typeface="DejaVu Sans"/>
                <a:ea typeface="DejaVu Sans"/>
                <a:cs typeface="DejaVu Sans"/>
              </a:defRPr>
            </a:lvl6pPr>
            <a:lvl7pPr>
              <a:defRPr sz="1200" b="0">
                <a:solidFill>
                  <a:srgbClr val="627489"/>
                </a:solidFill>
                <a:latin typeface="DejaVu Sans"/>
                <a:ea typeface="DejaVu Sans"/>
                <a:cs typeface="DejaVu Sans"/>
              </a:defRPr>
            </a:lvl7pPr>
            <a:lvl8pPr>
              <a:defRPr sz="1200" b="0">
                <a:solidFill>
                  <a:srgbClr val="627489"/>
                </a:solidFill>
                <a:latin typeface="DejaVu Sans"/>
                <a:ea typeface="DejaVu Sans"/>
                <a:cs typeface="DejaVu Sans"/>
              </a:defRPr>
            </a:lvl8pPr>
            <a:lvl9pPr>
              <a:defRPr sz="1200" b="0">
                <a:solidFill>
                  <a:srgbClr val="627489"/>
                </a:solidFill>
                <a:latin typeface="DejaVu Sans"/>
                <a:ea typeface="DejaVu Sans"/>
                <a:cs typeface="DejaVu Sans"/>
              </a:defRPr>
            </a:lvl9pPr>
          </a:lstStyle>
          <a:p>
            <a:pPr>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Практика сортировки</a:t>
            </a:r>
          </a:p>
        </p:txBody>
      </p:sp>
      <p:sp>
        <p:nvSpPr>
          <p:cNvPr id="3" name="number">
            <a:extLst>
              <a:ext uri="{FF2B5EF4-FFF2-40B4-BE49-F238E27FC236}">
                <a16:creationId xmlns:a16="http://schemas.microsoft.com/office/drawing/2014/main" id="{1ABD3971-1F53-44A6-A88F-B4A0EE0332AC}"/>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defRPr sz="1425" b="1">
                <a:solidFill>
                  <a:srgbClr val="007F78"/>
                </a:solidFill>
                <a:latin typeface="DejaVu Sans"/>
                <a:ea typeface="DejaVu Sans"/>
                <a:cs typeface="DejaVu Sans"/>
              </a:defRPr>
            </a:lvl1pPr>
            <a:lvl2pPr>
              <a:defRPr sz="1425" b="1">
                <a:solidFill>
                  <a:srgbClr val="007F78"/>
                </a:solidFill>
                <a:latin typeface="DejaVu Sans"/>
                <a:ea typeface="DejaVu Sans"/>
                <a:cs typeface="DejaVu Sans"/>
              </a:defRPr>
            </a:lvl2pPr>
            <a:lvl3pPr>
              <a:defRPr sz="1425" b="1">
                <a:solidFill>
                  <a:srgbClr val="007F78"/>
                </a:solidFill>
                <a:latin typeface="DejaVu Sans"/>
                <a:ea typeface="DejaVu Sans"/>
                <a:cs typeface="DejaVu Sans"/>
              </a:defRPr>
            </a:lvl3pPr>
            <a:lvl4pPr>
              <a:defRPr sz="1425" b="1">
                <a:solidFill>
                  <a:srgbClr val="007F78"/>
                </a:solidFill>
                <a:latin typeface="DejaVu Sans"/>
                <a:ea typeface="DejaVu Sans"/>
                <a:cs typeface="DejaVu Sans"/>
              </a:defRPr>
            </a:lvl4pPr>
            <a:lvl5pPr>
              <a:defRPr sz="1425" b="1">
                <a:solidFill>
                  <a:srgbClr val="007F78"/>
                </a:solidFill>
                <a:latin typeface="DejaVu Sans"/>
                <a:ea typeface="DejaVu Sans"/>
                <a:cs typeface="DejaVu Sans"/>
              </a:defRPr>
            </a:lvl5pPr>
            <a:lvl6pPr>
              <a:defRPr sz="1425" b="1">
                <a:solidFill>
                  <a:srgbClr val="007F78"/>
                </a:solidFill>
                <a:latin typeface="DejaVu Sans"/>
                <a:ea typeface="DejaVu Sans"/>
                <a:cs typeface="DejaVu Sans"/>
              </a:defRPr>
            </a:lvl6pPr>
            <a:lvl7pPr>
              <a:defRPr sz="1425" b="1">
                <a:solidFill>
                  <a:srgbClr val="007F78"/>
                </a:solidFill>
                <a:latin typeface="DejaVu Sans"/>
                <a:ea typeface="DejaVu Sans"/>
                <a:cs typeface="DejaVu Sans"/>
              </a:defRPr>
            </a:lvl7pPr>
            <a:lvl8pPr>
              <a:defRPr sz="1425" b="1">
                <a:solidFill>
                  <a:srgbClr val="007F78"/>
                </a:solidFill>
                <a:latin typeface="DejaVu Sans"/>
                <a:ea typeface="DejaVu Sans"/>
                <a:cs typeface="DejaVu Sans"/>
              </a:defRPr>
            </a:lvl8pPr>
            <a:lvl9pPr>
              <a:defRPr sz="1425" b="1">
                <a:solidFill>
                  <a:srgbClr val="007F78"/>
                </a:solidFill>
                <a:latin typeface="DejaVu Sans"/>
                <a:ea typeface="DejaVu Sans"/>
                <a:cs typeface="DejaVu Sans"/>
              </a:defRPr>
            </a:lvl9pPr>
          </a:lstStyle>
          <a:p>
            <a:pPr>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45</a:t>
            </a:r>
          </a:p>
        </p:txBody>
      </p:sp>
      <p:sp>
        <p:nvSpPr>
          <p:cNvPr id="4" name="code">
            <a:extLst>
              <a:ext uri="{FF2B5EF4-FFF2-40B4-BE49-F238E27FC236}">
                <a16:creationId xmlns:a16="http://schemas.microsoft.com/office/drawing/2014/main" id="{CE2B3CE0-7A46-48D8-B032-C0643D32839B}"/>
              </a:ext>
            </a:extLst>
          </p:cNvPr>
          <p:cNvSpPr>
            <a:spLocks noGrp="1"/>
          </p:cNvSpPr>
          <p:nvPr/>
        </p:nvSpPr>
        <p:spPr>
          <a:xfrm>
            <a:off x="609600" y="1447800"/>
            <a:ext cx="10972800" cy="25431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defRPr sz="1875" b="0">
                <a:solidFill>
                  <a:srgbClr val="283C4F"/>
                </a:solidFill>
                <a:latin typeface="DejaVu Sans Mono"/>
                <a:ea typeface="DejaVu Sans Mono"/>
                <a:cs typeface="DejaVu Sans Mono"/>
              </a:defRPr>
            </a:lvl1pPr>
            <a:lvl2pPr>
              <a:defRPr sz="1875" b="0">
                <a:solidFill>
                  <a:srgbClr val="283C4F"/>
                </a:solidFill>
                <a:latin typeface="DejaVu Sans Mono"/>
                <a:ea typeface="DejaVu Sans Mono"/>
                <a:cs typeface="DejaVu Sans Mono"/>
              </a:defRPr>
            </a:lvl2pPr>
            <a:lvl3pPr>
              <a:defRPr sz="1875" b="0">
                <a:solidFill>
                  <a:srgbClr val="283C4F"/>
                </a:solidFill>
                <a:latin typeface="DejaVu Sans Mono"/>
                <a:ea typeface="DejaVu Sans Mono"/>
                <a:cs typeface="DejaVu Sans Mono"/>
              </a:defRPr>
            </a:lvl3pPr>
            <a:lvl4pPr>
              <a:defRPr sz="1875" b="0">
                <a:solidFill>
                  <a:srgbClr val="283C4F"/>
                </a:solidFill>
                <a:latin typeface="DejaVu Sans Mono"/>
                <a:ea typeface="DejaVu Sans Mono"/>
                <a:cs typeface="DejaVu Sans Mono"/>
              </a:defRPr>
            </a:lvl4pPr>
            <a:lvl5pPr>
              <a:defRPr sz="1875" b="0">
                <a:solidFill>
                  <a:srgbClr val="283C4F"/>
                </a:solidFill>
                <a:latin typeface="DejaVu Sans Mono"/>
                <a:ea typeface="DejaVu Sans Mono"/>
                <a:cs typeface="DejaVu Sans Mono"/>
              </a:defRPr>
            </a:lvl5pPr>
            <a:lvl6pPr>
              <a:defRPr sz="1875" b="0">
                <a:solidFill>
                  <a:srgbClr val="283C4F"/>
                </a:solidFill>
                <a:latin typeface="DejaVu Sans Mono"/>
                <a:ea typeface="DejaVu Sans Mono"/>
                <a:cs typeface="DejaVu Sans Mono"/>
              </a:defRPr>
            </a:lvl6pPr>
            <a:lvl7pPr>
              <a:defRPr sz="1875" b="0">
                <a:solidFill>
                  <a:srgbClr val="283C4F"/>
                </a:solidFill>
                <a:latin typeface="DejaVu Sans Mono"/>
                <a:ea typeface="DejaVu Sans Mono"/>
                <a:cs typeface="DejaVu Sans Mono"/>
              </a:defRPr>
            </a:lvl7pPr>
            <a:lvl8pPr>
              <a:defRPr sz="1875" b="0">
                <a:solidFill>
                  <a:srgbClr val="283C4F"/>
                </a:solidFill>
                <a:latin typeface="DejaVu Sans Mono"/>
                <a:ea typeface="DejaVu Sans Mono"/>
                <a:cs typeface="DejaVu Sans Mono"/>
              </a:defRPr>
            </a:lvl8pPr>
            <a:lvl9pPr>
              <a:defRPr sz="1875" b="0">
                <a:solidFill>
                  <a:srgbClr val="283C4F"/>
                </a:solidFill>
                <a:latin typeface="DejaVu Sans Mono"/>
                <a:ea typeface="DejaVu Sans Mono"/>
                <a:cs typeface="DejaVu Sans Mono"/>
              </a:defRPr>
            </a:lvl9pPr>
          </a:lstStyle>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source = { 6, -4, 0, 9, -4, 9, 2, -1 };</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bubble = new int[source.Length];</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insertion = new int[source.Length];</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source.Length; i++)</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bubble[i] = source[i];</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insertion[i] = source[i];</a:t>
            </a:r>
          </a:p>
          <a:p>
            <a:pPr>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graphicFrame>
        <p:nvGraphicFramePr>
          <p:cNvPr id="5" name="Таблица 4">
            <a:extLst>
              <a:ext uri="{FF2B5EF4-FFF2-40B4-BE49-F238E27FC236}">
                <a16:creationId xmlns:a16="http://schemas.microsoft.com/office/drawing/2014/main" id="{3842C2E6-03ED-4771-A00E-98D56DDD3412}"/>
              </a:ext>
            </a:extLst>
          </p:cNvPr>
          <p:cNvGraphicFramePr/>
          <p:nvPr/>
        </p:nvGraphicFramePr>
        <p:xfrm>
          <a:off x="609600" y="4267200"/>
          <a:ext cx="10972800" cy="1085850"/>
        </p:xfrm>
        <a:graphic>
          <a:graphicData uri="http://schemas.openxmlformats.org/drawingml/2006/table">
            <a:tbl>
              <a:tblPr/>
              <a:tblGrid>
                <a:gridCol w="4095750">
                  <a:extLst>
                    <a:ext uri="{9D8B030D-6E8A-4147-A177-3AD203B41FA5}">
                      <a16:colId xmlns:a16="http://schemas.microsoft.com/office/drawing/2014/main" val="20000"/>
                    </a:ext>
                  </a:extLst>
                </a:gridCol>
                <a:gridCol w="6877050">
                  <a:extLst>
                    <a:ext uri="{9D8B030D-6E8A-4147-A177-3AD203B41FA5}">
                      <a16:colId xmlns:a16="http://schemas.microsoft.com/office/drawing/2014/main" val="20001"/>
                    </a:ext>
                  </a:extLst>
                </a:gridCol>
              </a:tblGrid>
              <a:tr h="542925">
                <a:tc>
                  <a:txBody>
                    <a:bodyPr/>
                    <a:lstStyle/>
                    <a:p>
                      <a:r>
                        <a:rPr sz="2025" b="1">
                          <a:solidFill>
                            <a:srgbClr val="FFFFFF"/>
                          </a:solidFill>
                          <a:latin typeface="DejaVu Sans"/>
                          <a:ea typeface="DejaVu Sans"/>
                          <a:cs typeface="DejaVu Sans"/>
                        </a:rPr>
                        <a:t>По возрастанию</a:t>
                      </a:r>
                    </a:p>
                  </a:txBody>
                  <a:tcPr marL="114300" marR="95250" marT="76200" marB="76200">
                    <a:lnL w="9525">
                      <a:solidFill>
                        <a:srgbClr val="D8E2E8"/>
                      </a:solidFill>
                      <a:prstDash val="soli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tc>
                  <a:txBody>
                    <a:bodyPr/>
                    <a:lstStyle/>
                    <a:p>
                      <a:r>
                        <a:rPr sz="2025" b="1">
                          <a:solidFill>
                            <a:srgbClr val="FFFFFF"/>
                          </a:solidFill>
                          <a:latin typeface="DejaVu Sans"/>
                          <a:ea typeface="DejaVu Sans"/>
                          <a:cs typeface="DejaVu Sans"/>
                        </a:rPr>
                        <a:t>−4 −4 −1 0 2 6 9 9</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a:solidFill>
                        <a:srgbClr val="D8E2E8"/>
                      </a:solidFill>
                      <a:prstDash val="solid"/>
                    </a:lnT>
                    <a:lnB w="9525">
                      <a:solidFill>
                        <a:srgbClr val="D8E2E8"/>
                      </a:solidFill>
                      <a:prstDash val="solid"/>
                    </a:lnB>
                    <a:solidFill>
                      <a:srgbClr val="162D46"/>
                    </a:solidFill>
                  </a:tcPr>
                </a:tc>
                <a:extLst>
                  <a:ext uri="{0D108BD9-81ED-4DB2-BD59-A6C34878D82A}">
                    <a16:rowId xmlns:a16="http://schemas.microsoft.com/office/drawing/2014/main" val="10000"/>
                  </a:ext>
                </a:extLst>
              </a:tr>
              <a:tr h="542925">
                <a:tc>
                  <a:txBody>
                    <a:bodyPr/>
                    <a:lstStyle/>
                    <a:p>
                      <a:r>
                        <a:rPr sz="2025" b="0">
                          <a:solidFill>
                            <a:srgbClr val="283C4F"/>
                          </a:solidFill>
                          <a:latin typeface="DejaVu Sans"/>
                          <a:ea typeface="DejaVu Sans"/>
                          <a:cs typeface="DejaVu Sans"/>
                        </a:rPr>
                        <a:t>По убыванию</a:t>
                      </a:r>
                    </a:p>
                  </a:txBody>
                  <a:tcPr marL="114300" marR="95250" marT="76200" marB="76200">
                    <a:lnL w="9525">
                      <a:solidFill>
                        <a:srgbClr val="D8E2E8"/>
                      </a:solidFill>
                      <a:prstDash val="soli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tc>
                  <a:txBody>
                    <a:bodyPr/>
                    <a:lstStyle/>
                    <a:p>
                      <a:r>
                        <a:rPr sz="2025" b="0">
                          <a:solidFill>
                            <a:srgbClr val="283C4F"/>
                          </a:solidFill>
                          <a:latin typeface="DejaVu Sans"/>
                          <a:ea typeface="DejaVu Sans"/>
                          <a:cs typeface="DejaVu Sans"/>
                        </a:rPr>
                        <a:t>9 9 6 2 0 −1 −4 −4</a:t>
                      </a:r>
                    </a:p>
                  </a:txBody>
                  <a:tcPr marL="114300" marR="95250" marT="76200" marB="76200">
                    <a:lnL w="9525" cap="flat" cmpd="sng" algn="ctr">
                      <a:solidFill>
                        <a:srgbClr val="D8E2E8"/>
                      </a:solidFill>
                      <a:prstDash val="solid"/>
                      <a:round/>
                      <a:headEnd type="none" w="med" len="med"/>
                      <a:tailEnd type="none" w="med" len="med"/>
                    </a:lnL>
                    <a:lnR w="9525">
                      <a:solidFill>
                        <a:srgbClr val="D8E2E8"/>
                      </a:solidFill>
                      <a:prstDash val="solid"/>
                    </a:lnR>
                    <a:lnT w="9525" cap="flat" cmpd="sng" algn="ctr">
                      <a:solidFill>
                        <a:srgbClr val="D8E2E8"/>
                      </a:solidFill>
                      <a:prstDash val="solid"/>
                      <a:round/>
                      <a:headEnd type="none" w="med" len="med"/>
                      <a:tailEnd type="none" w="med" len="med"/>
                    </a:lnT>
                    <a:lnB w="9525">
                      <a:solidFill>
                        <a:srgbClr val="D8E2E8"/>
                      </a:solidFill>
                      <a:prstDash val="solid"/>
                    </a:lnB>
                    <a:solidFill>
                      <a:srgbClr val="F3F7F8"/>
                    </a:solidFill>
                  </a:tcPr>
                </a:tc>
                <a:extLst>
                  <a:ext uri="{0D108BD9-81ED-4DB2-BD59-A6C34878D82A}">
                    <a16:rowId xmlns:a16="http://schemas.microsoft.com/office/drawing/2014/main" val="10001"/>
                  </a:ext>
                </a:extLst>
              </a:tr>
            </a:tbl>
          </a:graphicData>
        </a:graphic>
      </p:graphicFrame>
      <p:sp>
        <p:nvSpPr>
          <p:cNvPr id="6" name="result">
            <a:extLst>
              <a:ext uri="{FF2B5EF4-FFF2-40B4-BE49-F238E27FC236}">
                <a16:creationId xmlns:a16="http://schemas.microsoft.com/office/drawing/2014/main" id="{00144728-F1F9-46B9-BADE-B4B270A322A6}"/>
              </a:ext>
            </a:extLst>
          </p:cNvPr>
          <p:cNvSpPr>
            <a:spLocks noGrp="1"/>
          </p:cNvSpPr>
          <p:nvPr/>
        </p:nvSpPr>
        <p:spPr>
          <a:xfrm>
            <a:off x="609600" y="5743575"/>
            <a:ext cx="10925175" cy="523875"/>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defRPr sz="1800" b="1">
                <a:solidFill>
                  <a:srgbClr val="007F78"/>
                </a:solidFill>
                <a:latin typeface="DejaVu Sans"/>
                <a:ea typeface="DejaVu Sans"/>
                <a:cs typeface="DejaVu Sans"/>
              </a:defRPr>
            </a:lvl1pPr>
            <a:lvl2pPr>
              <a:defRPr sz="1800" b="1">
                <a:solidFill>
                  <a:srgbClr val="007F78"/>
                </a:solidFill>
                <a:latin typeface="DejaVu Sans"/>
                <a:ea typeface="DejaVu Sans"/>
                <a:cs typeface="DejaVu Sans"/>
              </a:defRPr>
            </a:lvl2pPr>
            <a:lvl3pPr>
              <a:defRPr sz="1800" b="1">
                <a:solidFill>
                  <a:srgbClr val="007F78"/>
                </a:solidFill>
                <a:latin typeface="DejaVu Sans"/>
                <a:ea typeface="DejaVu Sans"/>
                <a:cs typeface="DejaVu Sans"/>
              </a:defRPr>
            </a:lvl3pPr>
            <a:lvl4pPr>
              <a:defRPr sz="1800" b="1">
                <a:solidFill>
                  <a:srgbClr val="007F78"/>
                </a:solidFill>
                <a:latin typeface="DejaVu Sans"/>
                <a:ea typeface="DejaVu Sans"/>
                <a:cs typeface="DejaVu Sans"/>
              </a:defRPr>
            </a:lvl4pPr>
            <a:lvl5pPr>
              <a:defRPr sz="1800" b="1">
                <a:solidFill>
                  <a:srgbClr val="007F78"/>
                </a:solidFill>
                <a:latin typeface="DejaVu Sans"/>
                <a:ea typeface="DejaVu Sans"/>
                <a:cs typeface="DejaVu Sans"/>
              </a:defRPr>
            </a:lvl5pPr>
            <a:lvl6pPr>
              <a:defRPr sz="1800" b="1">
                <a:solidFill>
                  <a:srgbClr val="007F78"/>
                </a:solidFill>
                <a:latin typeface="DejaVu Sans"/>
                <a:ea typeface="DejaVu Sans"/>
                <a:cs typeface="DejaVu Sans"/>
              </a:defRPr>
            </a:lvl6pPr>
            <a:lvl7pPr>
              <a:defRPr sz="1800" b="1">
                <a:solidFill>
                  <a:srgbClr val="007F78"/>
                </a:solidFill>
                <a:latin typeface="DejaVu Sans"/>
                <a:ea typeface="DejaVu Sans"/>
                <a:cs typeface="DejaVu Sans"/>
              </a:defRPr>
            </a:lvl7pPr>
            <a:lvl8pPr>
              <a:defRPr sz="1800" b="1">
                <a:solidFill>
                  <a:srgbClr val="007F78"/>
                </a:solidFill>
                <a:latin typeface="DejaVu Sans"/>
                <a:ea typeface="DejaVu Sans"/>
                <a:cs typeface="DejaVu Sans"/>
              </a:defRPr>
            </a:lvl8pPr>
            <a:lvl9pPr>
              <a:defRPr sz="1800" b="1">
                <a:solidFill>
                  <a:srgbClr val="007F78"/>
                </a:solidFill>
                <a:latin typeface="DejaVu Sans"/>
                <a:ea typeface="DejaVu Sans"/>
                <a:cs typeface="DejaVu Sans"/>
              </a:defRPr>
            </a:lvl9pPr>
          </a:lstStyle>
          <a:p>
            <a:pPr>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Для убывания заменяем &gt; на &lt; в обоих алгоритмах. Длина остаётся равной 8.</a:t>
            </a:r>
          </a:p>
        </p:txBody>
      </p:sp>
    </p:spTree>
    <p:extLst>
      <p:ext uri="{BB962C8B-B14F-4D97-AF65-F5344CB8AC3E}">
        <p14:creationId xmlns:p14="http://schemas.microsoft.com/office/powerpoint/2010/main" val="921744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BB55844-F016-4304-B283-7DD599D95B7B}"/>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Практика: поиск ошибок</a:t>
            </a:r>
          </a:p>
        </p:txBody>
      </p:sp>
      <p:sp>
        <p:nvSpPr>
          <p:cNvPr id="2" name="section">
            <a:extLst>
              <a:ext uri="{FF2B5EF4-FFF2-40B4-BE49-F238E27FC236}">
                <a16:creationId xmlns:a16="http://schemas.microsoft.com/office/drawing/2014/main" id="{2476A2F4-DE1D-4269-A8D2-D0BF99AFD4D8}"/>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Практика</a:t>
            </a:r>
          </a:p>
        </p:txBody>
      </p:sp>
      <p:sp>
        <p:nvSpPr>
          <p:cNvPr id="3" name="number">
            <a:extLst>
              <a:ext uri="{FF2B5EF4-FFF2-40B4-BE49-F238E27FC236}">
                <a16:creationId xmlns:a16="http://schemas.microsoft.com/office/drawing/2014/main" id="{EED2CDA9-F02B-41F7-9560-4DB328BEBB66}"/>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46</a:t>
            </a:r>
          </a:p>
        </p:txBody>
      </p:sp>
      <p:sp>
        <p:nvSpPr>
          <p:cNvPr id="4" name="body-0">
            <a:extLst>
              <a:ext uri="{FF2B5EF4-FFF2-40B4-BE49-F238E27FC236}">
                <a16:creationId xmlns:a16="http://schemas.microsoft.com/office/drawing/2014/main" id="{16794B91-3DE6-4744-A138-6FB2C14BA519}"/>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Найдите четыре причины неправильной работы.</a:t>
            </a:r>
          </a:p>
        </p:txBody>
      </p:sp>
      <p:sp>
        <p:nvSpPr>
          <p:cNvPr id="5" name="body-1">
            <a:extLst>
              <a:ext uri="{FF2B5EF4-FFF2-40B4-BE49-F238E27FC236}">
                <a16:creationId xmlns:a16="http://schemas.microsoft.com/office/drawing/2014/main" id="{964D75C2-1879-4FE9-A4D9-E91B2EA4D46E}"/>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Подумайте отдельно о границах, начальном максимуме и подсчёте чётных элементов.</a:t>
            </a:r>
          </a:p>
        </p:txBody>
      </p:sp>
      <p:sp>
        <p:nvSpPr>
          <p:cNvPr id="6" name="code">
            <a:extLst>
              <a:ext uri="{FF2B5EF4-FFF2-40B4-BE49-F238E27FC236}">
                <a16:creationId xmlns:a16="http://schemas.microsoft.com/office/drawing/2014/main" id="{74B6E673-DF94-4217-8BD2-A48014E4DA96}"/>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-5, -2, -8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max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count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count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(i % 2 == 0) count++;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max) max =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p:txBody>
      </p:sp>
      <p:sp>
        <p:nvSpPr>
          <p:cNvPr id="7" name="result">
            <a:extLst>
              <a:ext uri="{FF2B5EF4-FFF2-40B4-BE49-F238E27FC236}">
                <a16:creationId xmlns:a16="http://schemas.microsoft.com/office/drawing/2014/main" id="{4D5F753F-3295-4C74-9002-4907C095A3C4}"/>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Задача программы: найти максимум и количество чётных значений.</a:t>
            </a:r>
          </a:p>
        </p:txBody>
      </p:sp>
    </p:spTree>
    <p:extLst>
      <p:ext uri="{BB962C8B-B14F-4D97-AF65-F5344CB8AC3E}">
        <p14:creationId xmlns:p14="http://schemas.microsoft.com/office/powerpoint/2010/main" val="1281751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20CF003-967D-4D89-9D2C-78D1FD188AC4}"/>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Разбор ошибок: исправленная программа</a:t>
            </a:r>
          </a:p>
        </p:txBody>
      </p:sp>
      <p:sp>
        <p:nvSpPr>
          <p:cNvPr id="2" name="section">
            <a:extLst>
              <a:ext uri="{FF2B5EF4-FFF2-40B4-BE49-F238E27FC236}">
                <a16:creationId xmlns:a16="http://schemas.microsoft.com/office/drawing/2014/main" id="{2A2AE25E-7A23-487F-9CAB-488D282D36FC}"/>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Практика</a:t>
            </a:r>
          </a:p>
        </p:txBody>
      </p:sp>
      <p:sp>
        <p:nvSpPr>
          <p:cNvPr id="3" name="number">
            <a:extLst>
              <a:ext uri="{FF2B5EF4-FFF2-40B4-BE49-F238E27FC236}">
                <a16:creationId xmlns:a16="http://schemas.microsoft.com/office/drawing/2014/main" id="{1F8F064C-0F9B-4B7C-83C2-03C50ED4F922}"/>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47</a:t>
            </a:r>
          </a:p>
        </p:txBody>
      </p:sp>
      <p:sp>
        <p:nvSpPr>
          <p:cNvPr id="4" name="body-0">
            <a:extLst>
              <a:ext uri="{FF2B5EF4-FFF2-40B4-BE49-F238E27FC236}">
                <a16:creationId xmlns:a16="http://schemas.microsoft.com/office/drawing/2014/main" id="{87D779A8-481B-4F93-9D96-754987C51A50}"/>
              </a:ext>
            </a:extLst>
          </p:cNvPr>
          <p:cNvSpPr>
            <a:spLocks noGrp="1"/>
          </p:cNvSpPr>
          <p:nvPr/>
        </p:nvSpPr>
        <p:spPr>
          <a:xfrm>
            <a:off x="609600" y="14763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max начинается с a[0].</a:t>
            </a:r>
          </a:p>
        </p:txBody>
      </p:sp>
      <p:sp>
        <p:nvSpPr>
          <p:cNvPr id="5" name="body-1">
            <a:extLst>
              <a:ext uri="{FF2B5EF4-FFF2-40B4-BE49-F238E27FC236}">
                <a16:creationId xmlns:a16="http://schemas.microsoft.com/office/drawing/2014/main" id="{805E800D-4711-48AD-888A-A03A107EBBA1}"/>
              </a:ext>
            </a:extLst>
          </p:cNvPr>
          <p:cNvSpPr>
            <a:spLocks noGrp="1"/>
          </p:cNvSpPr>
          <p:nvPr/>
        </p:nvSpPr>
        <p:spPr>
          <a:xfrm>
            <a:off x="609600" y="27717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Условие i &lt; a.Length исключает выход за границу.</a:t>
            </a:r>
          </a:p>
        </p:txBody>
      </p:sp>
      <p:sp>
        <p:nvSpPr>
          <p:cNvPr id="6" name="body-2">
            <a:extLst>
              <a:ext uri="{FF2B5EF4-FFF2-40B4-BE49-F238E27FC236}">
                <a16:creationId xmlns:a16="http://schemas.microsoft.com/office/drawing/2014/main" id="{DAA76DA0-DFFB-4763-A784-06C0E797370A}"/>
              </a:ext>
            </a:extLst>
          </p:cNvPr>
          <p:cNvSpPr>
            <a:spLocks noGrp="1"/>
          </p:cNvSpPr>
          <p:nvPr/>
        </p:nvSpPr>
        <p:spPr>
          <a:xfrm>
            <a:off x="609600" y="4067175"/>
            <a:ext cx="3476625" cy="1200150"/>
          </a:xfrm>
          <a:prstGeom prst="rect">
            <a:avLst/>
          </a:prstGeom>
          <a:noFill/>
          <a:ln w="0">
            <a:noFill/>
            <a:prstDash val="solid"/>
          </a:ln>
        </p:spPr>
        <p:txBody>
          <a:bodyPr wrap="square" lIns="0" tIns="0" rIns="0" bIns="0" anchor="t">
            <a:noAutofit/>
          </a:bodyPr>
          <a:lstStyle>
            <a:defPPr>
              <a:defRPr sz="1950" b="0">
                <a:solidFill>
                  <a:srgbClr val="283C4F"/>
                </a:solidFill>
                <a:latin typeface="DejaVu Sans"/>
                <a:ea typeface="DejaVu Sans"/>
                <a:cs typeface="DejaVu Sans"/>
              </a:defRPr>
            </a:defPPr>
            <a:lvl1pPr>
              <a:buNone/>
              <a:defRPr sz="1950" b="0">
                <a:solidFill>
                  <a:srgbClr val="283C4F"/>
                </a:solidFill>
                <a:latin typeface="DejaVu Sans"/>
                <a:ea typeface="DejaVu Sans"/>
                <a:cs typeface="DejaVu Sans"/>
              </a:defRPr>
            </a:lvl1pPr>
            <a:lvl2pPr>
              <a:buNone/>
              <a:defRPr sz="1950" b="0">
                <a:solidFill>
                  <a:srgbClr val="283C4F"/>
                </a:solidFill>
                <a:latin typeface="DejaVu Sans"/>
                <a:ea typeface="DejaVu Sans"/>
                <a:cs typeface="DejaVu Sans"/>
              </a:defRPr>
            </a:lvl2pPr>
            <a:lvl3pPr>
              <a:buNone/>
              <a:defRPr sz="1950" b="0">
                <a:solidFill>
                  <a:srgbClr val="283C4F"/>
                </a:solidFill>
                <a:latin typeface="DejaVu Sans"/>
                <a:ea typeface="DejaVu Sans"/>
                <a:cs typeface="DejaVu Sans"/>
              </a:defRPr>
            </a:lvl3pPr>
            <a:lvl4pPr>
              <a:buNone/>
              <a:defRPr sz="1950" b="0">
                <a:solidFill>
                  <a:srgbClr val="283C4F"/>
                </a:solidFill>
                <a:latin typeface="DejaVu Sans"/>
                <a:ea typeface="DejaVu Sans"/>
                <a:cs typeface="DejaVu Sans"/>
              </a:defRPr>
            </a:lvl4pPr>
            <a:lvl5pPr>
              <a:buNone/>
              <a:defRPr sz="1950" b="0">
                <a:solidFill>
                  <a:srgbClr val="283C4F"/>
                </a:solidFill>
                <a:latin typeface="DejaVu Sans"/>
                <a:ea typeface="DejaVu Sans"/>
                <a:cs typeface="DejaVu Sans"/>
              </a:defRPr>
            </a:lvl5pPr>
            <a:lvl6pPr>
              <a:buNone/>
              <a:defRPr sz="1950" b="0">
                <a:solidFill>
                  <a:srgbClr val="283C4F"/>
                </a:solidFill>
                <a:latin typeface="DejaVu Sans"/>
                <a:ea typeface="DejaVu Sans"/>
                <a:cs typeface="DejaVu Sans"/>
              </a:defRPr>
            </a:lvl6pPr>
            <a:lvl7pPr>
              <a:buNone/>
              <a:defRPr sz="1950" b="0">
                <a:solidFill>
                  <a:srgbClr val="283C4F"/>
                </a:solidFill>
                <a:latin typeface="DejaVu Sans"/>
                <a:ea typeface="DejaVu Sans"/>
                <a:cs typeface="DejaVu Sans"/>
              </a:defRPr>
            </a:lvl7pPr>
            <a:lvl8pPr>
              <a:buNone/>
              <a:defRPr sz="1950" b="0">
                <a:solidFill>
                  <a:srgbClr val="283C4F"/>
                </a:solidFill>
                <a:latin typeface="DejaVu Sans"/>
                <a:ea typeface="DejaVu Sans"/>
                <a:cs typeface="DejaVu Sans"/>
              </a:defRPr>
            </a:lvl8pPr>
            <a:lvl9pPr>
              <a:buNone/>
              <a:defRPr sz="1950" b="0">
                <a:solidFill>
                  <a:srgbClr val="283C4F"/>
                </a:solidFill>
                <a:latin typeface="DejaVu Sans"/>
                <a:ea typeface="DejaVu Sans"/>
                <a:cs typeface="DejaVu Sans"/>
              </a:defRPr>
            </a:lvl9pPr>
          </a:lstStyle>
          <a:p>
            <a:pPr>
              <a:buNone/>
              <a:defRPr sz="1950" b="0">
                <a:solidFill>
                  <a:srgbClr val="283C4F"/>
                </a:solidFill>
                <a:latin typeface="DejaVu Sans"/>
                <a:ea typeface="DejaVu Sans"/>
                <a:cs typeface="DejaVu Sans"/>
              </a:defRPr>
            </a:pPr>
            <a:r>
              <a:rPr sz="1950" b="0">
                <a:solidFill>
                  <a:srgbClr val="283C4F"/>
                </a:solidFill>
                <a:latin typeface="DejaVu Sans"/>
                <a:ea typeface="DejaVu Sans"/>
                <a:cs typeface="DejaVu Sans"/>
              </a:rPr>
              <a:t>count обнуляем до цикла. Проверяем a[i] % 2.</a:t>
            </a:r>
          </a:p>
        </p:txBody>
      </p:sp>
      <p:sp>
        <p:nvSpPr>
          <p:cNvPr id="7" name="code">
            <a:extLst>
              <a:ext uri="{FF2B5EF4-FFF2-40B4-BE49-F238E27FC236}">
                <a16:creationId xmlns:a16="http://schemas.microsoft.com/office/drawing/2014/main" id="{CC61D431-B035-4DDB-B8C8-32644E81518B}"/>
              </a:ext>
            </a:extLst>
          </p:cNvPr>
          <p:cNvSpPr>
            <a:spLocks noGrp="1"/>
          </p:cNvSpPr>
          <p:nvPr/>
        </p:nvSpPr>
        <p:spPr>
          <a:xfrm>
            <a:off x="4448175" y="1476375"/>
            <a:ext cx="7134225" cy="4143375"/>
          </a:xfrm>
          <a:prstGeom prst="rect">
            <a:avLst/>
          </a:prstGeom>
          <a:solidFill>
            <a:srgbClr val="F1F5F7"/>
          </a:solidFill>
          <a:ln w="0">
            <a:noFill/>
            <a:prstDash val="solid"/>
          </a:ln>
        </p:spPr>
        <p:txBody>
          <a:bodyPr wrap="none" lIns="152400" tIns="152400" rIns="152400" bIns="152400" anchor="t">
            <a:noAutofit/>
          </a:bodyPr>
          <a:lstStyle>
            <a:defPPr>
              <a:defRPr sz="1875" b="0">
                <a:solidFill>
                  <a:srgbClr val="283C4F"/>
                </a:solidFill>
                <a:latin typeface="DejaVu Sans Mono"/>
                <a:ea typeface="DejaVu Sans Mono"/>
                <a:cs typeface="DejaVu Sans Mono"/>
              </a:defRPr>
            </a:defPPr>
            <a:lvl1pPr>
              <a:buNone/>
              <a:defRPr sz="1875" b="0">
                <a:solidFill>
                  <a:srgbClr val="283C4F"/>
                </a:solidFill>
                <a:latin typeface="DejaVu Sans Mono"/>
                <a:ea typeface="DejaVu Sans Mono"/>
                <a:cs typeface="DejaVu Sans Mono"/>
              </a:defRPr>
            </a:lvl1pPr>
            <a:lvl2pPr>
              <a:buNone/>
              <a:defRPr sz="1875" b="0">
                <a:solidFill>
                  <a:srgbClr val="283C4F"/>
                </a:solidFill>
                <a:latin typeface="DejaVu Sans Mono"/>
                <a:ea typeface="DejaVu Sans Mono"/>
                <a:cs typeface="DejaVu Sans Mono"/>
              </a:defRPr>
            </a:lvl2pPr>
            <a:lvl3pPr>
              <a:buNone/>
              <a:defRPr sz="1875" b="0">
                <a:solidFill>
                  <a:srgbClr val="283C4F"/>
                </a:solidFill>
                <a:latin typeface="DejaVu Sans Mono"/>
                <a:ea typeface="DejaVu Sans Mono"/>
                <a:cs typeface="DejaVu Sans Mono"/>
              </a:defRPr>
            </a:lvl3pPr>
            <a:lvl4pPr>
              <a:buNone/>
              <a:defRPr sz="1875" b="0">
                <a:solidFill>
                  <a:srgbClr val="283C4F"/>
                </a:solidFill>
                <a:latin typeface="DejaVu Sans Mono"/>
                <a:ea typeface="DejaVu Sans Mono"/>
                <a:cs typeface="DejaVu Sans Mono"/>
              </a:defRPr>
            </a:lvl4pPr>
            <a:lvl5pPr>
              <a:buNone/>
              <a:defRPr sz="1875" b="0">
                <a:solidFill>
                  <a:srgbClr val="283C4F"/>
                </a:solidFill>
                <a:latin typeface="DejaVu Sans Mono"/>
                <a:ea typeface="DejaVu Sans Mono"/>
                <a:cs typeface="DejaVu Sans Mono"/>
              </a:defRPr>
            </a:lvl5pPr>
            <a:lvl6pPr>
              <a:buNone/>
              <a:defRPr sz="1875" b="0">
                <a:solidFill>
                  <a:srgbClr val="283C4F"/>
                </a:solidFill>
                <a:latin typeface="DejaVu Sans Mono"/>
                <a:ea typeface="DejaVu Sans Mono"/>
                <a:cs typeface="DejaVu Sans Mono"/>
              </a:defRPr>
            </a:lvl6pPr>
            <a:lvl7pPr>
              <a:buNone/>
              <a:defRPr sz="1875" b="0">
                <a:solidFill>
                  <a:srgbClr val="283C4F"/>
                </a:solidFill>
                <a:latin typeface="DejaVu Sans Mono"/>
                <a:ea typeface="DejaVu Sans Mono"/>
                <a:cs typeface="DejaVu Sans Mono"/>
              </a:defRPr>
            </a:lvl7pPr>
            <a:lvl8pPr>
              <a:buNone/>
              <a:defRPr sz="1875" b="0">
                <a:solidFill>
                  <a:srgbClr val="283C4F"/>
                </a:solidFill>
                <a:latin typeface="DejaVu Sans Mono"/>
                <a:ea typeface="DejaVu Sans Mono"/>
                <a:cs typeface="DejaVu Sans Mono"/>
              </a:defRPr>
            </a:lvl8pPr>
            <a:lvl9pPr>
              <a:buNone/>
              <a:defRPr sz="1875" b="0">
                <a:solidFill>
                  <a:srgbClr val="283C4F"/>
                </a:solidFill>
                <a:latin typeface="DejaVu Sans Mono"/>
                <a:ea typeface="DejaVu Sans Mono"/>
                <a:cs typeface="DejaVu Sans Mono"/>
              </a:defRPr>
            </a:lvl9pPr>
          </a:lstStyle>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a = { -5, -2, -8 };</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max = a[0];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int count = 0;</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for (int i = 0; i &lt; a.Length; 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 2 == 0) count++;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    if (a[i] &gt; max) max = a[i];</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Console.WriteLine(max);   // -2</a:t>
            </a:r>
          </a:p>
          <a:p>
            <a:pPr>
              <a:buNone/>
              <a:defRPr sz="1875" b="0">
                <a:solidFill>
                  <a:srgbClr val="283C4F"/>
                </a:solidFill>
                <a:latin typeface="DejaVu Sans Mono"/>
                <a:ea typeface="DejaVu Sans Mono"/>
                <a:cs typeface="DejaVu Sans Mono"/>
              </a:defRPr>
            </a:pPr>
            <a:r>
              <a:rPr sz="1875" b="0">
                <a:solidFill>
                  <a:srgbClr val="283C4F"/>
                </a:solidFill>
                <a:latin typeface="DejaVu Sans Mono"/>
                <a:ea typeface="DejaVu Sans Mono"/>
                <a:cs typeface="DejaVu Sans Mono"/>
              </a:rPr>
              <a:t>Console.WriteLine(count); // 2</a:t>
            </a:r>
          </a:p>
        </p:txBody>
      </p:sp>
      <p:sp>
        <p:nvSpPr>
          <p:cNvPr id="8" name="result">
            <a:extLst>
              <a:ext uri="{FF2B5EF4-FFF2-40B4-BE49-F238E27FC236}">
                <a16:creationId xmlns:a16="http://schemas.microsoft.com/office/drawing/2014/main" id="{56D4BB7A-FBC1-481A-A8F1-5D99A2680ED6}"/>
              </a:ext>
            </a:extLst>
          </p:cNvPr>
          <p:cNvSpPr>
            <a:spLocks noGrp="1"/>
          </p:cNvSpPr>
          <p:nvPr/>
        </p:nvSpPr>
        <p:spPr>
          <a:xfrm>
            <a:off x="609600" y="5810250"/>
            <a:ext cx="10906125" cy="438150"/>
          </a:xfrm>
          <a:prstGeom prst="rect">
            <a:avLst/>
          </a:prstGeom>
          <a:noFill/>
          <a:ln w="0">
            <a:noFill/>
            <a:prstDash val="solid"/>
          </a:ln>
        </p:spPr>
        <p:txBody>
          <a:bodyPr wrap="square" lIns="0" tIns="0" rIns="0" bIns="0" anchor="t">
            <a:noAutofit/>
          </a:bodyPr>
          <a:lstStyle>
            <a:defPPr>
              <a:defRPr sz="1800" b="1">
                <a:solidFill>
                  <a:srgbClr val="007F78"/>
                </a:solidFill>
                <a:latin typeface="DejaVu Sans"/>
                <a:ea typeface="DejaVu Sans"/>
                <a:cs typeface="DejaVu Sans"/>
              </a:defRPr>
            </a:defPPr>
            <a:lvl1pPr>
              <a:buNone/>
              <a:defRPr sz="1800" b="1">
                <a:solidFill>
                  <a:srgbClr val="007F78"/>
                </a:solidFill>
                <a:latin typeface="DejaVu Sans"/>
                <a:ea typeface="DejaVu Sans"/>
                <a:cs typeface="DejaVu Sans"/>
              </a:defRPr>
            </a:lvl1pPr>
            <a:lvl2pPr>
              <a:buNone/>
              <a:defRPr sz="1800" b="1">
                <a:solidFill>
                  <a:srgbClr val="007F78"/>
                </a:solidFill>
                <a:latin typeface="DejaVu Sans"/>
                <a:ea typeface="DejaVu Sans"/>
                <a:cs typeface="DejaVu Sans"/>
              </a:defRPr>
            </a:lvl2pPr>
            <a:lvl3pPr>
              <a:buNone/>
              <a:defRPr sz="1800" b="1">
                <a:solidFill>
                  <a:srgbClr val="007F78"/>
                </a:solidFill>
                <a:latin typeface="DejaVu Sans"/>
                <a:ea typeface="DejaVu Sans"/>
                <a:cs typeface="DejaVu Sans"/>
              </a:defRPr>
            </a:lvl3pPr>
            <a:lvl4pPr>
              <a:buNone/>
              <a:defRPr sz="1800" b="1">
                <a:solidFill>
                  <a:srgbClr val="007F78"/>
                </a:solidFill>
                <a:latin typeface="DejaVu Sans"/>
                <a:ea typeface="DejaVu Sans"/>
                <a:cs typeface="DejaVu Sans"/>
              </a:defRPr>
            </a:lvl4pPr>
            <a:lvl5pPr>
              <a:buNone/>
              <a:defRPr sz="1800" b="1">
                <a:solidFill>
                  <a:srgbClr val="007F78"/>
                </a:solidFill>
                <a:latin typeface="DejaVu Sans"/>
                <a:ea typeface="DejaVu Sans"/>
                <a:cs typeface="DejaVu Sans"/>
              </a:defRPr>
            </a:lvl5pPr>
            <a:lvl6pPr>
              <a:buNone/>
              <a:defRPr sz="1800" b="1">
                <a:solidFill>
                  <a:srgbClr val="007F78"/>
                </a:solidFill>
                <a:latin typeface="DejaVu Sans"/>
                <a:ea typeface="DejaVu Sans"/>
                <a:cs typeface="DejaVu Sans"/>
              </a:defRPr>
            </a:lvl6pPr>
            <a:lvl7pPr>
              <a:buNone/>
              <a:defRPr sz="1800" b="1">
                <a:solidFill>
                  <a:srgbClr val="007F78"/>
                </a:solidFill>
                <a:latin typeface="DejaVu Sans"/>
                <a:ea typeface="DejaVu Sans"/>
                <a:cs typeface="DejaVu Sans"/>
              </a:defRPr>
            </a:lvl7pPr>
            <a:lvl8pPr>
              <a:buNone/>
              <a:defRPr sz="1800" b="1">
                <a:solidFill>
                  <a:srgbClr val="007F78"/>
                </a:solidFill>
                <a:latin typeface="DejaVu Sans"/>
                <a:ea typeface="DejaVu Sans"/>
                <a:cs typeface="DejaVu Sans"/>
              </a:defRPr>
            </a:lvl8pPr>
            <a:lvl9pPr>
              <a:buNone/>
              <a:defRPr sz="1800" b="1">
                <a:solidFill>
                  <a:srgbClr val="007F78"/>
                </a:solidFill>
                <a:latin typeface="DejaVu Sans"/>
                <a:ea typeface="DejaVu Sans"/>
                <a:cs typeface="DejaVu Sans"/>
              </a:defRPr>
            </a:lvl9pPr>
          </a:lstStyle>
          <a:p>
            <a:pPr>
              <a:buNone/>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Проверка: чётные значения −2 и −8. Максимальное значение −2.</a:t>
            </a:r>
          </a:p>
        </p:txBody>
      </p:sp>
    </p:spTree>
    <p:extLst>
      <p:ext uri="{BB962C8B-B14F-4D97-AF65-F5344CB8AC3E}">
        <p14:creationId xmlns:p14="http://schemas.microsoft.com/office/powerpoint/2010/main" val="19919426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F4728515-6820-4FC7-ACDF-90C3D6BCA320}"/>
              </a:ext>
            </a:extLst>
          </p:cNvPr>
          <p:cNvSpPr>
            <a:spLocks noGrp="1"/>
          </p:cNvSpPr>
          <p:nvPr/>
        </p:nvSpPr>
        <p:spPr>
          <a:xfrm>
            <a:off x="609600" y="381000"/>
            <a:ext cx="10972800" cy="971550"/>
          </a:xfrm>
          <a:prstGeom prst="rect">
            <a:avLst/>
          </a:prstGeom>
          <a:noFill/>
          <a:ln w="0">
            <a:noFill/>
            <a:prstDash val="solid"/>
          </a:ln>
        </p:spPr>
        <p:txBody>
          <a:bodyPr wrap="square" lIns="0" tIns="0" rIns="0" bIns="0" anchor="t">
            <a:noAutofit/>
          </a:bodyPr>
          <a:lstStyle>
            <a:defPPr>
              <a:defRPr sz="3150" b="1">
                <a:solidFill>
                  <a:srgbClr val="162D46"/>
                </a:solidFill>
                <a:latin typeface="DejaVu Sans"/>
                <a:ea typeface="DejaVu Sans"/>
                <a:cs typeface="DejaVu Sans"/>
              </a:defRPr>
            </a:defPPr>
            <a:lvl1pPr>
              <a:buNone/>
              <a:defRPr sz="3150" b="1">
                <a:solidFill>
                  <a:srgbClr val="162D46"/>
                </a:solidFill>
                <a:latin typeface="DejaVu Sans"/>
                <a:ea typeface="DejaVu Sans"/>
                <a:cs typeface="DejaVu Sans"/>
              </a:defRPr>
            </a:lvl1pPr>
            <a:lvl2pPr>
              <a:buNone/>
              <a:defRPr sz="3150" b="1">
                <a:solidFill>
                  <a:srgbClr val="162D46"/>
                </a:solidFill>
                <a:latin typeface="DejaVu Sans"/>
                <a:ea typeface="DejaVu Sans"/>
                <a:cs typeface="DejaVu Sans"/>
              </a:defRPr>
            </a:lvl2pPr>
            <a:lvl3pPr>
              <a:buNone/>
              <a:defRPr sz="3150" b="1">
                <a:solidFill>
                  <a:srgbClr val="162D46"/>
                </a:solidFill>
                <a:latin typeface="DejaVu Sans"/>
                <a:ea typeface="DejaVu Sans"/>
                <a:cs typeface="DejaVu Sans"/>
              </a:defRPr>
            </a:lvl3pPr>
            <a:lvl4pPr>
              <a:buNone/>
              <a:defRPr sz="3150" b="1">
                <a:solidFill>
                  <a:srgbClr val="162D46"/>
                </a:solidFill>
                <a:latin typeface="DejaVu Sans"/>
                <a:ea typeface="DejaVu Sans"/>
                <a:cs typeface="DejaVu Sans"/>
              </a:defRPr>
            </a:lvl4pPr>
            <a:lvl5pPr>
              <a:buNone/>
              <a:defRPr sz="3150" b="1">
                <a:solidFill>
                  <a:srgbClr val="162D46"/>
                </a:solidFill>
                <a:latin typeface="DejaVu Sans"/>
                <a:ea typeface="DejaVu Sans"/>
                <a:cs typeface="DejaVu Sans"/>
              </a:defRPr>
            </a:lvl5pPr>
            <a:lvl6pPr>
              <a:buNone/>
              <a:defRPr sz="3150" b="1">
                <a:solidFill>
                  <a:srgbClr val="162D46"/>
                </a:solidFill>
                <a:latin typeface="DejaVu Sans"/>
                <a:ea typeface="DejaVu Sans"/>
                <a:cs typeface="DejaVu Sans"/>
              </a:defRPr>
            </a:lvl6pPr>
            <a:lvl7pPr>
              <a:buNone/>
              <a:defRPr sz="3150" b="1">
                <a:solidFill>
                  <a:srgbClr val="162D46"/>
                </a:solidFill>
                <a:latin typeface="DejaVu Sans"/>
                <a:ea typeface="DejaVu Sans"/>
                <a:cs typeface="DejaVu Sans"/>
              </a:defRPr>
            </a:lvl7pPr>
            <a:lvl8pPr>
              <a:buNone/>
              <a:defRPr sz="3150" b="1">
                <a:solidFill>
                  <a:srgbClr val="162D46"/>
                </a:solidFill>
                <a:latin typeface="DejaVu Sans"/>
                <a:ea typeface="DejaVu Sans"/>
                <a:cs typeface="DejaVu Sans"/>
              </a:defRPr>
            </a:lvl8pPr>
            <a:lvl9pPr>
              <a:buNone/>
              <a:defRPr sz="3150" b="1">
                <a:solidFill>
                  <a:srgbClr val="162D46"/>
                </a:solidFill>
                <a:latin typeface="DejaVu Sans"/>
                <a:ea typeface="DejaVu Sans"/>
                <a:cs typeface="DejaVu Sans"/>
              </a:defRPr>
            </a:lvl9pPr>
          </a:lstStyle>
          <a:p>
            <a:pPr>
              <a:buNone/>
              <a:defRPr sz="3150" b="1">
                <a:solidFill>
                  <a:srgbClr val="162D46"/>
                </a:solidFill>
                <a:latin typeface="DejaVu Sans"/>
                <a:ea typeface="DejaVu Sans"/>
                <a:cs typeface="DejaVu Sans"/>
              </a:defRPr>
            </a:pPr>
            <a:r>
              <a:rPr sz="3150" b="1">
                <a:solidFill>
                  <a:srgbClr val="162D46"/>
                </a:solidFill>
                <a:latin typeface="DejaVu Sans"/>
                <a:ea typeface="DejaVu Sans"/>
                <a:cs typeface="DejaVu Sans"/>
              </a:rPr>
              <a:t>Самостоятельная работа</a:t>
            </a:r>
          </a:p>
        </p:txBody>
      </p:sp>
      <p:sp>
        <p:nvSpPr>
          <p:cNvPr id="2" name="section">
            <a:extLst>
              <a:ext uri="{FF2B5EF4-FFF2-40B4-BE49-F238E27FC236}">
                <a16:creationId xmlns:a16="http://schemas.microsoft.com/office/drawing/2014/main" id="{F3A002F8-A5B7-4153-A2DF-AE91422F547A}"/>
              </a:ext>
            </a:extLst>
          </p:cNvPr>
          <p:cNvSpPr>
            <a:spLocks noGrp="1"/>
          </p:cNvSpPr>
          <p:nvPr/>
        </p:nvSpPr>
        <p:spPr>
          <a:xfrm>
            <a:off x="609600" y="6353175"/>
            <a:ext cx="9525000" cy="266700"/>
          </a:xfrm>
          <a:prstGeom prst="rect">
            <a:avLst/>
          </a:prstGeom>
          <a:noFill/>
          <a:ln w="0">
            <a:noFill/>
            <a:prstDash val="solid"/>
          </a:ln>
        </p:spPr>
        <p:txBody>
          <a:bodyPr wrap="square" lIns="0" tIns="0" rIns="0" bIns="0" anchor="t">
            <a:noAutofit/>
          </a:bodyPr>
          <a:lstStyle>
            <a:defPPr>
              <a:defRPr sz="1200" b="0">
                <a:solidFill>
                  <a:srgbClr val="627489"/>
                </a:solidFill>
                <a:latin typeface="DejaVu Sans"/>
                <a:ea typeface="DejaVu Sans"/>
                <a:cs typeface="DejaVu Sans"/>
              </a:defRPr>
            </a:defPPr>
            <a:lvl1pPr>
              <a:buNone/>
              <a:defRPr sz="1200" b="0">
                <a:solidFill>
                  <a:srgbClr val="627489"/>
                </a:solidFill>
                <a:latin typeface="DejaVu Sans"/>
                <a:ea typeface="DejaVu Sans"/>
                <a:cs typeface="DejaVu Sans"/>
              </a:defRPr>
            </a:lvl1pPr>
            <a:lvl2pPr>
              <a:buNone/>
              <a:defRPr sz="1200" b="0">
                <a:solidFill>
                  <a:srgbClr val="627489"/>
                </a:solidFill>
                <a:latin typeface="DejaVu Sans"/>
                <a:ea typeface="DejaVu Sans"/>
                <a:cs typeface="DejaVu Sans"/>
              </a:defRPr>
            </a:lvl2pPr>
            <a:lvl3pPr>
              <a:buNone/>
              <a:defRPr sz="1200" b="0">
                <a:solidFill>
                  <a:srgbClr val="627489"/>
                </a:solidFill>
                <a:latin typeface="DejaVu Sans"/>
                <a:ea typeface="DejaVu Sans"/>
                <a:cs typeface="DejaVu Sans"/>
              </a:defRPr>
            </a:lvl3pPr>
            <a:lvl4pPr>
              <a:buNone/>
              <a:defRPr sz="1200" b="0">
                <a:solidFill>
                  <a:srgbClr val="627489"/>
                </a:solidFill>
                <a:latin typeface="DejaVu Sans"/>
                <a:ea typeface="DejaVu Sans"/>
                <a:cs typeface="DejaVu Sans"/>
              </a:defRPr>
            </a:lvl4pPr>
            <a:lvl5pPr>
              <a:buNone/>
              <a:defRPr sz="1200" b="0">
                <a:solidFill>
                  <a:srgbClr val="627489"/>
                </a:solidFill>
                <a:latin typeface="DejaVu Sans"/>
                <a:ea typeface="DejaVu Sans"/>
                <a:cs typeface="DejaVu Sans"/>
              </a:defRPr>
            </a:lvl5pPr>
            <a:lvl6pPr>
              <a:buNone/>
              <a:defRPr sz="1200" b="0">
                <a:solidFill>
                  <a:srgbClr val="627489"/>
                </a:solidFill>
                <a:latin typeface="DejaVu Sans"/>
                <a:ea typeface="DejaVu Sans"/>
                <a:cs typeface="DejaVu Sans"/>
              </a:defRPr>
            </a:lvl6pPr>
            <a:lvl7pPr>
              <a:buNone/>
              <a:defRPr sz="1200" b="0">
                <a:solidFill>
                  <a:srgbClr val="627489"/>
                </a:solidFill>
                <a:latin typeface="DejaVu Sans"/>
                <a:ea typeface="DejaVu Sans"/>
                <a:cs typeface="DejaVu Sans"/>
              </a:defRPr>
            </a:lvl7pPr>
            <a:lvl8pPr>
              <a:buNone/>
              <a:defRPr sz="1200" b="0">
                <a:solidFill>
                  <a:srgbClr val="627489"/>
                </a:solidFill>
                <a:latin typeface="DejaVu Sans"/>
                <a:ea typeface="DejaVu Sans"/>
                <a:cs typeface="DejaVu Sans"/>
              </a:defRPr>
            </a:lvl8pPr>
            <a:lvl9pPr>
              <a:buNone/>
              <a:defRPr sz="1200" b="0">
                <a:solidFill>
                  <a:srgbClr val="627489"/>
                </a:solidFill>
                <a:latin typeface="DejaVu Sans"/>
                <a:ea typeface="DejaVu Sans"/>
                <a:cs typeface="DejaVu Sans"/>
              </a:defRPr>
            </a:lvl9pPr>
          </a:lstStyle>
          <a:p>
            <a:pPr>
              <a:buNone/>
              <a:defRPr sz="1200" b="0">
                <a:solidFill>
                  <a:srgbClr val="627489"/>
                </a:solidFill>
                <a:latin typeface="DejaVu Sans"/>
                <a:ea typeface="DejaVu Sans"/>
                <a:cs typeface="DejaVu Sans"/>
              </a:defRPr>
            </a:pPr>
            <a:r>
              <a:rPr sz="1200" b="0">
                <a:solidFill>
                  <a:srgbClr val="627489"/>
                </a:solidFill>
                <a:latin typeface="DejaVu Sans"/>
                <a:ea typeface="DejaVu Sans"/>
                <a:cs typeface="DejaVu Sans"/>
              </a:rPr>
              <a:t>Практика</a:t>
            </a:r>
          </a:p>
        </p:txBody>
      </p:sp>
      <p:sp>
        <p:nvSpPr>
          <p:cNvPr id="3" name="number">
            <a:extLst>
              <a:ext uri="{FF2B5EF4-FFF2-40B4-BE49-F238E27FC236}">
                <a16:creationId xmlns:a16="http://schemas.microsoft.com/office/drawing/2014/main" id="{9B5F417C-8837-4318-9FD0-9D458450F479}"/>
              </a:ext>
            </a:extLst>
          </p:cNvPr>
          <p:cNvSpPr>
            <a:spLocks noGrp="1"/>
          </p:cNvSpPr>
          <p:nvPr/>
        </p:nvSpPr>
        <p:spPr>
          <a:xfrm>
            <a:off x="11049000" y="6305550"/>
            <a:ext cx="533400" cy="304800"/>
          </a:xfrm>
          <a:prstGeom prst="rect">
            <a:avLst/>
          </a:prstGeom>
          <a:noFill/>
          <a:ln w="0">
            <a:noFill/>
            <a:prstDash val="solid"/>
          </a:ln>
        </p:spPr>
        <p:txBody>
          <a:bodyPr wrap="square" lIns="0" tIns="0" rIns="0" bIns="0" anchor="t">
            <a:noAutofit/>
          </a:bodyPr>
          <a:lstStyle>
            <a:defPPr>
              <a:defRPr sz="1425" b="1">
                <a:solidFill>
                  <a:srgbClr val="007F78"/>
                </a:solidFill>
                <a:latin typeface="DejaVu Sans"/>
                <a:ea typeface="DejaVu Sans"/>
                <a:cs typeface="DejaVu Sans"/>
              </a:defRPr>
            </a:defPPr>
            <a:lvl1pPr>
              <a:buNone/>
              <a:defRPr sz="1425" b="1">
                <a:solidFill>
                  <a:srgbClr val="007F78"/>
                </a:solidFill>
                <a:latin typeface="DejaVu Sans"/>
                <a:ea typeface="DejaVu Sans"/>
                <a:cs typeface="DejaVu Sans"/>
              </a:defRPr>
            </a:lvl1pPr>
            <a:lvl2pPr>
              <a:buNone/>
              <a:defRPr sz="1425" b="1">
                <a:solidFill>
                  <a:srgbClr val="007F78"/>
                </a:solidFill>
                <a:latin typeface="DejaVu Sans"/>
                <a:ea typeface="DejaVu Sans"/>
                <a:cs typeface="DejaVu Sans"/>
              </a:defRPr>
            </a:lvl2pPr>
            <a:lvl3pPr>
              <a:buNone/>
              <a:defRPr sz="1425" b="1">
                <a:solidFill>
                  <a:srgbClr val="007F78"/>
                </a:solidFill>
                <a:latin typeface="DejaVu Sans"/>
                <a:ea typeface="DejaVu Sans"/>
                <a:cs typeface="DejaVu Sans"/>
              </a:defRPr>
            </a:lvl3pPr>
            <a:lvl4pPr>
              <a:buNone/>
              <a:defRPr sz="1425" b="1">
                <a:solidFill>
                  <a:srgbClr val="007F78"/>
                </a:solidFill>
                <a:latin typeface="DejaVu Sans"/>
                <a:ea typeface="DejaVu Sans"/>
                <a:cs typeface="DejaVu Sans"/>
              </a:defRPr>
            </a:lvl4pPr>
            <a:lvl5pPr>
              <a:buNone/>
              <a:defRPr sz="1425" b="1">
                <a:solidFill>
                  <a:srgbClr val="007F78"/>
                </a:solidFill>
                <a:latin typeface="DejaVu Sans"/>
                <a:ea typeface="DejaVu Sans"/>
                <a:cs typeface="DejaVu Sans"/>
              </a:defRPr>
            </a:lvl5pPr>
            <a:lvl6pPr>
              <a:buNone/>
              <a:defRPr sz="1425" b="1">
                <a:solidFill>
                  <a:srgbClr val="007F78"/>
                </a:solidFill>
                <a:latin typeface="DejaVu Sans"/>
                <a:ea typeface="DejaVu Sans"/>
                <a:cs typeface="DejaVu Sans"/>
              </a:defRPr>
            </a:lvl6pPr>
            <a:lvl7pPr>
              <a:buNone/>
              <a:defRPr sz="1425" b="1">
                <a:solidFill>
                  <a:srgbClr val="007F78"/>
                </a:solidFill>
                <a:latin typeface="DejaVu Sans"/>
                <a:ea typeface="DejaVu Sans"/>
                <a:cs typeface="DejaVu Sans"/>
              </a:defRPr>
            </a:lvl7pPr>
            <a:lvl8pPr>
              <a:buNone/>
              <a:defRPr sz="1425" b="1">
                <a:solidFill>
                  <a:srgbClr val="007F78"/>
                </a:solidFill>
                <a:latin typeface="DejaVu Sans"/>
                <a:ea typeface="DejaVu Sans"/>
                <a:cs typeface="DejaVu Sans"/>
              </a:defRPr>
            </a:lvl8pPr>
            <a:lvl9pPr>
              <a:buNone/>
              <a:defRPr sz="1425" b="1">
                <a:solidFill>
                  <a:srgbClr val="007F78"/>
                </a:solidFill>
                <a:latin typeface="DejaVu Sans"/>
                <a:ea typeface="DejaVu Sans"/>
                <a:cs typeface="DejaVu Sans"/>
              </a:defRPr>
            </a:lvl9pPr>
          </a:lstStyle>
          <a:p>
            <a:pPr>
              <a:buNone/>
              <a:defRPr sz="1425" b="1">
                <a:solidFill>
                  <a:srgbClr val="007F78"/>
                </a:solidFill>
                <a:latin typeface="DejaVu Sans"/>
                <a:ea typeface="DejaVu Sans"/>
                <a:cs typeface="DejaVu Sans"/>
              </a:defRPr>
            </a:pPr>
            <a:r>
              <a:rPr sz="1425" b="1">
                <a:solidFill>
                  <a:srgbClr val="007F78"/>
                </a:solidFill>
                <a:latin typeface="DejaVu Sans"/>
                <a:ea typeface="DejaVu Sans"/>
                <a:cs typeface="DejaVu Sans"/>
              </a:rPr>
              <a:t>48</a:t>
            </a:r>
          </a:p>
        </p:txBody>
      </p:sp>
      <p:sp>
        <p:nvSpPr>
          <p:cNvPr id="4" name="body-0">
            <a:extLst>
              <a:ext uri="{FF2B5EF4-FFF2-40B4-BE49-F238E27FC236}">
                <a16:creationId xmlns:a16="http://schemas.microsoft.com/office/drawing/2014/main" id="{AAA6EAA8-BF1D-4BC9-859F-7B4840428E17}"/>
              </a:ext>
            </a:extLst>
          </p:cNvPr>
          <p:cNvSpPr>
            <a:spLocks noGrp="1"/>
          </p:cNvSpPr>
          <p:nvPr/>
        </p:nvSpPr>
        <p:spPr>
          <a:xfrm>
            <a:off x="609600" y="1457325"/>
            <a:ext cx="10858500" cy="885825"/>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Создайте массив из 8 целых чисел. Заполните его с клавиатуры и выведите на экран.</a:t>
            </a:r>
          </a:p>
        </p:txBody>
      </p:sp>
      <p:sp>
        <p:nvSpPr>
          <p:cNvPr id="5" name="body-1">
            <a:extLst>
              <a:ext uri="{FF2B5EF4-FFF2-40B4-BE49-F238E27FC236}">
                <a16:creationId xmlns:a16="http://schemas.microsoft.com/office/drawing/2014/main" id="{32963631-D055-4ABF-AE36-63DAB48FC26E}"/>
              </a:ext>
            </a:extLst>
          </p:cNvPr>
          <p:cNvSpPr>
            <a:spLocks noGrp="1"/>
          </p:cNvSpPr>
          <p:nvPr/>
        </p:nvSpPr>
        <p:spPr>
          <a:xfrm>
            <a:off x="609600" y="2438400"/>
            <a:ext cx="10858500" cy="885825"/>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Подсчитайте отрицательные элементы и найдите сумму чётных значений.</a:t>
            </a:r>
          </a:p>
        </p:txBody>
      </p:sp>
      <p:sp>
        <p:nvSpPr>
          <p:cNvPr id="6" name="body-2">
            <a:extLst>
              <a:ext uri="{FF2B5EF4-FFF2-40B4-BE49-F238E27FC236}">
                <a16:creationId xmlns:a16="http://schemas.microsoft.com/office/drawing/2014/main" id="{C9E5A44D-256A-421F-97A8-B409D1F90DF1}"/>
              </a:ext>
            </a:extLst>
          </p:cNvPr>
          <p:cNvSpPr>
            <a:spLocks noGrp="1"/>
          </p:cNvSpPr>
          <p:nvPr/>
        </p:nvSpPr>
        <p:spPr>
          <a:xfrm>
            <a:off x="609600" y="3419475"/>
            <a:ext cx="10858500" cy="885825"/>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Найдите минимум и максимум, выведите их значения и индексы первых вхождений.</a:t>
            </a:r>
          </a:p>
        </p:txBody>
      </p:sp>
      <p:sp>
        <p:nvSpPr>
          <p:cNvPr id="7" name="body-3">
            <a:extLst>
              <a:ext uri="{FF2B5EF4-FFF2-40B4-BE49-F238E27FC236}">
                <a16:creationId xmlns:a16="http://schemas.microsoft.com/office/drawing/2014/main" id="{5A780598-2979-4E85-950F-DF8B74F3969D}"/>
              </a:ext>
            </a:extLst>
          </p:cNvPr>
          <p:cNvSpPr>
            <a:spLocks noGrp="1"/>
          </p:cNvSpPr>
          <p:nvPr/>
        </p:nvSpPr>
        <p:spPr>
          <a:xfrm>
            <a:off x="609600" y="4400550"/>
            <a:ext cx="10858500" cy="885825"/>
          </a:xfrm>
          <a:prstGeom prst="rect">
            <a:avLst/>
          </a:prstGeom>
          <a:noFill/>
          <a:ln w="0">
            <a:noFill/>
            <a:prstDash val="solid"/>
          </a:ln>
        </p:spPr>
        <p:txBody>
          <a:bodyPr wrap="square" lIns="0" tIns="0" rIns="0" bIns="0" anchor="t">
            <a:noAutofit/>
          </a:bodyPr>
          <a:lstStyle>
            <a:defPPr>
              <a:defRPr sz="2175" b="0">
                <a:solidFill>
                  <a:srgbClr val="283C4F"/>
                </a:solidFill>
                <a:latin typeface="DejaVu Sans"/>
                <a:ea typeface="DejaVu Sans"/>
                <a:cs typeface="DejaVu Sans"/>
              </a:defRPr>
            </a:defPPr>
            <a:lvl1pPr>
              <a:buNone/>
              <a:defRPr sz="2175" b="0">
                <a:solidFill>
                  <a:srgbClr val="283C4F"/>
                </a:solidFill>
                <a:latin typeface="DejaVu Sans"/>
                <a:ea typeface="DejaVu Sans"/>
                <a:cs typeface="DejaVu Sans"/>
              </a:defRPr>
            </a:lvl1pPr>
            <a:lvl2pPr>
              <a:buNone/>
              <a:defRPr sz="2175" b="0">
                <a:solidFill>
                  <a:srgbClr val="283C4F"/>
                </a:solidFill>
                <a:latin typeface="DejaVu Sans"/>
                <a:ea typeface="DejaVu Sans"/>
                <a:cs typeface="DejaVu Sans"/>
              </a:defRPr>
            </a:lvl2pPr>
            <a:lvl3pPr>
              <a:buNone/>
              <a:defRPr sz="2175" b="0">
                <a:solidFill>
                  <a:srgbClr val="283C4F"/>
                </a:solidFill>
                <a:latin typeface="DejaVu Sans"/>
                <a:ea typeface="DejaVu Sans"/>
                <a:cs typeface="DejaVu Sans"/>
              </a:defRPr>
            </a:lvl3pPr>
            <a:lvl4pPr>
              <a:buNone/>
              <a:defRPr sz="2175" b="0">
                <a:solidFill>
                  <a:srgbClr val="283C4F"/>
                </a:solidFill>
                <a:latin typeface="DejaVu Sans"/>
                <a:ea typeface="DejaVu Sans"/>
                <a:cs typeface="DejaVu Sans"/>
              </a:defRPr>
            </a:lvl4pPr>
            <a:lvl5pPr>
              <a:buNone/>
              <a:defRPr sz="2175" b="0">
                <a:solidFill>
                  <a:srgbClr val="283C4F"/>
                </a:solidFill>
                <a:latin typeface="DejaVu Sans"/>
                <a:ea typeface="DejaVu Sans"/>
                <a:cs typeface="DejaVu Sans"/>
              </a:defRPr>
            </a:lvl5pPr>
            <a:lvl6pPr>
              <a:buNone/>
              <a:defRPr sz="2175" b="0">
                <a:solidFill>
                  <a:srgbClr val="283C4F"/>
                </a:solidFill>
                <a:latin typeface="DejaVu Sans"/>
                <a:ea typeface="DejaVu Sans"/>
                <a:cs typeface="DejaVu Sans"/>
              </a:defRPr>
            </a:lvl6pPr>
            <a:lvl7pPr>
              <a:buNone/>
              <a:defRPr sz="2175" b="0">
                <a:solidFill>
                  <a:srgbClr val="283C4F"/>
                </a:solidFill>
                <a:latin typeface="DejaVu Sans"/>
                <a:ea typeface="DejaVu Sans"/>
                <a:cs typeface="DejaVu Sans"/>
              </a:defRPr>
            </a:lvl7pPr>
            <a:lvl8pPr>
              <a:buNone/>
              <a:defRPr sz="2175" b="0">
                <a:solidFill>
                  <a:srgbClr val="283C4F"/>
                </a:solidFill>
                <a:latin typeface="DejaVu Sans"/>
                <a:ea typeface="DejaVu Sans"/>
                <a:cs typeface="DejaVu Sans"/>
              </a:defRPr>
            </a:lvl8pPr>
            <a:lvl9pPr>
              <a:buNone/>
              <a:defRPr sz="2175" b="0">
                <a:solidFill>
                  <a:srgbClr val="283C4F"/>
                </a:solidFill>
                <a:latin typeface="DejaVu Sans"/>
                <a:ea typeface="DejaVu Sans"/>
                <a:cs typeface="DejaVu Sans"/>
              </a:defRPr>
            </a:lvl9pPr>
          </a:lstStyle>
          <a:p>
            <a:pPr>
              <a:buNone/>
              <a:defRPr sz="2175" b="0">
                <a:solidFill>
                  <a:srgbClr val="283C4F"/>
                </a:solidFill>
                <a:latin typeface="DejaVu Sans"/>
                <a:ea typeface="DejaVu Sans"/>
                <a:cs typeface="DejaVu Sans"/>
              </a:defRPr>
            </a:pPr>
            <a:r>
              <a:rPr sz="2175" b="0">
                <a:solidFill>
                  <a:srgbClr val="283C4F"/>
                </a:solidFill>
                <a:latin typeface="DejaVu Sans"/>
                <a:ea typeface="DejaVu Sans"/>
                <a:cs typeface="DejaVu Sans"/>
              </a:rPr>
              <a:t>Введите key. Найдите его первое вхождение или выведите «Не найден».</a:t>
            </a:r>
          </a:p>
        </p:txBody>
      </p:sp>
    </p:spTree>
    <p:extLst>
      <p:ext uri="{BB962C8B-B14F-4D97-AF65-F5344CB8AC3E}">
        <p14:creationId xmlns:p14="http://schemas.microsoft.com/office/powerpoint/2010/main" val="135869179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9842</Words>
  <Application>Microsoft Office PowerPoint</Application>
  <DocSecurity>0</DocSecurity>
  <PresentationFormat>Широкоэкранный</PresentationFormat>
  <Paragraphs>1218</Paragraphs>
  <Slides>47</Slides>
  <Notes>47</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47</vt:i4>
      </vt:variant>
    </vt:vector>
  </HeadingPairs>
  <TitlesOfParts>
    <vt:vector size="55" baseType="lpstr">
      <vt:lpstr>Aptos</vt:lpstr>
      <vt:lpstr>Arial</vt:lpstr>
      <vt:lpstr>Calibri</vt:lpstr>
      <vt:lpstr>DejaVu Sans</vt:lpstr>
      <vt:lpstr>DejaVu Sans Mono</vt:lpstr>
      <vt:lpstr>KyivType Sans Heavy</vt:lpstr>
      <vt:lpstr>ChatGPT</vt:lpstr>
      <vt:lpstr>1_Тема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Наиля Мавлюдова</cp:lastModifiedBy>
  <cp:revision>3</cp:revision>
  <dcterms:created xsi:type="dcterms:W3CDTF">2026-10-27T15:18:20Z</dcterms:created>
  <dcterms:modified xsi:type="dcterms:W3CDTF">2026-10-27T18:32:59Z</dcterms:modified>
</cp:coreProperties>
</file>