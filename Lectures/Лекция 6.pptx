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367" autoAdjust="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9DD79-F512-4AB6-BCEF-025B438A58EB}" type="datetimeFigureOut">
              <a:rPr lang="ru-RU" smtClean="0"/>
              <a:t>15.10.26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D2D83-9D90-463F-AD61-CB9720E15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67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Цикл — это управляющая конструкция, которая позволяет многократно выполнять один и тот же блок программного кода.</a:t>
            </a:r>
          </a:p>
          <a:p>
            <a:r>
              <a:rPr lang="ru-RU" dirty="0"/>
              <a:t>Одно выполнение тела цикла называется итерацией. Например, если программа повторила определённые действия пять раз, значит, было выполнено пять итераций.</a:t>
            </a:r>
          </a:p>
          <a:p>
            <a:r>
              <a:rPr lang="ru-RU" dirty="0"/>
              <a:t>Выделим три основных элемента организации цикла.</a:t>
            </a:r>
          </a:p>
          <a:p>
            <a:r>
              <a:rPr lang="ru-RU" dirty="0"/>
              <a:t>Первый — инициализация. Мы задаём начальное значение переменной, которая будет использоваться для управления повторениями.</a:t>
            </a:r>
          </a:p>
          <a:p>
            <a:r>
              <a:rPr lang="ru-RU" dirty="0"/>
              <a:t>Второй — условие продолжения. Оно определяет, нужно ли выполнять очередное повторение.</a:t>
            </a:r>
          </a:p>
          <a:p>
            <a:r>
              <a:rPr lang="ru-RU" dirty="0"/>
              <a:t>Третий — изменение состояния. После очередной итерации некоторые значения должны изменяться, чтобы цикл мог перейти к завершению.</a:t>
            </a:r>
          </a:p>
          <a:p>
            <a:r>
              <a:rPr lang="ru-RU" dirty="0"/>
              <a:t>Посмотрим на пример справа. Мы объявляем переменную i и присваиваем ей значение 0. Далее записываем условие i &lt; 10.</a:t>
            </a:r>
          </a:p>
          <a:p>
            <a:r>
              <a:rPr lang="ru-RU" dirty="0"/>
              <a:t>Пока значение i меньше 10, программа выводит его на экран.</a:t>
            </a:r>
          </a:p>
          <a:p>
            <a:r>
              <a:rPr lang="ru-RU" dirty="0"/>
              <a:t>Но чего не хватает в первом примере?</a:t>
            </a:r>
          </a:p>
          <a:p>
            <a:r>
              <a:rPr lang="ru-RU" dirty="0"/>
              <a:t>Мы не изменяем значение переменной i. Она всегда остаётся равной нулю. Следовательно, условие 0 &lt; 10 постоянно истинно.</a:t>
            </a:r>
          </a:p>
          <a:p>
            <a:r>
              <a:rPr lang="ru-RU" dirty="0"/>
              <a:t>Программа будет бесконечно выводить нули. Такое выполнение называется бесконечным циклом.</a:t>
            </a:r>
          </a:p>
          <a:p>
            <a:r>
              <a:rPr lang="ru-RU" dirty="0"/>
              <a:t>Во втором примере после вывода значения выполняется i++. Мы увеличиваем счётчик на единицу. В какой-то момент i станет равно 10, условие окажется ложным, и цикл завершится.</a:t>
            </a:r>
          </a:p>
          <a:p>
            <a:r>
              <a:rPr lang="ru-RU" dirty="0"/>
              <a:t>Запомните: если вы используете цикл, управляемый изменяющимся условием, необходимо понимать, каким образом программа сможет из него выйти».</a:t>
            </a:r>
          </a:p>
          <a:p>
            <a:r>
              <a:rPr lang="ru-RU" dirty="0"/>
              <a:t>Вопрос студентам: «Какое последнее число выведет исправленный цикл: 9 или 10?»</a:t>
            </a:r>
          </a:p>
          <a:p>
            <a:r>
              <a:rPr lang="ru-RU" dirty="0"/>
              <a:t>Ожидаемый ответ: 9, поскольку при i = 10 условие i &lt; 10 становится ложным.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139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изучением конкретных конструкций необходимо определить основные понятия.</a:t>
            </a:r>
          </a:p>
          <a:p>
            <a:r>
              <a:rPr lang="ru-RU" dirty="0"/>
              <a:t>Первое понятие — цикл. Это конструкция, предназначенная для многократного выполнения определённых действий.</a:t>
            </a:r>
          </a:p>
          <a:p>
            <a:r>
              <a:rPr lang="ru-RU" dirty="0"/>
              <a:t>Второе — итерация. Это одно повторение действий, записанных внутри цикла.</a:t>
            </a:r>
          </a:p>
          <a:p>
            <a:r>
              <a:rPr lang="ru-RU" dirty="0"/>
              <a:t>Третье — счётчик. Это переменная, которая позволяет отслеживать количество повторений. Чаще всего в примерах вы будете видеть переменные i, j или k, однако название может быть любым.</a:t>
            </a:r>
          </a:p>
          <a:p>
            <a:r>
              <a:rPr lang="ru-RU" dirty="0"/>
              <a:t>Четвёртое — тело цикла. Так называется код, который выполняется при каждом повторении. В C# тело из нескольких операторов обычно заключается в фигурные скобки.</a:t>
            </a:r>
          </a:p>
          <a:p>
            <a:r>
              <a:rPr lang="ru-RU" dirty="0"/>
              <a:t>Следующее понятие — условие. Это логическое выражение, результатом которого является </a:t>
            </a:r>
            <a:r>
              <a:rPr lang="ru-RU" dirty="0" err="1"/>
              <a:t>true</a:t>
            </a:r>
            <a:r>
              <a:rPr lang="ru-RU" dirty="0"/>
              <a:t> или </a:t>
            </a:r>
            <a:r>
              <a:rPr lang="ru-RU" dirty="0" err="1"/>
              <a:t>false</a:t>
            </a:r>
            <a:r>
              <a:rPr lang="ru-RU" dirty="0"/>
              <a:t>. Именно от результата проверки условия зависит продолжение выполнения цикла в рассматриваемых нами конструкциях.</a:t>
            </a:r>
          </a:p>
          <a:p>
            <a:r>
              <a:rPr lang="ru-RU" dirty="0"/>
              <a:t>Мы уже познакомились с понятием бесконечного цикла. Это ситуация, когда программа не может завершить повторения обычным способом, поскольку условие продолжения постоянно остаётся истинным.</a:t>
            </a:r>
          </a:p>
          <a:p>
            <a:r>
              <a:rPr lang="ru-RU" dirty="0"/>
              <a:t>Теперь обратите внимание на три новых термина.</a:t>
            </a:r>
          </a:p>
          <a:p>
            <a:r>
              <a:rPr lang="ru-RU" dirty="0"/>
              <a:t>Вложенный цикл — это цикл, расположенный внутри другого цикла. Представьте часы: пока меняется один час, минуты успевают пройти множество значений. Это пример того, как можно представить вложенные повторения.</a:t>
            </a:r>
          </a:p>
          <a:p>
            <a:r>
              <a:rPr lang="ru-RU" dirty="0"/>
              <a:t>Два последних понятия — </a:t>
            </a:r>
            <a:r>
              <a:rPr lang="ru-RU" dirty="0" err="1"/>
              <a:t>break</a:t>
            </a:r>
            <a:r>
              <a:rPr lang="ru-RU" dirty="0"/>
              <a:t> и </a:t>
            </a:r>
            <a:r>
              <a:rPr lang="ru-RU" dirty="0" err="1"/>
              <a:t>continue</a:t>
            </a:r>
            <a:r>
              <a:rPr lang="ru-RU" dirty="0"/>
              <a:t>.</a:t>
            </a:r>
          </a:p>
          <a:p>
            <a:r>
              <a:rPr lang="ru-RU" dirty="0"/>
              <a:t>Оператор </a:t>
            </a:r>
            <a:r>
              <a:rPr lang="ru-RU" dirty="0" err="1"/>
              <a:t>break</a:t>
            </a:r>
            <a:r>
              <a:rPr lang="ru-RU" dirty="0"/>
              <a:t> позволяет немедленно завершить выполнение текущего цикла.</a:t>
            </a:r>
          </a:p>
          <a:p>
            <a:r>
              <a:rPr lang="ru-RU" dirty="0"/>
              <a:t>А оператор </a:t>
            </a:r>
            <a:r>
              <a:rPr lang="ru-RU" dirty="0" err="1"/>
              <a:t>continue</a:t>
            </a:r>
            <a:r>
              <a:rPr lang="ru-RU" dirty="0"/>
              <a:t> позволяет пропустить оставшиеся действия текущей итерации и перейти к следующей.</a:t>
            </a:r>
          </a:p>
          <a:p>
            <a:r>
              <a:rPr lang="ru-RU" dirty="0"/>
              <a:t>Позже мы подробно рассмотрим разницу между ними.</a:t>
            </a:r>
          </a:p>
          <a:p>
            <a:r>
              <a:rPr lang="ru-RU" dirty="0"/>
              <a:t>Важно понимать, что циклы отличаются друг от друга прежде всего способом организации и проверки условия продолжения».</a:t>
            </a:r>
          </a:p>
          <a:p>
            <a:r>
              <a:rPr lang="ru-RU" dirty="0"/>
              <a:t>Вопрос студентам: «Если тело цикла выполнилось семь раз, сколько итераций было совершено?»</a:t>
            </a:r>
          </a:p>
          <a:p>
            <a:r>
              <a:rPr lang="ru-RU" dirty="0"/>
              <a:t>Ожидаемый ответ: семь.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544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вид цикла, который мы рассмотрим, — </a:t>
            </a:r>
            <a:r>
              <a:rPr lang="ru-RU" dirty="0" err="1"/>
              <a:t>while</a:t>
            </a:r>
            <a:r>
              <a:rPr lang="ru-RU" dirty="0"/>
              <a:t>.</a:t>
            </a:r>
          </a:p>
          <a:p>
            <a:r>
              <a:rPr lang="ru-RU" dirty="0"/>
              <a:t>Его название переводится с английского как "пока". То есть мы буквально говорим программе: пока некоторое условие истинно, выполняй определённые действия.</a:t>
            </a:r>
          </a:p>
          <a:p>
            <a:r>
              <a:rPr lang="ru-RU" dirty="0"/>
              <a:t>Особенность цикла </a:t>
            </a:r>
            <a:r>
              <a:rPr lang="ru-RU" dirty="0" err="1"/>
              <a:t>while</a:t>
            </a:r>
            <a:r>
              <a:rPr lang="ru-RU" dirty="0"/>
              <a:t> заключается в том, что условие проверяется до выполнения тела.</a:t>
            </a:r>
          </a:p>
          <a:p>
            <a:r>
              <a:rPr lang="ru-RU" dirty="0"/>
              <a:t>Сначала программа проверяет логическое выражение в круглых скобках. Если оно истинно, выполняется тело цикла. Затем программа снова возвращается к условию. Если условие ложно, цикл завершается.</a:t>
            </a:r>
          </a:p>
          <a:p>
            <a:r>
              <a:rPr lang="ru-RU" dirty="0"/>
              <a:t>Из этого следует важная особенность: цикл </a:t>
            </a:r>
            <a:r>
              <a:rPr lang="ru-RU" dirty="0" err="1"/>
              <a:t>while</a:t>
            </a:r>
            <a:r>
              <a:rPr lang="ru-RU" dirty="0"/>
              <a:t> может не выполниться ни одного раза.</a:t>
            </a:r>
          </a:p>
          <a:p>
            <a:r>
              <a:rPr lang="ru-RU" dirty="0"/>
              <a:t>Посмотрим на пример определения суммы цифр числа 4821.</a:t>
            </a:r>
          </a:p>
          <a:p>
            <a:r>
              <a:rPr lang="ru-RU" dirty="0"/>
              <a:t>Мы объявляем две переменные: </a:t>
            </a:r>
            <a:r>
              <a:rPr lang="ru-RU" dirty="0" err="1"/>
              <a:t>number</a:t>
            </a:r>
            <a:r>
              <a:rPr lang="ru-RU" dirty="0"/>
              <a:t> = 4821 и </a:t>
            </a:r>
            <a:r>
              <a:rPr lang="ru-RU" dirty="0" err="1"/>
              <a:t>sum</a:t>
            </a:r>
            <a:r>
              <a:rPr lang="ru-RU" dirty="0"/>
              <a:t> = 0.</a:t>
            </a:r>
          </a:p>
          <a:p>
            <a:r>
              <a:rPr lang="ru-RU" dirty="0"/>
              <a:t>Первая хранит исходное число, вторая — сумму его цифр, которую мы постепенно будем вычислять.</a:t>
            </a:r>
          </a:p>
          <a:p>
            <a:r>
              <a:rPr lang="ru-RU" dirty="0"/>
              <a:t>Цикл выполняется, пока </a:t>
            </a:r>
            <a:r>
              <a:rPr lang="ru-RU" dirty="0" err="1"/>
              <a:t>number</a:t>
            </a:r>
            <a:r>
              <a:rPr lang="ru-RU" dirty="0"/>
              <a:t> &gt; 0.</a:t>
            </a:r>
          </a:p>
          <a:p>
            <a:r>
              <a:rPr lang="ru-RU" dirty="0"/>
              <a:t>Внутри цикла записаны две операции.</a:t>
            </a:r>
          </a:p>
          <a:p>
            <a:r>
              <a:rPr lang="ru-RU" dirty="0"/>
              <a:t>Первая — </a:t>
            </a:r>
            <a:r>
              <a:rPr lang="ru-RU" dirty="0" err="1"/>
              <a:t>sum</a:t>
            </a:r>
            <a:r>
              <a:rPr lang="ru-RU" dirty="0"/>
              <a:t> += </a:t>
            </a:r>
            <a:r>
              <a:rPr lang="ru-RU" dirty="0" err="1"/>
              <a:t>number</a:t>
            </a:r>
            <a:r>
              <a:rPr lang="ru-RU" dirty="0"/>
              <a:t> % 10.</a:t>
            </a:r>
          </a:p>
          <a:p>
            <a:r>
              <a:rPr lang="ru-RU" dirty="0"/>
              <a:t>Вспомним, что оператор % возвращает остаток от деления. При делении целого положительного числа на 10 остатком будет его последняя цифра.</a:t>
            </a:r>
          </a:p>
          <a:p>
            <a:r>
              <a:rPr lang="ru-RU" dirty="0"/>
              <a:t>Например, 4821 % 10 равно 1. Значит, мы прибавляем единицу к сумме.</a:t>
            </a:r>
          </a:p>
          <a:p>
            <a:r>
              <a:rPr lang="ru-RU" dirty="0"/>
              <a:t>Вторая операция — </a:t>
            </a:r>
            <a:r>
              <a:rPr lang="ru-RU" dirty="0" err="1"/>
              <a:t>number</a:t>
            </a:r>
            <a:r>
              <a:rPr lang="ru-RU" dirty="0"/>
              <a:t> /= 10.</a:t>
            </a:r>
          </a:p>
          <a:p>
            <a:r>
              <a:rPr lang="ru-RU" dirty="0"/>
              <a:t>Переменная </a:t>
            </a:r>
            <a:r>
              <a:rPr lang="ru-RU" dirty="0" err="1"/>
              <a:t>number</a:t>
            </a:r>
            <a:r>
              <a:rPr lang="ru-RU" dirty="0"/>
              <a:t> имеет тип </a:t>
            </a:r>
            <a:r>
              <a:rPr lang="ru-RU" dirty="0" err="1"/>
              <a:t>int</a:t>
            </a:r>
            <a:r>
              <a:rPr lang="ru-RU" dirty="0"/>
              <a:t>. Поэтому при целочисленном делении на 10 дробная часть отбрасывается. Из числа 4821 мы получаем 482.</a:t>
            </a:r>
          </a:p>
          <a:p>
            <a:r>
              <a:rPr lang="ru-RU" dirty="0"/>
              <a:t>Таким образом, на каждой итерации мы берём последнюю цифру и удаляем её из числа</a:t>
            </a:r>
          </a:p>
          <a:p>
            <a:endParaRPr lang="ru-RU" dirty="0"/>
          </a:p>
          <a:p>
            <a:r>
              <a:rPr lang="ru-RU" dirty="0"/>
              <a:t>Вопрос студентам: «Что произойдёт, если изначально </a:t>
            </a:r>
            <a:r>
              <a:rPr lang="ru-RU" dirty="0" err="1"/>
              <a:t>number</a:t>
            </a:r>
            <a:r>
              <a:rPr lang="ru-RU" dirty="0"/>
              <a:t> = 0?»</a:t>
            </a:r>
          </a:p>
          <a:p>
            <a:r>
              <a:rPr lang="ru-RU" dirty="0"/>
              <a:t>Ожидаемый ответ: тело цикла не выполнится ни разу, программа сразу выведет сумму 0.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945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пример, когда мы заранее не знаем, сколько раз должен выполниться цикл.</a:t>
            </a:r>
          </a:p>
          <a:p>
            <a:r>
              <a:rPr lang="ru-RU" dirty="0"/>
              <a:t>Предположим, что пользователь последовательно вводит числа. Наша задача — вычислить их среднее арифметическое. Но сколько именно чисел будет введено, заранее неизвестно.</a:t>
            </a:r>
          </a:p>
          <a:p>
            <a:r>
              <a:rPr lang="ru-RU" dirty="0"/>
              <a:t>Поэтому мы договоримся, что ввод нуля означает завершение работы.</a:t>
            </a:r>
          </a:p>
          <a:p>
            <a:r>
              <a:rPr lang="ru-RU" dirty="0"/>
              <a:t>Такое значение, используемое в качестве сигнала остановки, называют значением-ограничителем.</a:t>
            </a:r>
          </a:p>
          <a:p>
            <a:r>
              <a:rPr lang="ru-RU" dirty="0"/>
              <a:t>В начале программы объявляются две переменные: </a:t>
            </a:r>
            <a:r>
              <a:rPr lang="ru-RU" dirty="0" err="1"/>
              <a:t>sum</a:t>
            </a:r>
            <a:r>
              <a:rPr lang="ru-RU" dirty="0"/>
              <a:t> для накопления суммы и </a:t>
            </a:r>
            <a:r>
              <a:rPr lang="ru-RU" dirty="0" err="1"/>
              <a:t>count</a:t>
            </a:r>
            <a:r>
              <a:rPr lang="ru-RU" dirty="0"/>
              <a:t> для подсчёта количества введённых чисел.</a:t>
            </a:r>
          </a:p>
          <a:p>
            <a:r>
              <a:rPr lang="ru-RU" dirty="0"/>
              <a:t>После этого программа считывает первое число:</a:t>
            </a:r>
          </a:p>
          <a:p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val</a:t>
            </a:r>
            <a:r>
              <a:rPr lang="ru-RU" dirty="0"/>
              <a:t> = </a:t>
            </a:r>
            <a:r>
              <a:rPr lang="ru-RU" dirty="0" err="1"/>
              <a:t>int.Parse</a:t>
            </a:r>
            <a:r>
              <a:rPr lang="ru-RU" dirty="0"/>
              <a:t>(</a:t>
            </a:r>
            <a:r>
              <a:rPr lang="ru-RU" dirty="0" err="1"/>
              <a:t>Console.ReadLine</a:t>
            </a:r>
            <a:r>
              <a:rPr lang="ru-RU" dirty="0"/>
              <a:t>());</a:t>
            </a:r>
          </a:p>
          <a:p>
            <a:r>
              <a:rPr lang="ru-RU" dirty="0"/>
              <a:t>Почему первое чтение выполняется до цикла?</a:t>
            </a:r>
          </a:p>
          <a:p>
            <a:r>
              <a:rPr lang="ru-RU" dirty="0"/>
              <a:t>Потому что для проверки условия </a:t>
            </a:r>
            <a:r>
              <a:rPr lang="ru-RU" dirty="0" err="1"/>
              <a:t>val</a:t>
            </a:r>
            <a:r>
              <a:rPr lang="ru-RU" dirty="0"/>
              <a:t> != 0 переменная уже должна содержать значение.</a:t>
            </a:r>
          </a:p>
          <a:p>
            <a:r>
              <a:rPr lang="ru-RU" dirty="0"/>
              <a:t>Если пользователь сразу введёт ноль, условие будет ложным и цикл не начнётся.</a:t>
            </a:r>
          </a:p>
          <a:p>
            <a:r>
              <a:rPr lang="ru-RU" dirty="0"/>
              <a:t>Если число отличается от нуля, выполняются три действия.</a:t>
            </a:r>
          </a:p>
          <a:p>
            <a:r>
              <a:rPr lang="ru-RU" dirty="0"/>
              <a:t>Сначала мы прибавляем его к сумме: </a:t>
            </a:r>
            <a:r>
              <a:rPr lang="ru-RU" dirty="0" err="1"/>
              <a:t>sum</a:t>
            </a:r>
            <a:r>
              <a:rPr lang="ru-RU" dirty="0"/>
              <a:t> += </a:t>
            </a:r>
            <a:r>
              <a:rPr lang="ru-RU" dirty="0" err="1"/>
              <a:t>val</a:t>
            </a:r>
            <a:r>
              <a:rPr lang="ru-RU" dirty="0"/>
              <a:t>.</a:t>
            </a:r>
          </a:p>
          <a:p>
            <a:r>
              <a:rPr lang="ru-RU" dirty="0"/>
              <a:t>Затем увеличиваем количество чисел: </a:t>
            </a:r>
            <a:r>
              <a:rPr lang="ru-RU" dirty="0" err="1"/>
              <a:t>count</a:t>
            </a:r>
            <a:r>
              <a:rPr lang="ru-RU" dirty="0"/>
              <a:t>++.</a:t>
            </a:r>
          </a:p>
          <a:p>
            <a:r>
              <a:rPr lang="ru-RU" dirty="0"/>
              <a:t>После этого снова считываем число, чтобы на следующей проверке программа могла определить, нужно ли продолжать работу.</a:t>
            </a:r>
          </a:p>
          <a:p>
            <a:r>
              <a:rPr lang="ru-RU" dirty="0"/>
              <a:t>Разберём последовательность ввода: 4, 8, 6, 0.</a:t>
            </a:r>
          </a:p>
          <a:p>
            <a:r>
              <a:rPr lang="ru-RU" dirty="0"/>
              <a:t>Первое число — 4. Сумма становится равной 4, количество — 1.</a:t>
            </a:r>
          </a:p>
          <a:p>
            <a:r>
              <a:rPr lang="ru-RU" dirty="0"/>
              <a:t>Второе число — 8. Сумма становится равной 12, количество — 2.</a:t>
            </a:r>
          </a:p>
          <a:p>
            <a:r>
              <a:rPr lang="ru-RU" dirty="0"/>
              <a:t>Третье число — 6. Сумма становится равной 18, количество — 3.</a:t>
            </a:r>
          </a:p>
          <a:p>
            <a:r>
              <a:rPr lang="ru-RU" dirty="0"/>
              <a:t>Пользователь вводит 0. Цикл завершается. Обратите внимание: ноль не добавляется в сумму и не учитывается в количестве.</a:t>
            </a:r>
          </a:p>
          <a:p>
            <a:r>
              <a:rPr lang="ru-RU" dirty="0"/>
              <a:t>Теперь необходимо вычислить среднее арифметическое.</a:t>
            </a:r>
          </a:p>
          <a:p>
            <a:r>
              <a:rPr lang="ru-RU" dirty="0"/>
              <a:t>Для этого используется тернарный оператор, с которым мы уже знакомы:</a:t>
            </a:r>
          </a:p>
          <a:p>
            <a:r>
              <a:rPr lang="ru-RU" dirty="0" err="1"/>
              <a:t>count</a:t>
            </a:r>
            <a:r>
              <a:rPr lang="ru-RU" dirty="0"/>
              <a:t> &gt; 0 ? (</a:t>
            </a:r>
            <a:r>
              <a:rPr lang="ru-RU" dirty="0" err="1"/>
              <a:t>double</a:t>
            </a:r>
            <a:r>
              <a:rPr lang="ru-RU" dirty="0"/>
              <a:t>)</a:t>
            </a:r>
            <a:r>
              <a:rPr lang="ru-RU" dirty="0" err="1"/>
              <a:t>sum</a:t>
            </a:r>
            <a:r>
              <a:rPr lang="ru-RU" dirty="0"/>
              <a:t> / </a:t>
            </a:r>
            <a:r>
              <a:rPr lang="ru-RU" dirty="0" err="1"/>
              <a:t>count</a:t>
            </a:r>
            <a:r>
              <a:rPr lang="ru-RU" dirty="0"/>
              <a:t> : 0</a:t>
            </a:r>
          </a:p>
          <a:p>
            <a:r>
              <a:rPr lang="ru-RU" dirty="0"/>
              <a:t>Если количество чисел больше нуля, вычисляем среднее. Если же не было введено ни одного ненулевого числа, возвращаем ноль.</a:t>
            </a:r>
          </a:p>
          <a:p>
            <a:r>
              <a:rPr lang="ru-RU" dirty="0"/>
              <a:t>Это позволяет избежать деления на ноль.</a:t>
            </a:r>
          </a:p>
          <a:p>
            <a:r>
              <a:rPr lang="ru-RU" dirty="0"/>
              <a:t>Почему перед переменной </a:t>
            </a:r>
            <a:r>
              <a:rPr lang="ru-RU" dirty="0" err="1"/>
              <a:t>sum</a:t>
            </a:r>
            <a:r>
              <a:rPr lang="ru-RU" dirty="0"/>
              <a:t> указано (</a:t>
            </a:r>
            <a:r>
              <a:rPr lang="ru-RU" dirty="0" err="1"/>
              <a:t>double</a:t>
            </a:r>
            <a:r>
              <a:rPr lang="ru-RU" dirty="0"/>
              <a:t>)?</a:t>
            </a:r>
          </a:p>
          <a:p>
            <a:r>
              <a:rPr lang="ru-RU" dirty="0"/>
              <a:t>Потому что при делении двух целых чисел в C# дробная часть результата отбрасывается. Приведение к </a:t>
            </a:r>
            <a:r>
              <a:rPr lang="ru-RU" dirty="0" err="1"/>
              <a:t>double</a:t>
            </a:r>
            <a:r>
              <a:rPr lang="ru-RU" dirty="0"/>
              <a:t> позволяет получить вещественный результат.</a:t>
            </a:r>
          </a:p>
          <a:p>
            <a:r>
              <a:rPr lang="ru-RU" dirty="0"/>
              <a:t>В нашем случае 18 делим на 3 и получаем 6.</a:t>
            </a:r>
          </a:p>
          <a:p>
            <a:r>
              <a:rPr lang="ru-RU" dirty="0"/>
              <a:t>В конце используется форматирование F1, которое позволяет вывести одну цифру после десятичного разделителя.</a:t>
            </a:r>
          </a:p>
          <a:p>
            <a:r>
              <a:rPr lang="ru-RU" dirty="0"/>
              <a:t>Получаем среднее значение 6,0 или 6.0 — в зависимости от региональных настроек программы».</a:t>
            </a:r>
          </a:p>
          <a:p>
            <a:r>
              <a:rPr lang="ru-RU" dirty="0"/>
              <a:t>Вопрос студентам: «Что произойдёт, если удалить считывание </a:t>
            </a:r>
            <a:r>
              <a:rPr lang="ru-RU" dirty="0" err="1"/>
              <a:t>val</a:t>
            </a:r>
            <a:r>
              <a:rPr lang="ru-RU" dirty="0"/>
              <a:t> из тела цикла?»</a:t>
            </a:r>
          </a:p>
          <a:p>
            <a:r>
              <a:rPr lang="ru-RU" dirty="0"/>
              <a:t>Ожидаемый ответ: если первое введённое число не равно нулю, его значение больше не будет изменяться и цикл станет бесконечным.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904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познакомимся со вторым видом цикла —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.</a:t>
            </a:r>
          </a:p>
          <a:p>
            <a:r>
              <a:rPr lang="ru-RU" dirty="0"/>
              <a:t>Он похож на </a:t>
            </a:r>
            <a:r>
              <a:rPr lang="ru-RU" dirty="0" err="1"/>
              <a:t>while</a:t>
            </a:r>
            <a:r>
              <a:rPr lang="ru-RU" dirty="0"/>
              <a:t>, но имеет одно принципиальное отличие.</a:t>
            </a:r>
          </a:p>
          <a:p>
            <a:r>
              <a:rPr lang="ru-RU" dirty="0"/>
              <a:t>В цикле </a:t>
            </a:r>
            <a:r>
              <a:rPr lang="ru-RU" dirty="0" err="1"/>
              <a:t>while</a:t>
            </a:r>
            <a:r>
              <a:rPr lang="ru-RU" dirty="0"/>
              <a:t> условие проверяется перед выполнением тела. А в цикле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проверка происходит после выполнения тела.</a:t>
            </a:r>
          </a:p>
          <a:p>
            <a:r>
              <a:rPr lang="ru-RU" dirty="0"/>
              <a:t>Именно поэтому конструкцию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называют циклом с постусловием.</a:t>
            </a:r>
          </a:p>
          <a:p>
            <a:r>
              <a:rPr lang="ru-RU" dirty="0"/>
              <a:t>Слово </a:t>
            </a:r>
            <a:r>
              <a:rPr lang="ru-RU" dirty="0" err="1"/>
              <a:t>do</a:t>
            </a:r>
            <a:r>
              <a:rPr lang="ru-RU" dirty="0"/>
              <a:t> переводится как "делать". Получается следующая логика: сначала выполни действия, а затем проверь, нужно ли повторить их.</a:t>
            </a:r>
          </a:p>
          <a:p>
            <a:r>
              <a:rPr lang="ru-RU" dirty="0"/>
              <a:t>Самое важное свойство такого цикла — тело обязательно выполнится хотя бы один раз.</a:t>
            </a:r>
          </a:p>
          <a:p>
            <a:r>
              <a:rPr lang="ru-RU" dirty="0"/>
              <a:t>Рассмотрим пример консольного меню.</a:t>
            </a:r>
          </a:p>
          <a:p>
            <a:r>
              <a:rPr lang="ru-RU" dirty="0"/>
              <a:t>В программе объявляется строковая переменная </a:t>
            </a:r>
            <a:r>
              <a:rPr lang="ru-RU" dirty="0" err="1"/>
              <a:t>choice</a:t>
            </a:r>
            <a:r>
              <a:rPr lang="ru-RU" dirty="0"/>
              <a:t>. Она будет хранить выбор пользователя.</a:t>
            </a:r>
          </a:p>
          <a:p>
            <a:r>
              <a:rPr lang="ru-RU" dirty="0"/>
              <a:t>После ключевого слова </a:t>
            </a:r>
            <a:r>
              <a:rPr lang="ru-RU" dirty="0" err="1"/>
              <a:t>do</a:t>
            </a:r>
            <a:r>
              <a:rPr lang="ru-RU" dirty="0"/>
              <a:t> начинаются действия, которые необходимо повторять.</a:t>
            </a:r>
          </a:p>
          <a:p>
            <a:r>
              <a:rPr lang="ru-RU" dirty="0"/>
              <a:t>Сначала программа выводит меню, содержащее три пункта: старт, настройки и выход.</a:t>
            </a:r>
          </a:p>
          <a:p>
            <a:r>
              <a:rPr lang="ru-RU" dirty="0"/>
              <a:t>Затем с помощью </a:t>
            </a:r>
            <a:r>
              <a:rPr lang="ru-RU" dirty="0" err="1"/>
              <a:t>Console.ReadLine</a:t>
            </a:r>
            <a:r>
              <a:rPr lang="ru-RU" dirty="0"/>
              <a:t>() считывается выбор пользователя.</a:t>
            </a:r>
          </a:p>
          <a:p>
            <a:r>
              <a:rPr lang="ru-RU" dirty="0"/>
              <a:t>После закрывающей фигурной скобки записано условие:</a:t>
            </a:r>
          </a:p>
          <a:p>
            <a:r>
              <a:rPr lang="ru-RU" dirty="0" err="1"/>
              <a:t>while</a:t>
            </a:r>
            <a:r>
              <a:rPr lang="ru-RU" dirty="0"/>
              <a:t> (</a:t>
            </a:r>
            <a:r>
              <a:rPr lang="ru-RU" dirty="0" err="1"/>
              <a:t>choice</a:t>
            </a:r>
            <a:r>
              <a:rPr lang="ru-RU" dirty="0"/>
              <a:t> != "0");</a:t>
            </a:r>
          </a:p>
          <a:p>
            <a:r>
              <a:rPr lang="ru-RU" dirty="0"/>
              <a:t>Пока пользователь вводит значение, отличное от строки "0", меню будет появляться снова.</a:t>
            </a:r>
          </a:p>
          <a:p>
            <a:r>
              <a:rPr lang="ru-RU" dirty="0"/>
              <a:t>Допустим, сначала пользователь выбирает пункт 1.</a:t>
            </a:r>
          </a:p>
          <a:p>
            <a:r>
              <a:rPr lang="ru-RU" dirty="0"/>
              <a:t>Программа получает строку "1", проверяет условие и видит, что единица не равна нулю. Условие истинно, значит, меню нужно показать ещё раз.</a:t>
            </a:r>
          </a:p>
          <a:p>
            <a:r>
              <a:rPr lang="ru-RU" dirty="0"/>
              <a:t>При следующем вводе пользователь выбирает 0.</a:t>
            </a:r>
          </a:p>
          <a:p>
            <a:r>
              <a:rPr lang="ru-RU" dirty="0"/>
              <a:t>Теперь условие "0" != "0" становится ложным, поэтому цикл завершается.</a:t>
            </a:r>
          </a:p>
          <a:p>
            <a:r>
              <a:rPr lang="ru-RU" dirty="0"/>
              <a:t>После него программа выводит сообщение о завершении работы.</a:t>
            </a:r>
          </a:p>
          <a:p>
            <a:r>
              <a:rPr lang="ru-RU" dirty="0"/>
              <a:t>Обратите внимание на синтаксис: после условия </a:t>
            </a:r>
            <a:r>
              <a:rPr lang="ru-RU" dirty="0" err="1"/>
              <a:t>while</a:t>
            </a:r>
            <a:r>
              <a:rPr lang="ru-RU" dirty="0"/>
              <a:t> в конструкции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обязательно ставится точка с запятой.</a:t>
            </a:r>
          </a:p>
          <a:p>
            <a:r>
              <a:rPr lang="ru-RU" dirty="0"/>
              <a:t>Ещё один вопрос: почему мы использовали здесь строковую переменную, а не целочисленную?</a:t>
            </a:r>
          </a:p>
          <a:p>
            <a:r>
              <a:rPr lang="ru-RU" dirty="0"/>
              <a:t>Потому что </a:t>
            </a:r>
            <a:r>
              <a:rPr lang="ru-RU" dirty="0" err="1"/>
              <a:t>Console.ReadLine</a:t>
            </a:r>
            <a:r>
              <a:rPr lang="ru-RU" dirty="0"/>
              <a:t>() возвращает строку. Мы можем сравнивать её со строковыми значениями без дополнительного преобразования типов.</a:t>
            </a:r>
          </a:p>
          <a:p>
            <a:r>
              <a:rPr lang="ru-RU" dirty="0"/>
              <a:t>Теперь посмотрим на таблицу сравнения.</a:t>
            </a:r>
          </a:p>
          <a:p>
            <a:r>
              <a:rPr lang="ru-RU" dirty="0"/>
              <a:t>У </a:t>
            </a:r>
            <a:r>
              <a:rPr lang="ru-RU" dirty="0" err="1"/>
              <a:t>while</a:t>
            </a:r>
            <a:r>
              <a:rPr lang="ru-RU" dirty="0"/>
              <a:t> условие проверяется до первого выполнения, поэтому количество итераций может быть равно нулю.</a:t>
            </a:r>
          </a:p>
          <a:p>
            <a:r>
              <a:rPr lang="ru-RU" dirty="0"/>
              <a:t>У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условие проверяется после первого выполнения, поэтому как минимум одна итерация гарантирована.</a:t>
            </a:r>
          </a:p>
          <a:p>
            <a:r>
              <a:rPr lang="ru-RU" dirty="0"/>
              <a:t>Если нам необходимо сначала выполнить действие, например показать меню или запросить данные, а уже затем решить, нужно ли повторять его, удобнее использовать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».</a:t>
            </a:r>
          </a:p>
          <a:p>
            <a:r>
              <a:rPr lang="ru-RU" dirty="0"/>
              <a:t>Вопрос студентам: «Если пользователь сразу введёт 0, сколько раз появится меню?»</a:t>
            </a:r>
          </a:p>
          <a:p>
            <a:r>
              <a:rPr lang="ru-RU" dirty="0"/>
              <a:t>Ожидаемый ответ: один раз, потому что условие проверяется только после выполнения тела.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118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ещё одну ситуацию, в которой удобно использовать цикл с постусловием.</a:t>
            </a:r>
          </a:p>
          <a:p>
            <a:r>
              <a:rPr lang="ru-RU" dirty="0"/>
              <a:t>Предположим, что необходимо запросить у пользователя пароль и не разрешать доступ, пока он не введёт правильное значение.</a:t>
            </a:r>
          </a:p>
          <a:p>
            <a:r>
              <a:rPr lang="ru-RU" dirty="0"/>
              <a:t>Сначала мы объявляем константу:</a:t>
            </a:r>
          </a:p>
          <a:p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string</a:t>
            </a:r>
            <a:r>
              <a:rPr lang="ru-RU" dirty="0"/>
              <a:t> Secret = "cs2026";</a:t>
            </a:r>
          </a:p>
          <a:p>
            <a:r>
              <a:rPr lang="ru-RU" dirty="0"/>
              <a:t>Ключевое слово </a:t>
            </a:r>
            <a:r>
              <a:rPr lang="ru-RU" dirty="0" err="1"/>
              <a:t>const</a:t>
            </a:r>
            <a:r>
              <a:rPr lang="ru-RU" dirty="0"/>
              <a:t> означает, что значение константы не может быть изменено после объявления.</a:t>
            </a:r>
          </a:p>
          <a:p>
            <a:r>
              <a:rPr lang="ru-RU" dirty="0"/>
              <a:t>Далее создаём переменную </a:t>
            </a:r>
            <a:r>
              <a:rPr lang="ru-RU" dirty="0" err="1"/>
              <a:t>input</a:t>
            </a:r>
            <a:r>
              <a:rPr lang="ru-RU" dirty="0"/>
              <a:t>, в которую будем записывать пароль пользователя.</a:t>
            </a:r>
          </a:p>
          <a:p>
            <a:r>
              <a:rPr lang="ru-RU" dirty="0"/>
              <a:t>Теперь начинается цикл </a:t>
            </a:r>
            <a:r>
              <a:rPr lang="ru-RU" dirty="0" err="1"/>
              <a:t>do</a:t>
            </a:r>
            <a:r>
              <a:rPr lang="ru-RU" dirty="0"/>
              <a:t>.</a:t>
            </a:r>
          </a:p>
          <a:p>
            <a:r>
              <a:rPr lang="ru-RU" dirty="0"/>
              <a:t>Внутри тела программа выводит приглашение "Введите пароль", а затем считывает введённую строку.</a:t>
            </a:r>
          </a:p>
          <a:p>
            <a:r>
              <a:rPr lang="ru-RU" dirty="0"/>
              <a:t>После выполнения тела проверяется условие:</a:t>
            </a:r>
          </a:p>
          <a:p>
            <a:r>
              <a:rPr lang="ru-RU" dirty="0" err="1"/>
              <a:t>input</a:t>
            </a:r>
            <a:r>
              <a:rPr lang="ru-RU" dirty="0"/>
              <a:t> != Secret</a:t>
            </a:r>
          </a:p>
          <a:p>
            <a:r>
              <a:rPr lang="ru-RU" dirty="0"/>
              <a:t>То есть мы спрашиваем: отличается ли введённая строка от правильного пароля?</a:t>
            </a:r>
          </a:p>
          <a:p>
            <a:r>
              <a:rPr lang="ru-RU" dirty="0"/>
              <a:t>Если отличается, условие истинно и запрос повторяется.</a:t>
            </a:r>
          </a:p>
          <a:p>
            <a:r>
              <a:rPr lang="ru-RU" dirty="0"/>
              <a:t>Если строки совпадают, условие становится ложным, цикл завершается, и программа выводит сообщение "Доступ разрешён!".</a:t>
            </a:r>
          </a:p>
          <a:p>
            <a:r>
              <a:rPr lang="ru-RU" dirty="0"/>
              <a:t>Разберём пример.</a:t>
            </a:r>
          </a:p>
          <a:p>
            <a:r>
              <a:rPr lang="ru-RU" dirty="0"/>
              <a:t>Пользователь вводит 1234. Пароль неправильный — повторяем ввод.</a:t>
            </a:r>
          </a:p>
          <a:p>
            <a:r>
              <a:rPr lang="ru-RU" dirty="0"/>
              <a:t>Затем вводит </a:t>
            </a:r>
            <a:r>
              <a:rPr lang="ru-RU" dirty="0" err="1"/>
              <a:t>admin</a:t>
            </a:r>
            <a:r>
              <a:rPr lang="ru-RU" dirty="0"/>
              <a:t>. Снова неправильный — повторяем ввод.</a:t>
            </a:r>
          </a:p>
          <a:p>
            <a:r>
              <a:rPr lang="ru-RU" dirty="0"/>
              <a:t>Наконец, вводит cs2026. Условие становится ложным, цикл прекращается и появляется сообщение об успешной авторизации.</a:t>
            </a:r>
          </a:p>
          <a:p>
            <a:r>
              <a:rPr lang="ru-RU" dirty="0"/>
              <a:t>Почему здесь удобен именно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?</a:t>
            </a:r>
          </a:p>
          <a:p>
            <a:r>
              <a:rPr lang="ru-RU" dirty="0"/>
              <a:t>Потому что первый запрос пароля должен появиться в любом случае.</a:t>
            </a:r>
          </a:p>
          <a:p>
            <a:r>
              <a:rPr lang="ru-RU" dirty="0"/>
              <a:t>Нам не нужно заранее присваивать переменной </a:t>
            </a:r>
            <a:r>
              <a:rPr lang="ru-RU" dirty="0" err="1"/>
              <a:t>input</a:t>
            </a:r>
            <a:r>
              <a:rPr lang="ru-RU" dirty="0"/>
              <a:t> какое-либо фиктивное значение только ради первой проверки условия.</a:t>
            </a:r>
          </a:p>
          <a:p>
            <a:r>
              <a:rPr lang="ru-RU" dirty="0"/>
              <a:t>Кроме того, обратите внимание: в C# сравнение строк оператором == или != учитывает регистр символов. Например, пароль CS2026 не будет равен cs2026.</a:t>
            </a:r>
          </a:p>
          <a:p>
            <a:r>
              <a:rPr lang="ru-RU" dirty="0"/>
              <a:t>Итак, цикл с постусловием удобен при организации повторного ввода данных, запросе паролей, работе с меню и проверке корректности значений».</a:t>
            </a:r>
          </a:p>
          <a:p>
            <a:r>
              <a:rPr lang="ru-RU" dirty="0"/>
              <a:t>Вопрос студентам: «Если пароль был введён правильно с первого раза, будет ли цикл выполняться повторно?»</a:t>
            </a:r>
          </a:p>
          <a:p>
            <a:r>
              <a:rPr lang="ru-RU" dirty="0"/>
              <a:t>Ожидаемый ответ: нет. Первая итерация выполнится, но после проверки ложного условия произойдёт выход.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091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познакомились с двумя видами циклов, которые удобно использовать, когда количество повторений заранее неизвестно.</a:t>
            </a:r>
          </a:p>
          <a:p>
            <a:r>
              <a:rPr lang="ru-RU" dirty="0"/>
              <a:t>Теперь рассмотрим цикл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В отличие от предыдущих конструкций, </a:t>
            </a:r>
            <a:r>
              <a:rPr lang="ru-RU" dirty="0" err="1"/>
              <a:t>for</a:t>
            </a:r>
            <a:r>
              <a:rPr lang="ru-RU" dirty="0"/>
              <a:t> особенно удобен для задач, в которых мы заранее можем определить количество повторений.</a:t>
            </a:r>
          </a:p>
          <a:p>
            <a:r>
              <a:rPr lang="ru-RU" dirty="0"/>
              <a:t>Например, вывести числа от 1 до 10, построить таблицу умножения или выполнить определённое действие пять раз.</a:t>
            </a:r>
          </a:p>
          <a:p>
            <a:r>
              <a:rPr lang="ru-RU" dirty="0"/>
              <a:t>Основная особенность цикла </a:t>
            </a:r>
            <a:r>
              <a:rPr lang="ru-RU" dirty="0" err="1"/>
              <a:t>for</a:t>
            </a:r>
            <a:r>
              <a:rPr lang="ru-RU" dirty="0"/>
              <a:t> заключается в его заголовке.</a:t>
            </a:r>
          </a:p>
          <a:p>
            <a:r>
              <a:rPr lang="ru-RU" dirty="0"/>
              <a:t>В круглых скобках расположены три части, разделённые точками с запятой.</a:t>
            </a:r>
          </a:p>
          <a:p>
            <a:r>
              <a:rPr lang="ru-RU" dirty="0"/>
              <a:t>Первая часть — инициализация. Обычно здесь объявляется счётчик и задаётся его начальное значение.</a:t>
            </a:r>
          </a:p>
          <a:p>
            <a:r>
              <a:rPr lang="ru-RU" dirty="0"/>
              <a:t>Вторая часть — условие продолжения. Пока оно истинно, тело цикла продолжает выполняться.</a:t>
            </a:r>
          </a:p>
          <a:p>
            <a:r>
              <a:rPr lang="ru-RU" dirty="0"/>
              <a:t>Третья часть — шаг. Это действие, которое выполняется после каждой итерации. Чаще всего счётчик увеличивается или уменьшается.</a:t>
            </a:r>
          </a:p>
          <a:p>
            <a:r>
              <a:rPr lang="ru-RU" dirty="0"/>
              <a:t>Обратите внимание на порядок выполнения.</a:t>
            </a:r>
          </a:p>
          <a:p>
            <a:r>
              <a:rPr lang="ru-RU" dirty="0"/>
              <a:t>Инициализация выполняется только один раз, перед началом работы цикла.</a:t>
            </a:r>
          </a:p>
          <a:p>
            <a:r>
              <a:rPr lang="ru-RU" dirty="0"/>
              <a:t>Затем проверяется условие.</a:t>
            </a:r>
          </a:p>
          <a:p>
            <a:r>
              <a:rPr lang="ru-RU" dirty="0"/>
              <a:t>Если оно истинно, выполняется тело.</a:t>
            </a:r>
          </a:p>
          <a:p>
            <a:r>
              <a:rPr lang="ru-RU" dirty="0"/>
              <a:t>После завершения тела выполняется шаг.</a:t>
            </a:r>
          </a:p>
          <a:p>
            <a:r>
              <a:rPr lang="ru-RU" dirty="0"/>
              <a:t>Затем программа снова возвращается к проверке условия.</a:t>
            </a:r>
          </a:p>
          <a:p>
            <a:r>
              <a:rPr lang="ru-RU" dirty="0"/>
              <a:t>Рассмотрим пример вывода таблицы умножения на 7.</a:t>
            </a:r>
          </a:p>
          <a:p>
            <a:r>
              <a:rPr lang="ru-RU" dirty="0"/>
              <a:t>Мы создаём переменную n = 7.</a:t>
            </a:r>
          </a:p>
          <a:p>
            <a:r>
              <a:rPr lang="ru-RU" dirty="0"/>
              <a:t>Далее записываем:</a:t>
            </a:r>
          </a:p>
          <a:p>
            <a:r>
              <a:rPr lang="ru-RU" dirty="0" err="1"/>
              <a:t>for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i = 1; i &lt;= 5; i++)</a:t>
            </a:r>
          </a:p>
          <a:p>
            <a:r>
              <a:rPr lang="ru-RU" dirty="0"/>
              <a:t>Начальное значение i равно 1. Цикл выполняется, пока i меньше либо равно 5. После каждой итерации значение i увеличивается на единицу.</a:t>
            </a:r>
          </a:p>
          <a:p>
            <a:r>
              <a:rPr lang="ru-RU" dirty="0"/>
              <a:t>В теле вычисляется произведение n * i, после чего результат выводится на экран.</a:t>
            </a:r>
          </a:p>
          <a:p>
            <a:r>
              <a:rPr lang="ru-RU" dirty="0"/>
              <a:t>Таким образом, программа последовательно вычисляет 7 × 1, 7 × 2, 7 × 3, 7 × 4 и 7 × 5.</a:t>
            </a:r>
          </a:p>
          <a:p>
            <a:r>
              <a:rPr lang="ru-RU" dirty="0"/>
              <a:t>Всего выполняется пять итераций.</a:t>
            </a:r>
          </a:p>
          <a:p>
            <a:r>
              <a:rPr lang="ru-RU" dirty="0"/>
              <a:t>На следующем шаге счётчик становится равным 6. Проверка 6 &lt;= 5 даёт </a:t>
            </a:r>
            <a:r>
              <a:rPr lang="ru-RU" dirty="0" err="1"/>
              <a:t>false</a:t>
            </a:r>
            <a:r>
              <a:rPr lang="ru-RU" dirty="0"/>
              <a:t>, поэтому цикл завершается.</a:t>
            </a:r>
          </a:p>
          <a:p>
            <a:r>
              <a:rPr lang="ru-RU" dirty="0"/>
              <a:t>Обратите внимание на комментарий в конце примера: переменная i здесь недоступна.</a:t>
            </a:r>
          </a:p>
          <a:p>
            <a:r>
              <a:rPr lang="ru-RU" dirty="0"/>
              <a:t>Почему?</a:t>
            </a:r>
          </a:p>
          <a:p>
            <a:r>
              <a:rPr lang="ru-RU" dirty="0"/>
              <a:t>Потому что мы объявили её непосредственно в заголовке </a:t>
            </a:r>
            <a:r>
              <a:rPr lang="ru-RU" dirty="0" err="1"/>
              <a:t>for</a:t>
            </a:r>
            <a:r>
              <a:rPr lang="ru-RU" dirty="0"/>
              <a:t>. Область видимости такой переменной ограничена циклом.</a:t>
            </a:r>
          </a:p>
          <a:p>
            <a:r>
              <a:rPr lang="ru-RU" dirty="0"/>
              <a:t>После его завершения обратиться к ней уже нельзя».</a:t>
            </a:r>
          </a:p>
          <a:p>
            <a:r>
              <a:rPr lang="ru-RU" dirty="0"/>
              <a:t>Вопрос студентам: «Сколько раз выполнится цикл, если заменить условие i &lt;= 5 на i &lt; 5?»</a:t>
            </a:r>
          </a:p>
          <a:p>
            <a:r>
              <a:rPr lang="ru-RU" dirty="0"/>
              <a:t>Ожидаемый ответ: четыре раза — для значений 1, 2, 3 и 4.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117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представлены несколько вариантов применения цикла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Начнём с классического примера.</a:t>
            </a:r>
          </a:p>
          <a:p>
            <a:r>
              <a:rPr lang="ru-RU" dirty="0" err="1"/>
              <a:t>for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i = 0; i &lt; 5; i++)</a:t>
            </a:r>
          </a:p>
          <a:p>
            <a:r>
              <a:rPr lang="ru-RU" dirty="0"/>
              <a:t>Счётчик начинается с нуля и увеличивается на единицу, пока остаётся меньше пяти.</a:t>
            </a:r>
          </a:p>
          <a:p>
            <a:r>
              <a:rPr lang="ru-RU" dirty="0"/>
              <a:t>Какие значения будут выведены?</a:t>
            </a:r>
          </a:p>
          <a:p>
            <a:r>
              <a:rPr lang="ru-RU" dirty="0"/>
              <a:t>0, 1, 2, 3 и 4.</a:t>
            </a:r>
          </a:p>
          <a:p>
            <a:r>
              <a:rPr lang="ru-RU" dirty="0"/>
              <a:t>Обратите внимание: цикл выполняется пять раз, хотя последнее выведенное значение равно четырём.</a:t>
            </a:r>
          </a:p>
          <a:p>
            <a:r>
              <a:rPr lang="ru-RU" dirty="0"/>
              <a:t>Теперь посмотрим на следующий пример — обратный отсчёт.</a:t>
            </a:r>
          </a:p>
          <a:p>
            <a:r>
              <a:rPr lang="ru-RU" dirty="0"/>
              <a:t>Здесь счётчик начинается с 10, а условие записано как i &gt;= 0.</a:t>
            </a:r>
          </a:p>
          <a:p>
            <a:r>
              <a:rPr lang="ru-RU" dirty="0"/>
              <a:t>В третьей части заголовка используется операция i--, то есть декремент.</a:t>
            </a:r>
          </a:p>
          <a:p>
            <a:r>
              <a:rPr lang="ru-RU" dirty="0"/>
              <a:t>Поэтому на каждой итерации значение уменьшается на единицу.</a:t>
            </a:r>
          </a:p>
          <a:p>
            <a:r>
              <a:rPr lang="ru-RU" dirty="0"/>
              <a:t>Программа выведет числа от 10 до 0 включительно.</a:t>
            </a:r>
          </a:p>
          <a:p>
            <a:r>
              <a:rPr lang="ru-RU" dirty="0"/>
              <a:t>Следующий пример демонстрирует произвольный шаг.</a:t>
            </a:r>
          </a:p>
          <a:p>
            <a:r>
              <a:rPr lang="ru-RU" dirty="0"/>
              <a:t>Вместо i++ мы используем i += 2.</a:t>
            </a:r>
          </a:p>
          <a:p>
            <a:r>
              <a:rPr lang="ru-RU" dirty="0"/>
              <a:t>Это означает, что после каждой итерации счётчик увеличивается сразу на два.</a:t>
            </a:r>
          </a:p>
          <a:p>
            <a:r>
              <a:rPr lang="ru-RU" dirty="0"/>
              <a:t>В результате программа выводит последовательность чётных чисел: 0, 2, 4, 6 и так далее до 20.</a:t>
            </a:r>
          </a:p>
          <a:p>
            <a:r>
              <a:rPr lang="ru-RU" dirty="0"/>
              <a:t>Таким образом, шаг цикла совершенно не обязательно должен быть равен единице.</a:t>
            </a:r>
          </a:p>
          <a:p>
            <a:r>
              <a:rPr lang="ru-RU" dirty="0"/>
              <a:t>Мы можем использовать увеличение, уменьшение или другие операции изменения счётчика.</a:t>
            </a:r>
          </a:p>
          <a:p>
            <a:endParaRPr lang="en-US" dirty="0"/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пример на слайде демонстрирует проверку простого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dirty="0"/>
              <a:t>Напомню, что простое число — это натуральное число больше единицы, которое имеет ровно два положительных делителя: единицу и само себя.</a:t>
            </a:r>
            <a:endParaRPr lang="ru-RU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u-RU" dirty="0"/>
              <a:t>В примере проверяется число 17.</a:t>
            </a:r>
          </a:p>
          <a:p>
            <a:r>
              <a:rPr lang="ru-RU" dirty="0"/>
              <a:t>Сначала объявляется логическая переменная </a:t>
            </a:r>
            <a:r>
              <a:rPr lang="ru-RU" dirty="0" err="1"/>
              <a:t>isPrime</a:t>
            </a:r>
            <a:r>
              <a:rPr lang="ru-RU" dirty="0"/>
              <a:t>, которой присваивается значение </a:t>
            </a:r>
            <a:r>
              <a:rPr lang="ru-RU" dirty="0" err="1"/>
              <a:t>true</a:t>
            </a:r>
            <a:r>
              <a:rPr lang="ru-RU" dirty="0"/>
              <a:t>.</a:t>
            </a:r>
          </a:p>
          <a:p>
            <a:r>
              <a:rPr lang="ru-RU" dirty="0"/>
              <a:t>Пока мы предполагаем, что число простое.</a:t>
            </a:r>
          </a:p>
          <a:p>
            <a:r>
              <a:rPr lang="ru-RU" dirty="0"/>
              <a:t>Далее проверяем условие n &lt; 2.</a:t>
            </a:r>
          </a:p>
          <a:p>
            <a:r>
              <a:rPr lang="ru-RU" dirty="0"/>
              <a:t>Если число меньше двух, простым оно не является, поэтому значение </a:t>
            </a:r>
            <a:r>
              <a:rPr lang="ru-RU" dirty="0" err="1"/>
              <a:t>isPrime</a:t>
            </a:r>
            <a:r>
              <a:rPr lang="ru-RU" dirty="0"/>
              <a:t> становится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r>
              <a:rPr lang="ru-RU" dirty="0"/>
              <a:t>Иначе запускается цикл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Счётчик начинается с двух, поскольку делить на единицу при поиске нетривиальных делителей бессмысленно: любое целое число делится на единицу.</a:t>
            </a:r>
          </a:p>
          <a:p>
            <a:r>
              <a:rPr lang="ru-RU" dirty="0"/>
              <a:t>Обратите внимание на условие:</a:t>
            </a:r>
          </a:p>
          <a:p>
            <a:r>
              <a:rPr lang="ru-RU" dirty="0"/>
              <a:t>i &lt;= </a:t>
            </a:r>
            <a:r>
              <a:rPr lang="ru-RU" dirty="0" err="1"/>
              <a:t>Math.Sqrt</a:t>
            </a:r>
            <a:r>
              <a:rPr lang="ru-RU" dirty="0"/>
              <a:t>(n)</a:t>
            </a:r>
          </a:p>
          <a:p>
            <a:r>
              <a:rPr lang="ru-RU" dirty="0"/>
              <a:t>Метод </a:t>
            </a:r>
            <a:r>
              <a:rPr lang="ru-RU" dirty="0" err="1"/>
              <a:t>Math.Sqrt</a:t>
            </a:r>
            <a:r>
              <a:rPr lang="ru-RU" dirty="0"/>
              <a:t>() возвращает квадратный корень числа.</a:t>
            </a:r>
          </a:p>
          <a:p>
            <a:r>
              <a:rPr lang="ru-RU" dirty="0"/>
              <a:t>Почему мы проверяем делители только до квадратного корня?</a:t>
            </a:r>
          </a:p>
          <a:p>
            <a:r>
              <a:rPr lang="ru-RU" dirty="0"/>
              <a:t>Потому что если число составное, то хотя бы один из его делителей, отличных от единицы, не превышает квадратный корень из этого числа.</a:t>
            </a:r>
          </a:p>
          <a:p>
            <a:r>
              <a:rPr lang="ru-RU" dirty="0"/>
              <a:t>Следовательно, нет необходимости проверять все числа вплоть до самого n.</a:t>
            </a:r>
          </a:p>
          <a:p>
            <a:r>
              <a:rPr lang="ru-RU" dirty="0"/>
              <a:t>Для 17 квадратный корень составляет примерно 4,12. Значит, мы проверяем делители 2, 3 и 4.</a:t>
            </a:r>
          </a:p>
          <a:p>
            <a:r>
              <a:rPr lang="ru-RU" dirty="0"/>
              <a:t>Внутри цикла условие n % i == 0 определяет, делится ли число без остатка.</a:t>
            </a:r>
          </a:p>
          <a:p>
            <a:r>
              <a:rPr lang="ru-RU" dirty="0"/>
              <a:t>Если такой делитель найден, мы понимаем, что число не простое.</a:t>
            </a:r>
          </a:p>
          <a:p>
            <a:r>
              <a:rPr lang="ru-RU" dirty="0"/>
              <a:t>Присваиваем </a:t>
            </a:r>
            <a:r>
              <a:rPr lang="ru-RU" dirty="0" err="1"/>
              <a:t>isPrime</a:t>
            </a:r>
            <a:r>
              <a:rPr lang="ru-RU" dirty="0"/>
              <a:t> = </a:t>
            </a:r>
            <a:r>
              <a:rPr lang="ru-RU" dirty="0" err="1"/>
              <a:t>false</a:t>
            </a:r>
            <a:r>
              <a:rPr lang="ru-RU" dirty="0"/>
              <a:t> и выполняем </a:t>
            </a:r>
            <a:r>
              <a:rPr lang="ru-RU" dirty="0" err="1"/>
              <a:t>break</a:t>
            </a:r>
            <a:r>
              <a:rPr lang="ru-RU" dirty="0"/>
              <a:t>, немедленно завершая цикл.</a:t>
            </a:r>
          </a:p>
          <a:p>
            <a:r>
              <a:rPr lang="ru-RU" dirty="0"/>
              <a:t>Почему можно завершить поиск?</a:t>
            </a:r>
          </a:p>
          <a:p>
            <a:r>
              <a:rPr lang="ru-RU" dirty="0"/>
              <a:t>Потому что для доказательства того, что число составное, достаточно найти хотя бы один делитель, отличный от единицы и самого числа.</a:t>
            </a:r>
          </a:p>
          <a:p>
            <a:r>
              <a:rPr lang="ru-RU" dirty="0"/>
              <a:t>В нашем случае число 17 не делится без остатка ни на 2, ни на 3, ни на 4.</a:t>
            </a:r>
          </a:p>
          <a:p>
            <a:r>
              <a:rPr lang="ru-RU" dirty="0"/>
              <a:t>Поэтому </a:t>
            </a:r>
            <a:r>
              <a:rPr lang="ru-RU" dirty="0" err="1"/>
              <a:t>isPrime</a:t>
            </a:r>
            <a:r>
              <a:rPr lang="ru-RU" dirty="0"/>
              <a:t> остаётся равным </a:t>
            </a:r>
            <a:r>
              <a:rPr lang="ru-RU" dirty="0" err="1"/>
              <a:t>true</a:t>
            </a:r>
            <a:r>
              <a:rPr lang="ru-RU" dirty="0"/>
              <a:t>.</a:t>
            </a:r>
          </a:p>
          <a:p>
            <a:r>
              <a:rPr lang="ru-RU" dirty="0"/>
              <a:t>После цикла тернарный оператор выбирает сообщение, которое будет выведено на экран.</a:t>
            </a:r>
          </a:p>
          <a:p>
            <a:r>
              <a:rPr lang="ru-RU" dirty="0"/>
              <a:t>Результат: "Число простое"».</a:t>
            </a:r>
          </a:p>
          <a:p>
            <a:r>
              <a:rPr lang="ru-RU" dirty="0"/>
              <a:t>Вопрос студентам: «Что изменится, если вместо 17 проверить число 21?»</a:t>
            </a:r>
          </a:p>
          <a:p>
            <a:r>
              <a:rPr lang="ru-RU" dirty="0"/>
              <a:t>Ожидаемый ответ: при i = 3 условие 21 % 3 == 0 станет истинным. Переменная </a:t>
            </a:r>
            <a:r>
              <a:rPr lang="ru-RU" dirty="0" err="1"/>
              <a:t>isPrime</a:t>
            </a:r>
            <a:r>
              <a:rPr lang="ru-RU" dirty="0"/>
              <a:t> получит значение </a:t>
            </a:r>
            <a:r>
              <a:rPr lang="ru-RU" dirty="0" err="1"/>
              <a:t>false</a:t>
            </a:r>
            <a:r>
              <a:rPr lang="ru-RU" dirty="0"/>
              <a:t>, цикл завершится оператором </a:t>
            </a:r>
            <a:r>
              <a:rPr lang="ru-RU" dirty="0" err="1"/>
              <a:t>break</a:t>
            </a:r>
            <a:r>
              <a:rPr lang="ru-RU" dirty="0"/>
              <a:t>, а программа выведет "Число не простое".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81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подробно рассмотрим операторы, позволяющие изменять обычный порядок выполнения цикла.</a:t>
            </a:r>
          </a:p>
          <a:p>
            <a:r>
              <a:rPr lang="ru-RU" dirty="0"/>
              <a:t>Это </a:t>
            </a:r>
            <a:r>
              <a:rPr lang="ru-RU" dirty="0" err="1"/>
              <a:t>break</a:t>
            </a:r>
            <a:r>
              <a:rPr lang="ru-RU" dirty="0"/>
              <a:t> и </a:t>
            </a:r>
            <a:r>
              <a:rPr lang="ru-RU" dirty="0" err="1"/>
              <a:t>continue</a:t>
            </a:r>
            <a:r>
              <a:rPr lang="ru-RU" dirty="0"/>
              <a:t>.</a:t>
            </a:r>
          </a:p>
          <a:p>
            <a:r>
              <a:rPr lang="ru-RU" dirty="0"/>
              <a:t>Оба оператора используются внутри циклов, но выполняют совершенно разные задачи.</a:t>
            </a:r>
          </a:p>
          <a:p>
            <a:r>
              <a:rPr lang="ru-RU" dirty="0"/>
              <a:t>Оператор </a:t>
            </a:r>
            <a:r>
              <a:rPr lang="ru-RU" dirty="0" err="1"/>
              <a:t>break</a:t>
            </a:r>
            <a:r>
              <a:rPr lang="ru-RU" dirty="0"/>
              <a:t> немедленно завершает текущий цикл. После него программа переходит к первому оператору, расположенному после этого цикла.</a:t>
            </a:r>
          </a:p>
          <a:p>
            <a:r>
              <a:rPr lang="ru-RU" dirty="0"/>
              <a:t>Оператор </a:t>
            </a:r>
            <a:r>
              <a:rPr lang="ru-RU" dirty="0" err="1"/>
              <a:t>continue</a:t>
            </a:r>
            <a:r>
              <a:rPr lang="ru-RU" dirty="0"/>
              <a:t> не завершает весь цикл. Он лишь прекращает выполнение оставшейся части текущей итерации и переходит к следующему повторению, если условие продолжения это позволяет.</a:t>
            </a:r>
          </a:p>
          <a:p>
            <a:r>
              <a:rPr lang="ru-RU" dirty="0"/>
              <a:t>Разберём первый пример.</a:t>
            </a:r>
          </a:p>
          <a:p>
            <a:r>
              <a:rPr lang="ru-RU" dirty="0"/>
              <a:t>Нам необходимо найти первый делитель числа 35, начиная с двойки.</a:t>
            </a:r>
          </a:p>
          <a:p>
            <a:r>
              <a:rPr lang="ru-RU" dirty="0"/>
              <a:t>Мы объявляем переменные n = 35 и </a:t>
            </a:r>
            <a:r>
              <a:rPr lang="ru-RU" dirty="0" err="1"/>
              <a:t>div</a:t>
            </a:r>
            <a:r>
              <a:rPr lang="ru-RU" dirty="0"/>
              <a:t> = 1.</a:t>
            </a:r>
          </a:p>
          <a:p>
            <a:r>
              <a:rPr lang="ru-RU" dirty="0"/>
              <a:t>Далее перебираем возможные делители с помощью цикла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На каждой итерации проверяем:</a:t>
            </a:r>
          </a:p>
          <a:p>
            <a:r>
              <a:rPr lang="ru-RU" dirty="0"/>
              <a:t>n % i == 0</a:t>
            </a:r>
          </a:p>
          <a:p>
            <a:r>
              <a:rPr lang="ru-RU" dirty="0"/>
              <a:t>Если остаток от деления равен нулю, значит, найден делитель.</a:t>
            </a:r>
          </a:p>
          <a:p>
            <a:r>
              <a:rPr lang="ru-RU" dirty="0"/>
              <a:t>Тогда записываем его в переменную </a:t>
            </a:r>
            <a:r>
              <a:rPr lang="ru-RU" dirty="0" err="1"/>
              <a:t>div</a:t>
            </a:r>
            <a:r>
              <a:rPr lang="ru-RU" dirty="0"/>
              <a:t> и выполняем </a:t>
            </a:r>
            <a:r>
              <a:rPr lang="ru-RU" dirty="0" err="1"/>
              <a:t>break</a:t>
            </a:r>
            <a:r>
              <a:rPr lang="ru-RU" dirty="0"/>
              <a:t>.</a:t>
            </a:r>
          </a:p>
          <a:p>
            <a:r>
              <a:rPr lang="ru-RU" dirty="0"/>
              <a:t>Проследим выполнение.</a:t>
            </a:r>
          </a:p>
          <a:p>
            <a:r>
              <a:rPr lang="ru-RU" dirty="0"/>
              <a:t>При i = 2 число 35 не делится без остатка.</a:t>
            </a:r>
          </a:p>
          <a:p>
            <a:r>
              <a:rPr lang="ru-RU" dirty="0"/>
              <a:t>При i = 3 тоже.</a:t>
            </a:r>
          </a:p>
          <a:p>
            <a:r>
              <a:rPr lang="ru-RU" dirty="0"/>
              <a:t>При i = 4 тоже.</a:t>
            </a:r>
          </a:p>
          <a:p>
            <a:r>
              <a:rPr lang="ru-RU" dirty="0"/>
              <a:t>При i = 5 остаток равен нулю.</a:t>
            </a:r>
          </a:p>
          <a:p>
            <a:r>
              <a:rPr lang="ru-RU" dirty="0"/>
              <a:t>Мы записываем </a:t>
            </a:r>
            <a:r>
              <a:rPr lang="ru-RU" dirty="0" err="1"/>
              <a:t>div</a:t>
            </a:r>
            <a:r>
              <a:rPr lang="ru-RU" dirty="0"/>
              <a:t> = 5 и немедленно выходим из цикла.</a:t>
            </a:r>
          </a:p>
          <a:p>
            <a:r>
              <a:rPr lang="ru-RU" dirty="0"/>
              <a:t>Таким образом, результат программы — "Делитель: 5".</a:t>
            </a:r>
          </a:p>
          <a:p>
            <a:r>
              <a:rPr lang="ru-RU" dirty="0"/>
              <a:t>Теперь посмотрим на пример справа.</a:t>
            </a:r>
          </a:p>
          <a:p>
            <a:r>
              <a:rPr lang="ru-RU" dirty="0"/>
              <a:t>Нам необходимо вычислить сумму только нечётных чисел от 1 до 6.</a:t>
            </a:r>
          </a:p>
          <a:p>
            <a:r>
              <a:rPr lang="ru-RU" dirty="0"/>
              <a:t>Переменная </a:t>
            </a:r>
            <a:r>
              <a:rPr lang="ru-RU" dirty="0" err="1"/>
              <a:t>sum</a:t>
            </a:r>
            <a:r>
              <a:rPr lang="ru-RU" dirty="0"/>
              <a:t> изначально равна нулю.</a:t>
            </a:r>
          </a:p>
          <a:p>
            <a:r>
              <a:rPr lang="ru-RU" dirty="0"/>
              <a:t>Цикл перебирает числа от 1 до 6.</a:t>
            </a:r>
          </a:p>
          <a:p>
            <a:r>
              <a:rPr lang="ru-RU" dirty="0"/>
              <a:t>На каждой итерации проверяется условие i % 2 == 0.</a:t>
            </a:r>
          </a:p>
          <a:p>
            <a:r>
              <a:rPr lang="ru-RU" dirty="0"/>
              <a:t>Если число чётное, выполняется </a:t>
            </a:r>
            <a:r>
              <a:rPr lang="ru-RU" dirty="0" err="1"/>
              <a:t>continue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инструкция </a:t>
            </a:r>
            <a:r>
              <a:rPr lang="ru-RU" dirty="0" err="1"/>
              <a:t>sum</a:t>
            </a:r>
            <a:r>
              <a:rPr lang="ru-RU" dirty="0"/>
              <a:t> += i, расположенная ниже, будет пропущена для текущего значения.</a:t>
            </a:r>
          </a:p>
          <a:p>
            <a:r>
              <a:rPr lang="ru-RU" dirty="0"/>
              <a:t>В итоге программа сложит только 1, 3 и 5.</a:t>
            </a:r>
          </a:p>
          <a:p>
            <a:r>
              <a:rPr lang="ru-RU" dirty="0"/>
              <a:t>Результат — 9.</a:t>
            </a:r>
          </a:p>
          <a:p>
            <a:r>
              <a:rPr lang="ru-RU" dirty="0"/>
              <a:t>Что произошло бы, если вместо </a:t>
            </a:r>
            <a:r>
              <a:rPr lang="ru-RU" dirty="0" err="1"/>
              <a:t>continue</a:t>
            </a:r>
            <a:r>
              <a:rPr lang="ru-RU" dirty="0"/>
              <a:t> здесь использовать </a:t>
            </a:r>
            <a:r>
              <a:rPr lang="ru-RU" dirty="0" err="1"/>
              <a:t>break</a:t>
            </a:r>
            <a:r>
              <a:rPr lang="ru-RU" dirty="0"/>
              <a:t>?</a:t>
            </a:r>
          </a:p>
          <a:p>
            <a:r>
              <a:rPr lang="ru-RU" dirty="0"/>
              <a:t>При первом чётном числе, то есть при двойке, цикл полностью завершился бы. Следовательно, сумма осталась бы равной единице.</a:t>
            </a:r>
          </a:p>
          <a:p>
            <a:r>
              <a:rPr lang="ru-RU" dirty="0"/>
              <a:t>Именно в этом состоит принципиальное отличие.</a:t>
            </a:r>
          </a:p>
          <a:p>
            <a:r>
              <a:rPr lang="ru-RU" dirty="0" err="1"/>
              <a:t>break</a:t>
            </a:r>
            <a:r>
              <a:rPr lang="ru-RU" dirty="0"/>
              <a:t> — прекращает цикл.</a:t>
            </a:r>
          </a:p>
          <a:p>
            <a:r>
              <a:rPr lang="ru-RU" dirty="0" err="1"/>
              <a:t>continue</a:t>
            </a:r>
            <a:r>
              <a:rPr lang="ru-RU" dirty="0"/>
              <a:t> — пропускает текущую итерацию.</a:t>
            </a:r>
          </a:p>
          <a:p>
            <a:r>
              <a:rPr lang="ru-RU" dirty="0"/>
              <a:t>При использовании </a:t>
            </a:r>
            <a:r>
              <a:rPr lang="ru-RU" dirty="0" err="1"/>
              <a:t>continue</a:t>
            </a:r>
            <a:r>
              <a:rPr lang="ru-RU" dirty="0"/>
              <a:t> в цикле </a:t>
            </a:r>
            <a:r>
              <a:rPr lang="ru-RU" dirty="0" err="1"/>
              <a:t>for</a:t>
            </a:r>
            <a:r>
              <a:rPr lang="ru-RU" dirty="0"/>
              <a:t> программа переходит к выполнению шага, например i++, а затем снова проверяет условие».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215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рассмотрели три основных вида циклов: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и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Теперь давайте сравним порядок их выполнения.</a:t>
            </a:r>
          </a:p>
          <a:p>
            <a:r>
              <a:rPr lang="ru-RU" dirty="0"/>
              <a:t>У цикла </a:t>
            </a:r>
            <a:r>
              <a:rPr lang="ru-RU" dirty="0" err="1"/>
              <a:t>while</a:t>
            </a:r>
            <a:r>
              <a:rPr lang="ru-RU" dirty="0"/>
              <a:t> сначала проверяется условие.</a:t>
            </a:r>
          </a:p>
          <a:p>
            <a:r>
              <a:rPr lang="ru-RU" dirty="0"/>
              <a:t>Если условие истинно, выполняется тело.</a:t>
            </a:r>
          </a:p>
          <a:p>
            <a:r>
              <a:rPr lang="ru-RU" dirty="0"/>
              <a:t>Затем программа снова возвращается к проверке условия.</a:t>
            </a:r>
          </a:p>
          <a:p>
            <a:r>
              <a:rPr lang="ru-RU" dirty="0"/>
              <a:t>Как только условие становится ложным, цикл завершается.</a:t>
            </a:r>
          </a:p>
          <a:p>
            <a:r>
              <a:rPr lang="ru-RU" dirty="0"/>
              <a:t>У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порядок другой.</a:t>
            </a:r>
          </a:p>
          <a:p>
            <a:r>
              <a:rPr lang="ru-RU" dirty="0"/>
              <a:t>Сначала выполняется тело, затем проверяется условие.</a:t>
            </a:r>
          </a:p>
          <a:p>
            <a:r>
              <a:rPr lang="ru-RU" dirty="0"/>
              <a:t>Если условие истинно, тело выполняется повторно.</a:t>
            </a:r>
          </a:p>
          <a:p>
            <a:r>
              <a:rPr lang="ru-RU" dirty="0"/>
              <a:t>Поэтому даже при изначально ложном условии тело выполнится один раз.</a:t>
            </a:r>
          </a:p>
          <a:p>
            <a:r>
              <a:rPr lang="ru-RU" dirty="0"/>
              <a:t>У цикла </a:t>
            </a:r>
            <a:r>
              <a:rPr lang="ru-RU" dirty="0" err="1"/>
              <a:t>for</a:t>
            </a:r>
            <a:r>
              <a:rPr lang="ru-RU" dirty="0"/>
              <a:t> порядок немного сложнее, поскольку он объединяет три управляющих элемента.</a:t>
            </a:r>
          </a:p>
          <a:p>
            <a:r>
              <a:rPr lang="ru-RU" dirty="0"/>
              <a:t>Сначала выполняется инициализация.</a:t>
            </a:r>
          </a:p>
          <a:p>
            <a:r>
              <a:rPr lang="ru-RU" dirty="0"/>
              <a:t>Затем проверяется условие.</a:t>
            </a:r>
          </a:p>
          <a:p>
            <a:r>
              <a:rPr lang="ru-RU" dirty="0"/>
              <a:t>Если оно истинно, выполняется тело.</a:t>
            </a:r>
          </a:p>
          <a:p>
            <a:r>
              <a:rPr lang="ru-RU" dirty="0"/>
              <a:t>После этого выполняется шаг, например увеличение счётчика.</a:t>
            </a:r>
          </a:p>
          <a:p>
            <a:r>
              <a:rPr lang="ru-RU" dirty="0"/>
              <a:t>И только затем снова проверяется условие.</a:t>
            </a:r>
          </a:p>
          <a:p>
            <a:r>
              <a:rPr lang="ru-RU" dirty="0"/>
              <a:t>Такой порядок повторяется до тех пор, пока условие не станет ложным.</a:t>
            </a:r>
          </a:p>
          <a:p>
            <a:r>
              <a:rPr lang="ru-RU" dirty="0"/>
              <a:t>Важно не путать момент изменения счётчика.</a:t>
            </a:r>
          </a:p>
          <a:p>
            <a:r>
              <a:rPr lang="ru-RU" dirty="0"/>
              <a:t>Например, в цикле </a:t>
            </a:r>
            <a:r>
              <a:rPr lang="ru-RU" dirty="0" err="1"/>
              <a:t>for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i = 0; i &lt; 3; i++) увеличение i происходит после выполнения тела, а не перед ним.</a:t>
            </a:r>
          </a:p>
          <a:p>
            <a:r>
              <a:rPr lang="ru-RU" dirty="0"/>
              <a:t>Таким образом, первая итерация выполняется при i = 0, вторая при i = 1, третья при i = 2.</a:t>
            </a:r>
          </a:p>
          <a:p>
            <a:r>
              <a:rPr lang="ru-RU" dirty="0"/>
              <a:t>Когда i становится равным трём, условие оказывается ложным.</a:t>
            </a:r>
          </a:p>
          <a:p>
            <a:r>
              <a:rPr lang="ru-RU" dirty="0"/>
              <a:t>Главный вывод: все три конструкции позволяют организовать повторение действий, но отличаются тем, как записывается управление циклом и в какой момент проверяется условие».</a:t>
            </a:r>
          </a:p>
          <a:p>
            <a:r>
              <a:rPr lang="ru-RU" dirty="0"/>
              <a:t>Вопрос студентам: «В каком из изученных циклов проверка условия выполняется после тела?»</a:t>
            </a:r>
          </a:p>
          <a:p>
            <a:r>
              <a:rPr lang="ru-RU" dirty="0"/>
              <a:t>Ожидаемый ответ: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002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возникает логичный вопрос: если у нас есть сразу три вида циклов, какой из них следует использовать?</a:t>
            </a:r>
          </a:p>
          <a:p>
            <a:r>
              <a:rPr lang="ru-RU" dirty="0"/>
              <a:t>Выбор зависит от условий конкретной задачи.</a:t>
            </a:r>
          </a:p>
          <a:p>
            <a:r>
              <a:rPr lang="ru-RU" dirty="0"/>
              <a:t>Первое, о чём необходимо подумать: известно ли нам заранее количество повторений?</a:t>
            </a:r>
          </a:p>
          <a:p>
            <a:r>
              <a:rPr lang="ru-RU" dirty="0"/>
              <a:t>Если известно, обычно удобно использовать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Например, необходимо вывести таблицу умножения от 1 до 10. Мы точно знаем, что должны выполнить десять повторений.</a:t>
            </a:r>
          </a:p>
          <a:p>
            <a:r>
              <a:rPr lang="ru-RU" dirty="0"/>
              <a:t>Другой пример — вычисление факториала.</a:t>
            </a:r>
          </a:p>
          <a:p>
            <a:r>
              <a:rPr lang="ru-RU" dirty="0"/>
              <a:t>Напомню, что факториал натурального числа — это произведение всех натуральных чисел от 1 до этого числа.</a:t>
            </a:r>
          </a:p>
          <a:p>
            <a:r>
              <a:rPr lang="ru-RU" dirty="0"/>
              <a:t>Для вычисления факториала удобно последовательно перебирать множители с помощью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Теперь рассмотрим ситуацию, когда количество повторений заранее неизвестно.</a:t>
            </a:r>
          </a:p>
          <a:p>
            <a:r>
              <a:rPr lang="ru-RU" dirty="0"/>
              <a:t>Например, нам необходимо считывать числа до тех пор, пока пользователь не введёт ноль.</a:t>
            </a:r>
          </a:p>
          <a:p>
            <a:r>
              <a:rPr lang="ru-RU" dirty="0"/>
              <a:t>Мы не можем заранее знать, сколько значений он введёт.</a:t>
            </a:r>
          </a:p>
          <a:p>
            <a:r>
              <a:rPr lang="ru-RU" dirty="0"/>
              <a:t>Здесь удобно использовать </a:t>
            </a:r>
            <a:r>
              <a:rPr lang="ru-RU" dirty="0" err="1"/>
              <a:t>while</a:t>
            </a:r>
            <a:r>
              <a:rPr lang="ru-RU" dirty="0"/>
              <a:t>.</a:t>
            </a:r>
          </a:p>
          <a:p>
            <a:r>
              <a:rPr lang="ru-RU" dirty="0"/>
              <a:t>Также </a:t>
            </a:r>
            <a:r>
              <a:rPr lang="ru-RU" dirty="0" err="1"/>
              <a:t>while</a:t>
            </a:r>
            <a:r>
              <a:rPr lang="ru-RU" dirty="0"/>
              <a:t> подходит для задач, где условие должно проверяться до выполнения очередного действия.</a:t>
            </a:r>
          </a:p>
          <a:p>
            <a:r>
              <a:rPr lang="ru-RU" dirty="0"/>
              <a:t>И наконец, третий вариант.</a:t>
            </a:r>
          </a:p>
          <a:p>
            <a:r>
              <a:rPr lang="ru-RU" dirty="0"/>
              <a:t>Если какое-либо действие должно быть выполнено хотя бы один раз, удобнее использовать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.</a:t>
            </a:r>
          </a:p>
          <a:p>
            <a:r>
              <a:rPr lang="ru-RU" dirty="0"/>
              <a:t>Например, запрос пароля или вывод меню.</a:t>
            </a:r>
          </a:p>
          <a:p>
            <a:r>
              <a:rPr lang="ru-RU" dirty="0"/>
              <a:t>Итак, выбор цикла определяется не тем, какой синтаксис кажется короче, а тем, каким образом должна работать программа.</a:t>
            </a:r>
          </a:p>
          <a:p>
            <a:r>
              <a:rPr lang="ru-RU" dirty="0"/>
              <a:t>При этом важно понимать, что многие задачи технически можно решить разными видами циклов.</a:t>
            </a:r>
          </a:p>
          <a:p>
            <a:r>
              <a:rPr lang="ru-RU" dirty="0"/>
              <a:t>Например, последовательность от 1 до 10 можно вывести и через </a:t>
            </a:r>
            <a:r>
              <a:rPr lang="ru-RU" dirty="0" err="1"/>
              <a:t>while</a:t>
            </a:r>
            <a:r>
              <a:rPr lang="ru-RU" dirty="0"/>
              <a:t>, и через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Но цикл </a:t>
            </a:r>
            <a:r>
              <a:rPr lang="ru-RU" dirty="0" err="1"/>
              <a:t>for</a:t>
            </a:r>
            <a:r>
              <a:rPr lang="ru-RU" dirty="0"/>
              <a:t> в такой задаче будет обычно более наглядным, потому что управление счётчиком полностью записано в его заголовке».</a:t>
            </a:r>
          </a:p>
          <a:p>
            <a:r>
              <a:rPr lang="ru-RU" dirty="0"/>
              <a:t>Вопрос студентам: «Какой цикл вы бы выбрали для программы, которая должна запрашивать число, пока пользователь не введёт положительное значение?»</a:t>
            </a:r>
          </a:p>
          <a:p>
            <a:r>
              <a:rPr lang="ru-RU" dirty="0"/>
              <a:t>Ожидаемый ответ: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, поскольку запрос необходимо выполнить хотя бы один раз. При соответствующей организации программы можно использовать и </a:t>
            </a:r>
            <a:r>
              <a:rPr lang="ru-RU" dirty="0" err="1"/>
              <a:t>while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828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циклы, в которых выполнялись обычные последовательные действия.</a:t>
            </a:r>
          </a:p>
          <a:p>
            <a:r>
              <a:rPr lang="ru-RU" dirty="0"/>
              <a:t>Но что, если внутри одного цикла необходимо организовать ещё один?</a:t>
            </a:r>
          </a:p>
          <a:p>
            <a:r>
              <a:rPr lang="ru-RU" dirty="0"/>
              <a:t>Для этого используются вложенные циклы.</a:t>
            </a:r>
          </a:p>
          <a:p>
            <a:r>
              <a:rPr lang="ru-RU" dirty="0"/>
              <a:t>Вложенным называется цикл, расположенный внутри тела другого цикла.</a:t>
            </a:r>
          </a:p>
          <a:p>
            <a:r>
              <a:rPr lang="ru-RU" dirty="0"/>
              <a:t>Внешний цикл управляет основными повторениями, а внутренний выполняет дополнительные повторения внутри каждого из них.</a:t>
            </a:r>
          </a:p>
          <a:p>
            <a:r>
              <a:rPr lang="ru-RU" dirty="0"/>
              <a:t>Самое главное правило: на каждой итерации внешнего цикла внутренний цикл запускается заново и выполняется до завершения, если не происходит досрочного выхода.</a:t>
            </a:r>
          </a:p>
          <a:p>
            <a:r>
              <a:rPr lang="ru-RU" dirty="0"/>
              <a:t>Рассмотрим пример построения прямоугольного треугольника из звёздочек.</a:t>
            </a:r>
          </a:p>
          <a:p>
            <a:r>
              <a:rPr lang="ru-RU" dirty="0"/>
              <a:t>Мы объявляем переменную </a:t>
            </a:r>
            <a:r>
              <a:rPr lang="ru-RU" dirty="0" err="1"/>
              <a:t>rows</a:t>
            </a:r>
            <a:r>
              <a:rPr lang="ru-RU" dirty="0"/>
              <a:t> = 4. Она определяет количество строк.</a:t>
            </a:r>
          </a:p>
          <a:p>
            <a:r>
              <a:rPr lang="ru-RU" dirty="0"/>
              <a:t>Далее начинается внешний цикл:</a:t>
            </a:r>
          </a:p>
          <a:p>
            <a:r>
              <a:rPr lang="ru-RU" dirty="0" err="1"/>
              <a:t>for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i = 1; i &lt;= </a:t>
            </a:r>
            <a:r>
              <a:rPr lang="ru-RU" dirty="0" err="1"/>
              <a:t>rows</a:t>
            </a:r>
            <a:r>
              <a:rPr lang="ru-RU" dirty="0"/>
              <a:t>; i++)</a:t>
            </a:r>
          </a:p>
          <a:p>
            <a:r>
              <a:rPr lang="ru-RU" dirty="0"/>
              <a:t>Его задача — сформировать четыре строки.</a:t>
            </a:r>
          </a:p>
          <a:p>
            <a:r>
              <a:rPr lang="ru-RU" dirty="0"/>
              <a:t>Внутри находится второй цикл:</a:t>
            </a:r>
          </a:p>
          <a:p>
            <a:r>
              <a:rPr lang="ru-RU" dirty="0" err="1"/>
              <a:t>for</a:t>
            </a:r>
            <a:r>
              <a:rPr lang="ru-RU" dirty="0"/>
              <a:t> (</a:t>
            </a:r>
            <a:r>
              <a:rPr lang="ru-RU" dirty="0" err="1"/>
              <a:t>int</a:t>
            </a:r>
            <a:r>
              <a:rPr lang="ru-RU" dirty="0"/>
              <a:t> j = 1; j &lt;= i; j++)</a:t>
            </a:r>
          </a:p>
          <a:p>
            <a:r>
              <a:rPr lang="ru-RU" dirty="0"/>
              <a:t>Обратите внимание: условие внутреннего цикла зависит от переменной i внешнего цикла.</a:t>
            </a:r>
          </a:p>
          <a:p>
            <a:r>
              <a:rPr lang="ru-RU" dirty="0"/>
              <a:t>Это означает, что количество повторений внутреннего цикла будет различаться для каждой строки.</a:t>
            </a:r>
          </a:p>
          <a:p>
            <a:r>
              <a:rPr lang="ru-RU" dirty="0"/>
              <a:t>Рассмотрим выполнение пошагово.</a:t>
            </a:r>
          </a:p>
          <a:p>
            <a:r>
              <a:rPr lang="ru-RU" dirty="0"/>
              <a:t>При i = 1 внутренний цикл выполняется один раз и выводит одну звёздочку.</a:t>
            </a:r>
          </a:p>
          <a:p>
            <a:r>
              <a:rPr lang="ru-RU" dirty="0"/>
              <a:t>Затем вызывается </a:t>
            </a:r>
            <a:r>
              <a:rPr lang="ru-RU" dirty="0" err="1"/>
              <a:t>Console.WriteLine</a:t>
            </a:r>
            <a:r>
              <a:rPr lang="ru-RU" dirty="0"/>
              <a:t>(), который переносит вывод на следующую строку.</a:t>
            </a:r>
          </a:p>
          <a:p>
            <a:r>
              <a:rPr lang="ru-RU" dirty="0"/>
              <a:t>При i = 2 внутренний цикл выполняется два раза и выводит две звёздочки.</a:t>
            </a:r>
          </a:p>
          <a:p>
            <a:r>
              <a:rPr lang="ru-RU" dirty="0"/>
              <a:t>При i = 3 — три звёздочки.</a:t>
            </a:r>
          </a:p>
          <a:p>
            <a:r>
              <a:rPr lang="ru-RU" dirty="0"/>
              <a:t>При i = 4 — четыре звёздочки.</a:t>
            </a:r>
          </a:p>
          <a:p>
            <a:r>
              <a:rPr lang="ru-RU" dirty="0"/>
              <a:t>В итоге мы получаем треугольник, показанный справа.</a:t>
            </a:r>
          </a:p>
          <a:p>
            <a:r>
              <a:rPr lang="ru-RU" dirty="0"/>
              <a:t>Обратите внимание на использование двух способов вывода.</a:t>
            </a:r>
          </a:p>
          <a:p>
            <a:r>
              <a:rPr lang="ru-RU" dirty="0" err="1"/>
              <a:t>Console.Write</a:t>
            </a:r>
            <a:r>
              <a:rPr lang="ru-RU" dirty="0"/>
              <a:t>() выводит текст без перехода на следующую строку.</a:t>
            </a:r>
          </a:p>
          <a:p>
            <a:r>
              <a:rPr lang="ru-RU" dirty="0"/>
              <a:t>А </a:t>
            </a:r>
            <a:r>
              <a:rPr lang="ru-RU" dirty="0" err="1"/>
              <a:t>Console.WriteLine</a:t>
            </a:r>
            <a:r>
              <a:rPr lang="ru-RU" dirty="0"/>
              <a:t>() позволяет перейти на новую строку.</a:t>
            </a:r>
          </a:p>
          <a:p>
            <a:r>
              <a:rPr lang="ru-RU" dirty="0"/>
              <a:t>Без этого различия нам не удалось бы сформировать нужный рисунок.</a:t>
            </a:r>
          </a:p>
          <a:p>
            <a:r>
              <a:rPr lang="ru-RU" dirty="0"/>
              <a:t>Теперь обсудим количество повторений.</a:t>
            </a:r>
          </a:p>
          <a:p>
            <a:r>
              <a:rPr lang="ru-RU" dirty="0"/>
              <a:t>Если внешний цикл выполняется N раз, а внутренний каждый раз выполняется M раз, то всего тело внутреннего цикла выполнится N × M раз.</a:t>
            </a:r>
          </a:p>
          <a:p>
            <a:r>
              <a:rPr lang="ru-RU" dirty="0"/>
              <a:t>Но в нашем примере количество повторений внутреннего цикла зависит от i.</a:t>
            </a:r>
          </a:p>
          <a:p>
            <a:r>
              <a:rPr lang="ru-RU" dirty="0"/>
              <a:t>Поэтому общее число выполнений внутреннего тела равно:</a:t>
            </a:r>
          </a:p>
          <a:p>
            <a:r>
              <a:rPr lang="ru-RU" dirty="0"/>
              <a:t>1 + 2 + 3 + 4 = 10.</a:t>
            </a:r>
          </a:p>
          <a:p>
            <a:r>
              <a:rPr lang="ru-RU" dirty="0"/>
              <a:t>Необходимо учитывать, что внутренний цикл каждый раз начинает работу с нового значения j = 1».</a:t>
            </a:r>
          </a:p>
          <a:p>
            <a:r>
              <a:rPr lang="ru-RU" dirty="0"/>
              <a:t>Вопрос студентам: «Если изменить </a:t>
            </a:r>
            <a:r>
              <a:rPr lang="ru-RU" dirty="0" err="1"/>
              <a:t>rows</a:t>
            </a:r>
            <a:r>
              <a:rPr lang="ru-RU" dirty="0"/>
              <a:t> с 4 на 5, сколько всего звёздочек выведет программа?»</a:t>
            </a:r>
          </a:p>
          <a:p>
            <a:r>
              <a:rPr lang="ru-RU" dirty="0"/>
              <a:t>Ожидаемый ответ: 15, потому что 1 + 2 + 3 + 4 + 5 = 15.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23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два практических примера использования вложенных циклов.</a:t>
            </a:r>
          </a:p>
          <a:p>
            <a:r>
              <a:rPr lang="ru-RU" dirty="0"/>
              <a:t>Первый пример — построение таблицы умножения размером три на три.</a:t>
            </a:r>
          </a:p>
          <a:p>
            <a:r>
              <a:rPr lang="ru-RU" dirty="0"/>
              <a:t>Внешний цикл перебирает значения i от 1 до 3.</a:t>
            </a:r>
          </a:p>
          <a:p>
            <a:r>
              <a:rPr lang="ru-RU" dirty="0"/>
              <a:t>Внутренний цикл перебирает значения j от 1 до 3.</a:t>
            </a:r>
          </a:p>
          <a:p>
            <a:r>
              <a:rPr lang="ru-RU" dirty="0"/>
              <a:t>В теле внутреннего цикла мы вычисляем произведение i * j.</a:t>
            </a:r>
          </a:p>
          <a:p>
            <a:r>
              <a:rPr lang="ru-RU" dirty="0"/>
              <a:t>Посмотрим на первую итерацию внешнего цикла.</a:t>
            </a:r>
          </a:p>
          <a:p>
            <a:r>
              <a:rPr lang="ru-RU" dirty="0"/>
              <a:t>Когда i = 1, внутренний цикл последовательно принимает значения j = 1, j = 2 и j = 3.</a:t>
            </a:r>
          </a:p>
          <a:p>
            <a:r>
              <a:rPr lang="ru-RU" dirty="0"/>
              <a:t>В результате выводятся значения 1, 2 и 3.</a:t>
            </a:r>
          </a:p>
          <a:p>
            <a:r>
              <a:rPr lang="ru-RU" dirty="0"/>
              <a:t>После завершения внутреннего цикла программа выполняет </a:t>
            </a:r>
            <a:r>
              <a:rPr lang="ru-RU" dirty="0" err="1"/>
              <a:t>Console.WriteLine</a:t>
            </a:r>
            <a:r>
              <a:rPr lang="ru-RU" dirty="0"/>
              <a:t>() и переходит на новую строку.</a:t>
            </a:r>
          </a:p>
          <a:p>
            <a:r>
              <a:rPr lang="ru-RU" dirty="0"/>
              <a:t>Теперь внешний счётчик становится равным 2.</a:t>
            </a:r>
          </a:p>
          <a:p>
            <a:r>
              <a:rPr lang="ru-RU" dirty="0"/>
              <a:t>Внутренний цикл снова начинается с единицы и выводит результаты 2, 4 и 6.</a:t>
            </a:r>
          </a:p>
          <a:p>
            <a:r>
              <a:rPr lang="ru-RU" dirty="0"/>
              <a:t>При i = 3 получаем 3, 6 и 9.</a:t>
            </a:r>
          </a:p>
          <a:p>
            <a:r>
              <a:rPr lang="ru-RU" dirty="0"/>
              <a:t>Таким образом, внешний цикл отвечает за строки таблицы, а внутренний — за столбцы.</a:t>
            </a:r>
          </a:p>
          <a:p>
            <a:r>
              <a:rPr lang="ru-RU" dirty="0"/>
              <a:t>Обратите внимание на запись:</a:t>
            </a:r>
          </a:p>
          <a:p>
            <a:r>
              <a:rPr lang="ru-RU" dirty="0" err="1"/>
              <a:t>Console.Write</a:t>
            </a:r>
            <a:r>
              <a:rPr lang="ru-RU" dirty="0"/>
              <a:t>($"{i * j,4}")</a:t>
            </a:r>
          </a:p>
          <a:p>
            <a:r>
              <a:rPr lang="ru-RU" dirty="0"/>
              <a:t>Здесь число 4 после запятой задаёт ширину поля вывода.</a:t>
            </a:r>
          </a:p>
          <a:p>
            <a:r>
              <a:rPr lang="ru-RU" dirty="0"/>
              <a:t>Это позволяет выровнять значения по столбцам и сделать таблицу более аккуратной.</a:t>
            </a:r>
          </a:p>
          <a:p>
            <a:r>
              <a:rPr lang="ru-RU" dirty="0"/>
              <a:t>Теперь перейдём ко второму примеру — выводу времени.</a:t>
            </a:r>
          </a:p>
          <a:p>
            <a:r>
              <a:rPr lang="ru-RU" dirty="0"/>
              <a:t>Нам необходимо вывести значения часов от 10 до 11 с интервалом в 30 минут.</a:t>
            </a:r>
          </a:p>
          <a:p>
            <a:r>
              <a:rPr lang="ru-RU" dirty="0"/>
              <a:t>Внешний цикл использует переменную h, обозначающую часы.</a:t>
            </a:r>
          </a:p>
          <a:p>
            <a:r>
              <a:rPr lang="ru-RU" dirty="0"/>
              <a:t>Внутренний цикл использует переменную m, обозначающую минуты.</a:t>
            </a:r>
          </a:p>
          <a:p>
            <a:r>
              <a:rPr lang="ru-RU" dirty="0"/>
              <a:t>При h = 10 внутренний цикл сначала устанавливает m = 0, затем m = 30.</a:t>
            </a:r>
          </a:p>
          <a:p>
            <a:r>
              <a:rPr lang="ru-RU" dirty="0"/>
              <a:t>Таким образом, программа выводит 10:00 и 10:30.</a:t>
            </a:r>
          </a:p>
          <a:p>
            <a:r>
              <a:rPr lang="ru-RU" dirty="0"/>
              <a:t>После этого внешний цикл увеличивает часы до 11.</a:t>
            </a:r>
          </a:p>
          <a:p>
            <a:r>
              <a:rPr lang="ru-RU" dirty="0"/>
              <a:t>Внутренний цикл снова начинается с нуля и выводит 11:00 и 11:30.</a:t>
            </a:r>
          </a:p>
          <a:p>
            <a:r>
              <a:rPr lang="ru-RU" dirty="0"/>
              <a:t>Теперь обратите внимание на форматирование {h:D2} и {m:D2}.</a:t>
            </a:r>
          </a:p>
          <a:p>
            <a:r>
              <a:rPr lang="ru-RU" dirty="0"/>
              <a:t>Формат D2 означает, что целое число будет выведено как минимум двумя цифрами.</a:t>
            </a:r>
          </a:p>
          <a:p>
            <a:r>
              <a:rPr lang="ru-RU" dirty="0"/>
              <a:t>Если значение однозначное, перед ним добавляется ноль.</a:t>
            </a:r>
          </a:p>
          <a:p>
            <a:r>
              <a:rPr lang="ru-RU" dirty="0"/>
              <a:t>Например, значение 0 при таком форматировании выводится как 00, а значение 5 — как 05.</a:t>
            </a:r>
          </a:p>
          <a:p>
            <a:r>
              <a:rPr lang="ru-RU" dirty="0"/>
              <a:t>Это особенно удобно при выводе времени.</a:t>
            </a:r>
          </a:p>
          <a:p>
            <a:r>
              <a:rPr lang="ru-RU" dirty="0"/>
              <a:t>В обоих примерах мы видим один и тот же принцип: внешний цикл определяет основную группу значений, а внутренний перебирает значения внутри неё.</a:t>
            </a:r>
          </a:p>
          <a:p>
            <a:r>
              <a:rPr lang="ru-RU" dirty="0"/>
              <a:t>В первом случае это строки и столбцы таблицы.</a:t>
            </a:r>
          </a:p>
          <a:p>
            <a:r>
              <a:rPr lang="ru-RU" dirty="0"/>
              <a:t>Во втором — часы и минуты».</a:t>
            </a:r>
          </a:p>
          <a:p>
            <a:r>
              <a:rPr lang="ru-RU" dirty="0"/>
              <a:t>Вопрос студентам: «Сколько раз выполнится тело внутреннего цикла в первом примере за всё время работы программы?»</a:t>
            </a:r>
          </a:p>
          <a:p>
            <a:r>
              <a:rPr lang="ru-RU" dirty="0"/>
              <a:t>Ожидаемый ответ: девять раз, поскольку внешний цикл выполняется три раза и внутренний — по три раза на каждой итерации.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569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Теперь, когда мы изучили основные конструкции циклов, давайте рассмотрим ошибки, которые довольно часто допускаются при написании программ.</a:t>
            </a:r>
          </a:p>
          <a:p>
            <a:r>
              <a:rPr lang="ru-RU" dirty="0"/>
              <a:t>Первая ошибка — бесконечный цикл.</a:t>
            </a:r>
          </a:p>
          <a:p>
            <a:r>
              <a:rPr lang="ru-RU" dirty="0"/>
              <a:t>Мы уже встречались с этой проблемой в начале лекции.</a:t>
            </a:r>
          </a:p>
          <a:p>
            <a:r>
              <a:rPr lang="ru-RU" dirty="0"/>
              <a:t>Если условие цикла зависит от определённой переменной, но её значение не меняется, цикл может выполняться бесконечно.</a:t>
            </a:r>
          </a:p>
          <a:p>
            <a:r>
              <a:rPr lang="ru-RU" dirty="0"/>
              <a:t>Например, если i &lt; 5 истинно, а переменная i внутри тела никак не изменяется, условие так и останется истинным.</a:t>
            </a:r>
          </a:p>
          <a:p>
            <a:r>
              <a:rPr lang="ru-RU" dirty="0"/>
              <a:t>Чтобы предотвратить такую ошибку, необходимо предусмотреть изменение переменной или другой механизм завершения цикла.</a:t>
            </a:r>
          </a:p>
          <a:p>
            <a:r>
              <a:rPr lang="ru-RU" dirty="0"/>
              <a:t>Вторая ошибка — обращение к счётчику </a:t>
            </a:r>
            <a:r>
              <a:rPr lang="ru-RU" dirty="0" err="1"/>
              <a:t>for</a:t>
            </a:r>
            <a:r>
              <a:rPr lang="ru-RU" dirty="0"/>
              <a:t> за пределами его области видимости.</a:t>
            </a:r>
          </a:p>
          <a:p>
            <a:r>
              <a:rPr lang="ru-RU" dirty="0"/>
              <a:t>Посмотрите на пример.</a:t>
            </a:r>
          </a:p>
          <a:p>
            <a:r>
              <a:rPr lang="ru-RU" dirty="0"/>
              <a:t>Счётчик i объявлен непосредственно в заголовке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После завершения цикла мы пытаемся вывести его значение через </a:t>
            </a:r>
            <a:r>
              <a:rPr lang="ru-RU" dirty="0" err="1"/>
              <a:t>Console.WriteLine</a:t>
            </a:r>
            <a:r>
              <a:rPr lang="ru-RU" dirty="0"/>
              <a:t>(i).</a:t>
            </a:r>
          </a:p>
          <a:p>
            <a:r>
              <a:rPr lang="ru-RU" dirty="0"/>
              <a:t>Но эта переменная уже недоступна. Программа не сможет скомпилироваться.</a:t>
            </a:r>
          </a:p>
          <a:p>
            <a:r>
              <a:rPr lang="ru-RU" dirty="0"/>
              <a:t>Если нам необходимо использовать значение счётчика после цикла, его можно объявить заранее, за пределами конструкции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Третья ошибка — лишняя точка с запятой.</a:t>
            </a:r>
          </a:p>
          <a:p>
            <a:r>
              <a:rPr lang="ru-RU" dirty="0"/>
              <a:t>Обратите внимание на пример:</a:t>
            </a:r>
          </a:p>
          <a:p>
            <a:r>
              <a:rPr lang="ru-RU" dirty="0" err="1"/>
              <a:t>for</a:t>
            </a:r>
            <a:r>
              <a:rPr lang="ru-RU" dirty="0"/>
              <a:t> (...);</a:t>
            </a:r>
          </a:p>
          <a:p>
            <a:r>
              <a:rPr lang="ru-RU" dirty="0"/>
              <a:t>Точка с запятой сразу после круглых скобок означает, что у цикла пустое тело.</a:t>
            </a:r>
          </a:p>
          <a:p>
            <a:r>
              <a:rPr lang="ru-RU" dirty="0"/>
              <a:t>Следовательно, расположенный далее блок в фигурных скобках уже не является телом этого цикла.</a:t>
            </a:r>
          </a:p>
          <a:p>
            <a:r>
              <a:rPr lang="ru-RU" dirty="0"/>
              <a:t>Это особенно опасная ошибка, поскольку программа может компилироваться, но работать совсем не так, как предполагал разработчик.</a:t>
            </a:r>
          </a:p>
          <a:p>
            <a:r>
              <a:rPr lang="ru-RU" dirty="0"/>
              <a:t>Например, счётчик будет изменяться в пустом цикле, а действия в следующем блоке выполнятся только после его завершения.</a:t>
            </a:r>
          </a:p>
          <a:p>
            <a:r>
              <a:rPr lang="ru-RU" dirty="0"/>
              <a:t>Поэтому внимательно проверяйте расположение точек с запятой.</a:t>
            </a:r>
          </a:p>
          <a:p>
            <a:r>
              <a:rPr lang="ru-RU" dirty="0"/>
              <a:t>Четвёртая ошибка связана с изменением счётчика внутри тела цикла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Например, в заголовке мы увеличиваем переменную с помощью i++, а внутри тела уменьшаем её с помощью i--.</a:t>
            </a:r>
          </a:p>
          <a:p>
            <a:r>
              <a:rPr lang="ru-RU" dirty="0"/>
              <a:t>В результате два действия могут компенсировать друг друга.</a:t>
            </a:r>
          </a:p>
          <a:p>
            <a:r>
              <a:rPr lang="ru-RU" dirty="0"/>
              <a:t>Представьте, что счётчик изначально равен нулю.</a:t>
            </a:r>
          </a:p>
          <a:p>
            <a:r>
              <a:rPr lang="ru-RU" dirty="0"/>
              <a:t>Внутри тела мы уменьшаем его до минус единицы.</a:t>
            </a:r>
          </a:p>
          <a:p>
            <a:r>
              <a:rPr lang="ru-RU" dirty="0"/>
              <a:t>А после завершения тела шаг i++ снова увеличивает значение до нуля.</a:t>
            </a:r>
          </a:p>
          <a:p>
            <a:r>
              <a:rPr lang="ru-RU" dirty="0"/>
              <a:t>Если условие продолжения остаётся истинным, цикл может оказаться бесконечным.</a:t>
            </a:r>
          </a:p>
          <a:p>
            <a:r>
              <a:rPr lang="ru-RU" dirty="0"/>
              <a:t>Само по себе изменение счётчика внутри тела не запрещено языком C#, но оно может значительно усложнить понимание алгоритма.</a:t>
            </a:r>
          </a:p>
          <a:p>
            <a:r>
              <a:rPr lang="ru-RU" dirty="0"/>
              <a:t>Поэтому для обычных циклов со счётчиком рекомендуется размещать его изменение в заголовке </a:t>
            </a:r>
            <a:r>
              <a:rPr lang="ru-RU" dirty="0" err="1"/>
              <a:t>for</a:t>
            </a:r>
            <a:r>
              <a:rPr lang="ru-RU" dirty="0"/>
              <a:t>.</a:t>
            </a:r>
          </a:p>
          <a:p>
            <a:r>
              <a:rPr lang="ru-RU" dirty="0"/>
              <a:t>Итак, при работе с циклами всегда проверяйте три момента.</a:t>
            </a:r>
          </a:p>
          <a:p>
            <a:r>
              <a:rPr lang="ru-RU" dirty="0"/>
              <a:t>Понимаете ли вы, когда начнётся выполнение?</a:t>
            </a:r>
          </a:p>
          <a:p>
            <a:r>
              <a:rPr lang="ru-RU" dirty="0"/>
              <a:t>Понимаете ли вы, каким образом изменяются управляющие переменные?</a:t>
            </a:r>
          </a:p>
          <a:p>
            <a:r>
              <a:rPr lang="ru-RU" dirty="0"/>
              <a:t>И самое главное — понимаете ли вы, при каком условии цикл завершится?</a:t>
            </a:r>
          </a:p>
          <a:p>
            <a:r>
              <a:rPr lang="ru-RU" dirty="0"/>
              <a:t>Если на все три вопроса у вас есть ответ, вероятность допустить логическую ошибку существенно уменьшается».</a:t>
            </a:r>
          </a:p>
          <a:p>
            <a:r>
              <a:rPr lang="ru-RU" dirty="0"/>
              <a:t>Заключительный вопрос студентам: «Может ли программа содержать цикл, который не выполнится ни одного раза? А цикл, который обязательно выполнится хотя бы раз?»</a:t>
            </a:r>
          </a:p>
          <a:p>
            <a:r>
              <a:rPr lang="ru-RU" dirty="0"/>
              <a:t>Ожидаемый ответ: да. </a:t>
            </a:r>
            <a:r>
              <a:rPr lang="ru-RU" dirty="0" err="1"/>
              <a:t>while</a:t>
            </a:r>
            <a:r>
              <a:rPr lang="ru-RU" dirty="0"/>
              <a:t> и </a:t>
            </a:r>
            <a:r>
              <a:rPr lang="ru-RU" dirty="0" err="1"/>
              <a:t>for</a:t>
            </a:r>
            <a:r>
              <a:rPr lang="ru-RU" dirty="0"/>
              <a:t> могут не выполнить тело ни разу, если условие сразу ложно.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всегда выполняет тело минимум один раз.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796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587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&lt;=10</a:t>
            </a:r>
          </a:p>
          <a:p>
            <a:pPr marL="228600" indent="-228600">
              <a:buAutoNum type="arabicPeriod"/>
            </a:pPr>
            <a:r>
              <a:rPr lang="en-US" dirty="0"/>
              <a:t>continue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250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while (choice &lt; 1 || choice &gt; 5);</a:t>
            </a:r>
          </a:p>
          <a:p>
            <a:r>
              <a:rPr lang="ru-RU" dirty="0"/>
              <a:t>Цикл должен повторяться, пока число недопустимо: меньше 1 ИЛИ больше 5. Исходное условие заставляло повторять ввод корректных значений.</a:t>
            </a:r>
            <a:endParaRPr lang="en-US" dirty="0"/>
          </a:p>
          <a:p>
            <a:r>
              <a:rPr lang="en-US" dirty="0"/>
              <a:t>4. </a:t>
            </a:r>
            <a:r>
              <a:rPr lang="ru-RU" dirty="0" err="1"/>
              <a:t>while</a:t>
            </a:r>
            <a:r>
              <a:rPr lang="ru-RU" dirty="0"/>
              <a:t> (</a:t>
            </a:r>
            <a:r>
              <a:rPr lang="ru-RU" dirty="0" err="1"/>
              <a:t>number</a:t>
            </a:r>
            <a:r>
              <a:rPr lang="ru-RU" dirty="0"/>
              <a:t> &gt; 0)</a:t>
            </a:r>
          </a:p>
          <a:p>
            <a:r>
              <a:rPr lang="ru-RU" dirty="0"/>
              <a:t>При последовательном целочисленном делении число становится равным нулю. Условие </a:t>
            </a:r>
            <a:r>
              <a:rPr lang="ru-RU" dirty="0" err="1"/>
              <a:t>number</a:t>
            </a:r>
            <a:r>
              <a:rPr lang="ru-RU" dirty="0"/>
              <a:t> &gt;= 0 после этого навсегда остаётся истинным. Для заданного положительного числа достаточно &gt; 0.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534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if (n % </a:t>
            </a:r>
            <a:r>
              <a:rPr lang="en-US" dirty="0" err="1"/>
              <a:t>i</a:t>
            </a:r>
            <a:r>
              <a:rPr lang="en-US" dirty="0"/>
              <a:t> == 0)</a:t>
            </a:r>
          </a:p>
          <a:p>
            <a:pPr marL="228600" indent="-228600">
              <a:buAutoNum type="arabicPeriod"/>
            </a:pPr>
            <a:r>
              <a:rPr lang="en-US" dirty="0"/>
              <a:t>if (</a:t>
            </a:r>
            <a:r>
              <a:rPr lang="en-US" dirty="0" err="1"/>
              <a:t>i</a:t>
            </a:r>
            <a:r>
              <a:rPr lang="en-US" dirty="0"/>
              <a:t> % 2 == 0) { </a:t>
            </a:r>
            <a:r>
              <a:rPr lang="en-US" dirty="0" err="1"/>
              <a:t>i</a:t>
            </a:r>
            <a:r>
              <a:rPr lang="en-US" dirty="0"/>
              <a:t>++; continue; }</a:t>
            </a:r>
          </a:p>
          <a:p>
            <a:pPr marL="0" indent="0">
              <a:buNone/>
            </a:pPr>
            <a:r>
              <a:rPr lang="ru-RU" dirty="0"/>
              <a:t>При i = 2 срабатывает </a:t>
            </a:r>
            <a:r>
              <a:rPr lang="ru-RU" dirty="0" err="1"/>
              <a:t>continue</a:t>
            </a:r>
            <a:r>
              <a:rPr lang="ru-RU" dirty="0"/>
              <a:t>, из-за чего увеличение i не выполняется.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8332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Повторять ввод нужно, только если ответ неправильный и попыток ещё меньше трёх.</a:t>
            </a:r>
            <a:endParaRPr lang="en-US" dirty="0"/>
          </a:p>
          <a:p>
            <a:r>
              <a:rPr lang="en-US" dirty="0"/>
              <a:t>while (answer != "yes" &amp;&amp; tries &lt; 3);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190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</a:t>
            </a:r>
            <a:r>
              <a:rPr lang="ru-RU" dirty="0" err="1"/>
              <a:t>sum</a:t>
            </a:r>
            <a:r>
              <a:rPr lang="ru-RU" dirty="0"/>
              <a:t> += i++ к сумме добавляется старое значение i, а переменная увеличивается. Если новое значение чётное, оно добавляется ещё раз. </a:t>
            </a:r>
            <a:endParaRPr lang="en-US" dirty="0"/>
          </a:p>
          <a:p>
            <a:r>
              <a:rPr lang="ru-RU" dirty="0"/>
              <a:t>Итоговая сумма — 27, счётчик — 6.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847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Выводит:</a:t>
            </a:r>
          </a:p>
          <a:p>
            <a:r>
              <a:rPr lang="ru-RU" dirty="0"/>
              <a:t>12</a:t>
            </a:r>
          </a:p>
          <a:p>
            <a:r>
              <a:rPr lang="ru-RU" dirty="0"/>
              <a:t>6</a:t>
            </a:r>
          </a:p>
          <a:p>
            <a:r>
              <a:rPr lang="ru-RU" dirty="0"/>
              <a:t>Конец: 3</a:t>
            </a:r>
            <a:endParaRPr lang="en-US" dirty="0"/>
          </a:p>
          <a:p>
            <a:r>
              <a:rPr lang="ru-RU" dirty="0"/>
              <a:t>Цикл выполнится два раза. После второго деления x = 3, поэтому условие x % 2 == 0 становится ложным.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685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13 3</a:t>
            </a:r>
          </a:p>
          <a:p>
            <a:r>
              <a:rPr lang="ru-RU" dirty="0"/>
              <a:t>Перебираются числа 9, 7, 5, 3, 1. Из-за </a:t>
            </a:r>
            <a:r>
              <a:rPr lang="ru-RU" dirty="0" err="1"/>
              <a:t>continue</a:t>
            </a:r>
            <a:r>
              <a:rPr lang="ru-RU" dirty="0"/>
              <a:t> пропускаются 9 и 3. </a:t>
            </a:r>
            <a:r>
              <a:rPr lang="ru-RU"/>
              <a:t>Остаются 7 + 5 + 1 = 13.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6731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753</a:t>
            </a:r>
          </a:p>
          <a:p>
            <a:r>
              <a:rPr lang="ru-RU" dirty="0"/>
              <a:t>Цифры извлекаются справа налево. Нули пропускаются, остальные цифры последовательно формируют число 753.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D2D83-9D90-463F-AD61-CB9720E1517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47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61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88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21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68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216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773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609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142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84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222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369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00029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516098" y="2115939"/>
            <a:ext cx="8558415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Циклы с предусловием и постусловием. Цикл с параметром. Вложенные циклы. Операторы досрочного завершения и перехода к следующей итерации. 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Основы алгоритмизации и программирования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5D21D60F-CB5E-E9FC-1FE1-253E812F8464}"/>
              </a:ext>
            </a:extLst>
          </p:cNvPr>
          <p:cNvSpPr/>
          <p:nvPr/>
        </p:nvSpPr>
        <p:spPr>
          <a:xfrm>
            <a:off x="358630" y="2741316"/>
            <a:ext cx="290704" cy="290711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71A6511-64B6-7A81-A76D-6B38CC7CC3B1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D58FD4F2-AAC5-BD60-8CAA-A205D667789F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832D9D92-1DE4-BC1C-0C37-A6B86D21B7A4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04F5BCB8-46CF-0774-9A2E-2BB3B6F9F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8957CF00-7AF0-DA1E-7F2D-12F42302A680}"/>
              </a:ext>
            </a:extLst>
          </p:cNvPr>
          <p:cNvSpPr/>
          <p:nvPr/>
        </p:nvSpPr>
        <p:spPr>
          <a:xfrm>
            <a:off x="1304283" y="285757"/>
            <a:ext cx="9583433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Введение в циклы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DBD7231-2AE3-2B4A-319A-BFA89760DFBC}"/>
              </a:ext>
            </a:extLst>
          </p:cNvPr>
          <p:cNvSpPr/>
          <p:nvPr/>
        </p:nvSpPr>
        <p:spPr>
          <a:xfrm>
            <a:off x="361708" y="864262"/>
            <a:ext cx="11566906" cy="85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это фундаментальная управляющая конструкция, позволяющая автоматически повторять блок кода заданное число раз или до тех пор, пока выполняется определённое условие. Без циклов программисту пришлось бы вручную писать каждую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итерацию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что неприемлемо для обработки динамических данных.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7865946-104B-841A-3537-584C23D0B52B}"/>
              </a:ext>
            </a:extLst>
          </p:cNvPr>
          <p:cNvSpPr/>
          <p:nvPr/>
        </p:nvSpPr>
        <p:spPr>
          <a:xfrm>
            <a:off x="361708" y="1719653"/>
            <a:ext cx="5615777" cy="67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Итерация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это одно выполнение тела цикла. Каждый цикл состоит из трёх концептуальных частей: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32A7A06-BEC0-A5B8-8895-C037FE4E8427}"/>
              </a:ext>
            </a:extLst>
          </p:cNvPr>
          <p:cNvSpPr/>
          <p:nvPr/>
        </p:nvSpPr>
        <p:spPr>
          <a:xfrm>
            <a:off x="410175" y="2741316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5408E0A-9CEF-C116-B47C-AC9A20FB002D}"/>
              </a:ext>
            </a:extLst>
          </p:cNvPr>
          <p:cNvSpPr/>
          <p:nvPr/>
        </p:nvSpPr>
        <p:spPr>
          <a:xfrm>
            <a:off x="753314" y="2761408"/>
            <a:ext cx="488521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Инициализация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A865406-8D5E-7BC5-F137-69599ADAF11A}"/>
              </a:ext>
            </a:extLst>
          </p:cNvPr>
          <p:cNvSpPr/>
          <p:nvPr/>
        </p:nvSpPr>
        <p:spPr>
          <a:xfrm>
            <a:off x="753314" y="3064223"/>
            <a:ext cx="4885211" cy="172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Задание начального состояния (счётчик, флаг, индекс)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BD309FD-0253-5B65-2C70-8FD6985357B3}"/>
              </a:ext>
            </a:extLst>
          </p:cNvPr>
          <p:cNvSpPr/>
          <p:nvPr/>
        </p:nvSpPr>
        <p:spPr>
          <a:xfrm>
            <a:off x="753314" y="3482926"/>
            <a:ext cx="488521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Условие продолжения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BA66B69-7E3A-2D48-D314-9E4B539C5E4F}"/>
              </a:ext>
            </a:extLst>
          </p:cNvPr>
          <p:cNvSpPr/>
          <p:nvPr/>
        </p:nvSpPr>
        <p:spPr>
          <a:xfrm>
            <a:off x="753314" y="3785742"/>
            <a:ext cx="4885211" cy="172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Логическое выражение, проверяемое перед каждой итерацией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0ECD5FBE-8834-B52B-8A76-A52F4A8B94F2}"/>
              </a:ext>
            </a:extLst>
          </p:cNvPr>
          <p:cNvSpPr/>
          <p:nvPr/>
        </p:nvSpPr>
        <p:spPr>
          <a:xfrm>
            <a:off x="361708" y="4160094"/>
            <a:ext cx="290704" cy="290711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701170B-9FD1-20C9-AA25-D92487AA1778}"/>
              </a:ext>
            </a:extLst>
          </p:cNvPr>
          <p:cNvSpPr/>
          <p:nvPr/>
        </p:nvSpPr>
        <p:spPr>
          <a:xfrm>
            <a:off x="410175" y="4184353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05D9524-5914-65F6-12D2-4EDA68B0D089}"/>
              </a:ext>
            </a:extLst>
          </p:cNvPr>
          <p:cNvSpPr/>
          <p:nvPr/>
        </p:nvSpPr>
        <p:spPr>
          <a:xfrm>
            <a:off x="753314" y="4204445"/>
            <a:ext cx="488521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Изменение состояния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4EB9698-ED91-0754-46F3-B113D81A567B}"/>
              </a:ext>
            </a:extLst>
          </p:cNvPr>
          <p:cNvSpPr/>
          <p:nvPr/>
        </p:nvSpPr>
        <p:spPr>
          <a:xfrm>
            <a:off x="753314" y="4507261"/>
            <a:ext cx="4885211" cy="172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Обновление переменной, чтобы цикл когда-нибудь завершился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BB2EEB49-9B65-4AA1-F251-7F36198AAC70}"/>
              </a:ext>
            </a:extLst>
          </p:cNvPr>
          <p:cNvSpPr/>
          <p:nvPr/>
        </p:nvSpPr>
        <p:spPr>
          <a:xfrm>
            <a:off x="358631" y="3456489"/>
            <a:ext cx="290704" cy="290711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2A78357-35B1-D042-F722-B5BF92249F41}"/>
              </a:ext>
            </a:extLst>
          </p:cNvPr>
          <p:cNvSpPr/>
          <p:nvPr/>
        </p:nvSpPr>
        <p:spPr>
          <a:xfrm>
            <a:off x="407098" y="3480747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07BE995-B160-8869-4592-0C60DDE14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B6ED9390-EACD-6915-8AD4-7432C311E2B9}"/>
              </a:ext>
            </a:extLst>
          </p:cNvPr>
          <p:cNvSpPr/>
          <p:nvPr/>
        </p:nvSpPr>
        <p:spPr>
          <a:xfrm>
            <a:off x="6584480" y="1612664"/>
            <a:ext cx="5615777" cy="5245335"/>
          </a:xfrm>
          <a:prstGeom prst="roundRect">
            <a:avLst>
              <a:gd name="adj" fmla="val 143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4A5560AC-78BF-3BEB-0A67-77956D93645D}"/>
              </a:ext>
            </a:extLst>
          </p:cNvPr>
          <p:cNvSpPr/>
          <p:nvPr/>
        </p:nvSpPr>
        <p:spPr>
          <a:xfrm>
            <a:off x="6671464" y="1719653"/>
            <a:ext cx="5520536" cy="38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Предотвращение бесконечных циклов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886E957A-5C36-78B6-2AA7-03FCFB3F4579}"/>
              </a:ext>
            </a:extLst>
          </p:cNvPr>
          <p:cNvSpPr/>
          <p:nvPr/>
        </p:nvSpPr>
        <p:spPr>
          <a:xfrm>
            <a:off x="6679721" y="2038754"/>
            <a:ext cx="5520536" cy="67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Бесконечный цикл возникает, когда условие выхода никогда не становится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false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64AA50-00FA-AB7E-3E94-3135BEF59533}"/>
              </a:ext>
            </a:extLst>
          </p:cNvPr>
          <p:cNvSpPr txBox="1"/>
          <p:nvPr/>
        </p:nvSpPr>
        <p:spPr>
          <a:xfrm>
            <a:off x="6730957" y="2973477"/>
            <a:ext cx="401561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&lt;10)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Console.WriteLine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040B6F-E437-7945-A6FF-12B8561B6ADA}"/>
              </a:ext>
            </a:extLst>
          </p:cNvPr>
          <p:cNvSpPr txBox="1"/>
          <p:nvPr/>
        </p:nvSpPr>
        <p:spPr>
          <a:xfrm>
            <a:off x="6671464" y="2544868"/>
            <a:ext cx="244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В чем ошибка?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D1239-FB74-599C-969B-8FBF1CB0D21C}"/>
              </a:ext>
            </a:extLst>
          </p:cNvPr>
          <p:cNvSpPr txBox="1"/>
          <p:nvPr/>
        </p:nvSpPr>
        <p:spPr>
          <a:xfrm>
            <a:off x="6679721" y="4327675"/>
            <a:ext cx="615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ПРАВИЛЬНО: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0D7A91-25D0-514F-95CA-6791862599BC}"/>
              </a:ext>
            </a:extLst>
          </p:cNvPr>
          <p:cNvSpPr txBox="1"/>
          <p:nvPr/>
        </p:nvSpPr>
        <p:spPr>
          <a:xfrm>
            <a:off x="6817784" y="4729345"/>
            <a:ext cx="47941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i = 0;</a:t>
            </a:r>
          </a:p>
          <a:p>
            <a:r>
              <a:rPr lang="nn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while(i&lt;10)</a:t>
            </a:r>
          </a:p>
          <a:p>
            <a:r>
              <a:rPr lang="nn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nn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Console.WriteLine(i);</a:t>
            </a:r>
          </a:p>
          <a:p>
            <a:r>
              <a:rPr lang="nn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i++;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Обязательное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изменение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состояния</a:t>
            </a:r>
            <a:endParaRPr lang="nn-NO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n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9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FF402DE-13C9-C94E-8F98-CFE74A25494B}"/>
              </a:ext>
            </a:extLst>
          </p:cNvPr>
          <p:cNvSpPr/>
          <p:nvPr/>
        </p:nvSpPr>
        <p:spPr>
          <a:xfrm>
            <a:off x="717740" y="22205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Основные понятия циклов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5FEECE-4B83-69C2-5ECD-E6E17D5BDB5F}"/>
              </a:ext>
            </a:extLst>
          </p:cNvPr>
          <p:cNvSpPr/>
          <p:nvPr/>
        </p:nvSpPr>
        <p:spPr>
          <a:xfrm>
            <a:off x="542019" y="1171316"/>
            <a:ext cx="3581310" cy="1372791"/>
          </a:xfrm>
          <a:prstGeom prst="roundRect">
            <a:avLst>
              <a:gd name="adj" fmla="val 5168"/>
            </a:avLst>
          </a:prstGeom>
          <a:solidFill>
            <a:srgbClr val="D5DCF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001988-225A-389B-B0EC-4C1913BF004B}"/>
              </a:ext>
            </a:extLst>
          </p:cNvPr>
          <p:cNvSpPr/>
          <p:nvPr/>
        </p:nvSpPr>
        <p:spPr>
          <a:xfrm>
            <a:off x="717740" y="1275361"/>
            <a:ext cx="31241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Цикл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62D314-8998-B4FB-EF4A-F90E6E9654E1}"/>
              </a:ext>
            </a:extLst>
          </p:cNvPr>
          <p:cNvSpPr/>
          <p:nvPr/>
        </p:nvSpPr>
        <p:spPr>
          <a:xfrm>
            <a:off x="647836" y="1557961"/>
            <a:ext cx="3399295" cy="91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Конструкция, которая многократно выполняет один блок кода, пока выполняется заданное условие.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44DB966-374A-D358-AA3E-C6616ACC7B7A}"/>
              </a:ext>
            </a:extLst>
          </p:cNvPr>
          <p:cNvSpPr/>
          <p:nvPr/>
        </p:nvSpPr>
        <p:spPr>
          <a:xfrm>
            <a:off x="4275725" y="1171316"/>
            <a:ext cx="3505112" cy="1372791"/>
          </a:xfrm>
          <a:prstGeom prst="roundRect">
            <a:avLst>
              <a:gd name="adj" fmla="val 5168"/>
            </a:avLst>
          </a:prstGeom>
          <a:solidFill>
            <a:srgbClr val="D5DCF6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BCD9C6-9947-0CAE-D576-A80A8D1C825D}"/>
              </a:ext>
            </a:extLst>
          </p:cNvPr>
          <p:cNvSpPr/>
          <p:nvPr/>
        </p:nvSpPr>
        <p:spPr>
          <a:xfrm>
            <a:off x="4504320" y="1275361"/>
            <a:ext cx="30479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Итерация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E97625-210A-CE07-0CF7-86C9953E2F22}"/>
              </a:ext>
            </a:extLst>
          </p:cNvPr>
          <p:cNvSpPr/>
          <p:nvPr/>
        </p:nvSpPr>
        <p:spPr>
          <a:xfrm>
            <a:off x="4414684" y="1557961"/>
            <a:ext cx="3137560" cy="91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Однократное выполнение тела цикла. Цикл из пяти повторений содержит пять итераций.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4A57BB6-110A-E394-66BE-2D6A67F74E7E}"/>
              </a:ext>
            </a:extLst>
          </p:cNvPr>
          <p:cNvSpPr/>
          <p:nvPr/>
        </p:nvSpPr>
        <p:spPr>
          <a:xfrm>
            <a:off x="7933234" y="1171316"/>
            <a:ext cx="3581310" cy="1372791"/>
          </a:xfrm>
          <a:prstGeom prst="roundRect">
            <a:avLst>
              <a:gd name="adj" fmla="val 5168"/>
            </a:avLst>
          </a:prstGeom>
          <a:solidFill>
            <a:srgbClr val="D5DCF6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7F4A09-3332-366F-37DF-210EF7E8EB55}"/>
              </a:ext>
            </a:extLst>
          </p:cNvPr>
          <p:cNvSpPr/>
          <p:nvPr/>
        </p:nvSpPr>
        <p:spPr>
          <a:xfrm>
            <a:off x="8161828" y="1275361"/>
            <a:ext cx="31241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Счётчик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954410-03F5-239F-7549-6CA3C13661AB}"/>
              </a:ext>
            </a:extLst>
          </p:cNvPr>
          <p:cNvSpPr/>
          <p:nvPr/>
        </p:nvSpPr>
        <p:spPr>
          <a:xfrm>
            <a:off x="8009430" y="1518216"/>
            <a:ext cx="3435317" cy="95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Переменная, которая меняется на каждой итерации и обычно управляет числом повторений, например i.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227586-7550-06A3-9988-C58B208E6D01}"/>
              </a:ext>
            </a:extLst>
          </p:cNvPr>
          <p:cNvSpPr/>
          <p:nvPr/>
        </p:nvSpPr>
        <p:spPr>
          <a:xfrm>
            <a:off x="542019" y="2696407"/>
            <a:ext cx="3581310" cy="1186954"/>
          </a:xfrm>
          <a:prstGeom prst="roundRect">
            <a:avLst>
              <a:gd name="adj" fmla="val 5977"/>
            </a:avLst>
          </a:prstGeom>
          <a:solidFill>
            <a:srgbClr val="D5DCF6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0C45DE-41E1-322A-FD85-C4C2000A3B03}"/>
              </a:ext>
            </a:extLst>
          </p:cNvPr>
          <p:cNvSpPr/>
          <p:nvPr/>
        </p:nvSpPr>
        <p:spPr>
          <a:xfrm>
            <a:off x="906050" y="2755286"/>
            <a:ext cx="31241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Тело цикла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2884B44-CA5E-80F7-9796-8AB293627FC9}"/>
              </a:ext>
            </a:extLst>
          </p:cNvPr>
          <p:cNvSpPr/>
          <p:nvPr/>
        </p:nvSpPr>
        <p:spPr>
          <a:xfrm>
            <a:off x="717739" y="2997320"/>
            <a:ext cx="3176995" cy="867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Блок операторов в фигурных скобках, который повторяется на каждой итерации.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D814597-2E28-79A7-71C1-8A5C4070C4FA}"/>
              </a:ext>
            </a:extLst>
          </p:cNvPr>
          <p:cNvSpPr/>
          <p:nvPr/>
        </p:nvSpPr>
        <p:spPr>
          <a:xfrm>
            <a:off x="4275725" y="2696407"/>
            <a:ext cx="3505112" cy="1186954"/>
          </a:xfrm>
          <a:prstGeom prst="roundRect">
            <a:avLst>
              <a:gd name="adj" fmla="val 5977"/>
            </a:avLst>
          </a:prstGeom>
          <a:solidFill>
            <a:srgbClr val="D5DCF6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BB0759-93AB-54BB-80AD-CC709ABBEF28}"/>
              </a:ext>
            </a:extLst>
          </p:cNvPr>
          <p:cNvSpPr/>
          <p:nvPr/>
        </p:nvSpPr>
        <p:spPr>
          <a:xfrm>
            <a:off x="4504320" y="2741672"/>
            <a:ext cx="30479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Условие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691A4E9-710F-ABE3-3E67-69ED2B575AAC}"/>
              </a:ext>
            </a:extLst>
          </p:cNvPr>
          <p:cNvSpPr/>
          <p:nvPr/>
        </p:nvSpPr>
        <p:spPr>
          <a:xfrm>
            <a:off x="4414684" y="3042584"/>
            <a:ext cx="3289956" cy="822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Булево выражение: пока оно true, выполняется очередная итерация.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AA2122B-AFB1-BCDC-096B-53BC0B4668F6}"/>
              </a:ext>
            </a:extLst>
          </p:cNvPr>
          <p:cNvSpPr/>
          <p:nvPr/>
        </p:nvSpPr>
        <p:spPr>
          <a:xfrm>
            <a:off x="7933234" y="2696407"/>
            <a:ext cx="3581310" cy="1186954"/>
          </a:xfrm>
          <a:prstGeom prst="roundRect">
            <a:avLst>
              <a:gd name="adj" fmla="val 5977"/>
            </a:avLst>
          </a:prstGeom>
          <a:solidFill>
            <a:srgbClr val="D5DCF6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298B78C-56F9-26E8-975C-406725E95D84}"/>
              </a:ext>
            </a:extLst>
          </p:cNvPr>
          <p:cNvSpPr/>
          <p:nvPr/>
        </p:nvSpPr>
        <p:spPr>
          <a:xfrm>
            <a:off x="8161828" y="2741672"/>
            <a:ext cx="31241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Бесконечный цикл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E8BAC33-7C7B-B0F1-4CE9-4418C0A9B090}"/>
              </a:ext>
            </a:extLst>
          </p:cNvPr>
          <p:cNvSpPr/>
          <p:nvPr/>
        </p:nvSpPr>
        <p:spPr>
          <a:xfrm>
            <a:off x="8083170" y="2998626"/>
            <a:ext cx="3124122" cy="371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Цикл, условие которого никогда не становится false, поэтому без break он не завершается.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73142FC-65F2-CCEE-0280-1705FC29E141}"/>
              </a:ext>
            </a:extLst>
          </p:cNvPr>
          <p:cNvSpPr/>
          <p:nvPr/>
        </p:nvSpPr>
        <p:spPr>
          <a:xfrm>
            <a:off x="542019" y="4035662"/>
            <a:ext cx="3581310" cy="1372791"/>
          </a:xfrm>
          <a:prstGeom prst="roundRect">
            <a:avLst>
              <a:gd name="adj" fmla="val 5168"/>
            </a:avLst>
          </a:prstGeom>
          <a:solidFill>
            <a:srgbClr val="D5DCF6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C78998C-BDEF-7387-17EF-451322EAD5A4}"/>
              </a:ext>
            </a:extLst>
          </p:cNvPr>
          <p:cNvSpPr/>
          <p:nvPr/>
        </p:nvSpPr>
        <p:spPr>
          <a:xfrm>
            <a:off x="785422" y="4091253"/>
            <a:ext cx="31241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Вложенный цикл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85AF1F9-B30D-488B-B372-DF3D3D39E011}"/>
              </a:ext>
            </a:extLst>
          </p:cNvPr>
          <p:cNvSpPr/>
          <p:nvPr/>
        </p:nvSpPr>
        <p:spPr>
          <a:xfrm>
            <a:off x="717740" y="4349523"/>
            <a:ext cx="3312432" cy="950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Цикл внутри тела другого цикла. Внутренний полностью выполняется на каждом шаге внешнего.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0B62AE0-9434-0E6C-72C7-05D2496A6B3E}"/>
              </a:ext>
            </a:extLst>
          </p:cNvPr>
          <p:cNvSpPr/>
          <p:nvPr/>
        </p:nvSpPr>
        <p:spPr>
          <a:xfrm>
            <a:off x="4275725" y="4035662"/>
            <a:ext cx="3505112" cy="1372791"/>
          </a:xfrm>
          <a:prstGeom prst="roundRect">
            <a:avLst>
              <a:gd name="adj" fmla="val 5168"/>
            </a:avLst>
          </a:prstGeom>
          <a:solidFill>
            <a:srgbClr val="D5DCF6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A714F37-0B5E-EF04-0267-C693EBBB4B18}"/>
              </a:ext>
            </a:extLst>
          </p:cNvPr>
          <p:cNvSpPr/>
          <p:nvPr/>
        </p:nvSpPr>
        <p:spPr>
          <a:xfrm>
            <a:off x="4504320" y="4110823"/>
            <a:ext cx="30479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break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A9A7906-65C2-3E04-DE41-F96C39E7CB94}"/>
              </a:ext>
            </a:extLst>
          </p:cNvPr>
          <p:cNvSpPr/>
          <p:nvPr/>
        </p:nvSpPr>
        <p:spPr>
          <a:xfrm>
            <a:off x="4351923" y="4452912"/>
            <a:ext cx="3200321" cy="85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Оператор, который немедленно завершает текущий цикл.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2787A9A-C295-58C8-4DF9-11AC3E027B86}"/>
              </a:ext>
            </a:extLst>
          </p:cNvPr>
          <p:cNvSpPr/>
          <p:nvPr/>
        </p:nvSpPr>
        <p:spPr>
          <a:xfrm>
            <a:off x="7933234" y="4035662"/>
            <a:ext cx="3581310" cy="1372791"/>
          </a:xfrm>
          <a:prstGeom prst="roundRect">
            <a:avLst>
              <a:gd name="adj" fmla="val 5168"/>
            </a:avLst>
          </a:prstGeom>
          <a:solidFill>
            <a:srgbClr val="D5DCF6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046E0E8-4DD2-65C1-9214-1A11900D416A}"/>
              </a:ext>
            </a:extLst>
          </p:cNvPr>
          <p:cNvSpPr/>
          <p:nvPr/>
        </p:nvSpPr>
        <p:spPr>
          <a:xfrm>
            <a:off x="8161828" y="4113407"/>
            <a:ext cx="31241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continue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C4F4BEC-5ED0-AEFA-0B30-5223DD1A39C0}"/>
              </a:ext>
            </a:extLst>
          </p:cNvPr>
          <p:cNvSpPr/>
          <p:nvPr/>
        </p:nvSpPr>
        <p:spPr>
          <a:xfrm>
            <a:off x="8083170" y="4350384"/>
            <a:ext cx="3124122" cy="371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Оператор, который пропускает оставшуюся часть тела и переходит к следующей итерации.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93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05BDCBA-C29D-B55A-F370-F8BF2A53FA2F}"/>
              </a:ext>
            </a:extLst>
          </p:cNvPr>
          <p:cNvSpPr/>
          <p:nvPr/>
        </p:nvSpPr>
        <p:spPr>
          <a:xfrm>
            <a:off x="609736" y="13408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while проверяет условие до входа в тело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BFA8B-A330-1926-7DA4-BDD7C3670C9C}"/>
              </a:ext>
            </a:extLst>
          </p:cNvPr>
          <p:cNvSpPr/>
          <p:nvPr/>
        </p:nvSpPr>
        <p:spPr>
          <a:xfrm>
            <a:off x="324465" y="3678749"/>
            <a:ext cx="6045049" cy="3039467"/>
          </a:xfrm>
          <a:prstGeom prst="roundRect">
            <a:avLst>
              <a:gd name="adj" fmla="val 2334"/>
            </a:avLst>
          </a:prstGeom>
          <a:solidFill>
            <a:srgbClr val="F2EDED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8DB2C9-DA69-5B3F-98BE-4E268D3403F1}"/>
              </a:ext>
            </a:extLst>
          </p:cNvPr>
          <p:cNvSpPr/>
          <p:nvPr/>
        </p:nvSpPr>
        <p:spPr>
          <a:xfrm>
            <a:off x="501445" y="3786141"/>
            <a:ext cx="5665468" cy="2763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Подсчёт суммы цифр целого числа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number = 4821;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sum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(number &gt; 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sum += number % 10; // берём последнюю цифру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number /= 10;       // отбрасываем её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Console.WriteLine($"Сумма цифр: {sum}");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6C7965-7A33-D315-5FE5-1CEA2068EF71}"/>
              </a:ext>
            </a:extLst>
          </p:cNvPr>
          <p:cNvSpPr/>
          <p:nvPr/>
        </p:nvSpPr>
        <p:spPr>
          <a:xfrm>
            <a:off x="6861004" y="3786140"/>
            <a:ext cx="4622784" cy="2147391"/>
          </a:xfrm>
          <a:prstGeom prst="roundRect">
            <a:avLst>
              <a:gd name="adj" fmla="val 3304"/>
            </a:avLst>
          </a:prstGeom>
          <a:solidFill>
            <a:srgbClr val="D5DCF6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4A29F1-19C5-D554-661A-9BAA2DF3EBA8}"/>
              </a:ext>
            </a:extLst>
          </p:cNvPr>
          <p:cNvSpPr/>
          <p:nvPr/>
        </p:nvSpPr>
        <p:spPr>
          <a:xfrm>
            <a:off x="7089598" y="3972094"/>
            <a:ext cx="416559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Пошаговое исполнение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A7C189B-D476-1176-B308-79760DECACDB}"/>
              </a:ext>
            </a:extLst>
          </p:cNvPr>
          <p:cNvSpPr/>
          <p:nvPr/>
        </p:nvSpPr>
        <p:spPr>
          <a:xfrm>
            <a:off x="7089598" y="4380377"/>
            <a:ext cx="4165595" cy="118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1. Число 4821 &gt; 0 → sum=1, n=482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2. 482 &gt; 0 → sum=3, n=48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3. 48 &gt; 0 → sum=11, n=4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4. 4 &gt; 0 → sum=15, n=0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5. 0 &gt; 0 (false) → завершение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B4F46D5-39E7-97D4-E78A-7C7FD7BEB2EB}"/>
              </a:ext>
            </a:extLst>
          </p:cNvPr>
          <p:cNvSpPr/>
          <p:nvPr/>
        </p:nvSpPr>
        <p:spPr>
          <a:xfrm>
            <a:off x="6959327" y="6026396"/>
            <a:ext cx="4622784" cy="594275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BA1A6A9-C42B-98E6-97D8-659B4CA1520A}"/>
              </a:ext>
            </a:extLst>
          </p:cNvPr>
          <p:cNvSpPr/>
          <p:nvPr/>
        </p:nvSpPr>
        <p:spPr>
          <a:xfrm>
            <a:off x="7187921" y="6212125"/>
            <a:ext cx="4394189" cy="22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Сумма цифр: 15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927B64-7BF3-8C74-EEEC-34B29D3F8DAD}"/>
              </a:ext>
            </a:extLst>
          </p:cNvPr>
          <p:cNvSpPr txBox="1"/>
          <p:nvPr/>
        </p:nvSpPr>
        <p:spPr>
          <a:xfrm>
            <a:off x="280219" y="612798"/>
            <a:ext cx="11631561" cy="3002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</a:t>
            </a:r>
            <a:r>
              <a:rPr lang="ru-RU" sz="1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используется в тех случаях, когда заранее неизвестно, сколько раз необходимо повторить выполнение некоторого блока кода. Вместо фиксированного количества повторений цикл выполняется до тех пор, пока некоторое условие остаётся истинным.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программа проверяет условие, записанное в круглых скобках. Если условие истинно, выполняется тело цикла. После завершения итерации программа снова возвращается к проверке условия. Этот процесс продолжается до тех пор, пока условие не станет ложным.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Особенность цикла </a:t>
            </a:r>
            <a:r>
              <a:rPr lang="ru-RU" sz="1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заключается в том, что </a:t>
            </a:r>
            <a:r>
              <a:rPr lang="ru-RU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условие проверяется перед выполнением тела цикла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с самого начала окажется ложным, инструкции внутри цикла не выполнятся ни одного раза.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53252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69DBDB6-A728-B0A5-AB90-F33D45634FF4}"/>
              </a:ext>
            </a:extLst>
          </p:cNvPr>
          <p:cNvSpPr/>
          <p:nvPr/>
        </p:nvSpPr>
        <p:spPr>
          <a:xfrm>
            <a:off x="609737" y="193299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while на практике: накопительный ввод до нуля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F23838C-4ADC-82A2-2288-684B90DE4BE2}"/>
              </a:ext>
            </a:extLst>
          </p:cNvPr>
          <p:cNvSpPr/>
          <p:nvPr/>
        </p:nvSpPr>
        <p:spPr>
          <a:xfrm>
            <a:off x="412955" y="1504336"/>
            <a:ext cx="6419474" cy="4145776"/>
          </a:xfrm>
          <a:prstGeom prst="roundRect">
            <a:avLst>
              <a:gd name="adj" fmla="val 1982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7958F03-6CBD-932A-0900-780F28124462}"/>
              </a:ext>
            </a:extLst>
          </p:cNvPr>
          <p:cNvSpPr/>
          <p:nvPr/>
        </p:nvSpPr>
        <p:spPr>
          <a:xfrm>
            <a:off x="713869" y="1562512"/>
            <a:ext cx="5817645" cy="324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Считывание чисел до первого ввода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sum = 0, count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val = int.Parse(Console.ReadLine());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(val != 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sum += val;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count++;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val = int.Parse(Console.ReadLine());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 avg = count &gt; 0 ? (double)sum / count :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Console.WriteLine($"Среднее: {avg:F1}");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4AA0012-B8EF-6C36-75FE-9AE5D9B0BB22}"/>
              </a:ext>
            </a:extLst>
          </p:cNvPr>
          <p:cNvSpPr/>
          <p:nvPr/>
        </p:nvSpPr>
        <p:spPr>
          <a:xfrm>
            <a:off x="7137221" y="1504337"/>
            <a:ext cx="4444889" cy="2251888"/>
          </a:xfrm>
          <a:prstGeom prst="roundRect">
            <a:avLst>
              <a:gd name="adj" fmla="val 3782"/>
            </a:avLst>
          </a:prstGeom>
          <a:solidFill>
            <a:srgbClr val="D5DCF6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EACDEA4-C1CF-6E8F-E0DA-1ABDD4FFE44A}"/>
              </a:ext>
            </a:extLst>
          </p:cNvPr>
          <p:cNvSpPr/>
          <p:nvPr/>
        </p:nvSpPr>
        <p:spPr>
          <a:xfrm>
            <a:off x="7365815" y="1686357"/>
            <a:ext cx="39877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Логика работы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B61E590-FB8F-73B7-4B3B-4E165A57726C}"/>
              </a:ext>
            </a:extLst>
          </p:cNvPr>
          <p:cNvSpPr/>
          <p:nvPr/>
        </p:nvSpPr>
        <p:spPr>
          <a:xfrm>
            <a:off x="7365815" y="2175885"/>
            <a:ext cx="3987700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Первое чтение происходит до цикла. Если пользователь сразу вводит 0, деления на ноль не происходит благодаря проверке счётчика.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EB42D4A-B628-392B-7A1B-6DC2592C7625}"/>
              </a:ext>
            </a:extLst>
          </p:cNvPr>
          <p:cNvSpPr/>
          <p:nvPr/>
        </p:nvSpPr>
        <p:spPr>
          <a:xfrm>
            <a:off x="7137221" y="3908623"/>
            <a:ext cx="4444889" cy="1931491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623DABA-78E7-637E-77B1-7985E471E3EE}"/>
              </a:ext>
            </a:extLst>
          </p:cNvPr>
          <p:cNvSpPr/>
          <p:nvPr/>
        </p:nvSpPr>
        <p:spPr>
          <a:xfrm>
            <a:off x="7365816" y="4140487"/>
            <a:ext cx="4216295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Входной поток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4EB4CFE-3610-9BA6-CC0D-A2926E5CFAB7}"/>
              </a:ext>
            </a:extLst>
          </p:cNvPr>
          <p:cNvSpPr/>
          <p:nvPr/>
        </p:nvSpPr>
        <p:spPr>
          <a:xfrm>
            <a:off x="7365816" y="4420509"/>
            <a:ext cx="4216295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4, 8, 6, 0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2E9C229-F3F5-B26B-0F1F-41F937C2CC22}"/>
              </a:ext>
            </a:extLst>
          </p:cNvPr>
          <p:cNvSpPr/>
          <p:nvPr/>
        </p:nvSpPr>
        <p:spPr>
          <a:xfrm>
            <a:off x="7365816" y="4750980"/>
            <a:ext cx="4216295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Вывод в консоль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A891559-B96B-D46C-68D1-706510074DDD}"/>
              </a:ext>
            </a:extLst>
          </p:cNvPr>
          <p:cNvSpPr/>
          <p:nvPr/>
        </p:nvSpPr>
        <p:spPr>
          <a:xfrm>
            <a:off x="7365816" y="5031002"/>
            <a:ext cx="4216295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Среднее: 6.0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12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5D07515-A1CB-B31B-2CC8-B02570625A86}"/>
              </a:ext>
            </a:extLst>
          </p:cNvPr>
          <p:cNvSpPr/>
          <p:nvPr/>
        </p:nvSpPr>
        <p:spPr>
          <a:xfrm>
            <a:off x="812336" y="12328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do-while выполняет тело минимум один раз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542B22D-2DEC-3B4B-DE41-BD1FAF94B577}"/>
              </a:ext>
            </a:extLst>
          </p:cNvPr>
          <p:cNvSpPr/>
          <p:nvPr/>
        </p:nvSpPr>
        <p:spPr>
          <a:xfrm>
            <a:off x="285273" y="1749634"/>
            <a:ext cx="5692740" cy="3084546"/>
          </a:xfrm>
          <a:prstGeom prst="roundRect">
            <a:avLst>
              <a:gd name="adj" fmla="val 2143"/>
            </a:avLst>
          </a:prstGeom>
          <a:solidFill>
            <a:srgbClr val="F2EDED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2D8024E-7B2A-89D3-C58C-B015C6C1599C}"/>
              </a:ext>
            </a:extLst>
          </p:cNvPr>
          <p:cNvSpPr/>
          <p:nvPr/>
        </p:nvSpPr>
        <p:spPr>
          <a:xfrm>
            <a:off x="480954" y="1812824"/>
            <a:ext cx="5817645" cy="2971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Интерактивное консольное меню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choice;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Console.WriteLine("1. Старт  2. Настройки  0. Выход");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choice = Console.ReadLine();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// обработка выбора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(choice != "0"); // точка с запятой обязательна!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Console.WriteLine("Программа завершена.");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8DCA4AB-3916-2890-1502-2A4308794DD4}"/>
              </a:ext>
            </a:extLst>
          </p:cNvPr>
          <p:cNvSpPr/>
          <p:nvPr/>
        </p:nvSpPr>
        <p:spPr>
          <a:xfrm>
            <a:off x="6096000" y="1748093"/>
            <a:ext cx="4444889" cy="1573411"/>
          </a:xfrm>
          <a:prstGeom prst="roundRect">
            <a:avLst>
              <a:gd name="adj" fmla="val 4509"/>
            </a:avLst>
          </a:prstGeom>
          <a:solidFill>
            <a:srgbClr val="D5DCF6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117B09C-09D5-75A6-C1B4-C085C957408C}"/>
              </a:ext>
            </a:extLst>
          </p:cNvPr>
          <p:cNvSpPr/>
          <p:nvPr/>
        </p:nvSpPr>
        <p:spPr>
          <a:xfrm>
            <a:off x="6305517" y="1852351"/>
            <a:ext cx="39877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Особенности синтаксиса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D2C9C72-2658-2897-A622-D88181BC3B76}"/>
              </a:ext>
            </a:extLst>
          </p:cNvPr>
          <p:cNvSpPr/>
          <p:nvPr/>
        </p:nvSpPr>
        <p:spPr>
          <a:xfrm>
            <a:off x="6180612" y="2155934"/>
            <a:ext cx="4131683" cy="1068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Условие проверяется строго после прогона тела. В конце конструкции обязательно ставится точка с </a:t>
            </a:r>
            <a:r>
              <a:rPr lang="en-US" sz="1600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запятой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3B3535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;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DE36817-B38F-BC30-CABC-347FC3357A31}"/>
              </a:ext>
            </a:extLst>
          </p:cNvPr>
          <p:cNvSpPr/>
          <p:nvPr/>
        </p:nvSpPr>
        <p:spPr>
          <a:xfrm>
            <a:off x="6194909" y="3462013"/>
            <a:ext cx="4674201" cy="1836231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481F191E-A9BC-C2F4-9C64-A26E29A4D224}"/>
              </a:ext>
            </a:extLst>
          </p:cNvPr>
          <p:cNvSpPr/>
          <p:nvPr/>
        </p:nvSpPr>
        <p:spPr>
          <a:xfrm>
            <a:off x="6370406" y="3543772"/>
            <a:ext cx="4433814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Консоль (выбор: 1, затем 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A482D91-E104-0663-E65F-BF18972AF6EE}"/>
              </a:ext>
            </a:extLst>
          </p:cNvPr>
          <p:cNvSpPr/>
          <p:nvPr/>
        </p:nvSpPr>
        <p:spPr>
          <a:xfrm>
            <a:off x="6370406" y="3823794"/>
            <a:ext cx="4081284" cy="118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1. Старт  2. Настройки  0. Выход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ru-RU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Ввели: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1. Старт  2. Настройки  0. Выход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ru-RU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Ввели: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Программа завершена.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601D3-7969-F3CD-0FBC-B742E0B9B090}"/>
              </a:ext>
            </a:extLst>
          </p:cNvPr>
          <p:cNvSpPr txBox="1"/>
          <p:nvPr/>
        </p:nvSpPr>
        <p:spPr>
          <a:xfrm>
            <a:off x="202598" y="705650"/>
            <a:ext cx="11468291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цикле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условие проверяется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тела цикла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тело такого цикла выполняется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минимум один раз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независимо от значения условия.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3E99BAE-1501-9569-41AA-B869F8AD1D4E}"/>
              </a:ext>
            </a:extLst>
          </p:cNvPr>
          <p:cNvSpPr/>
          <p:nvPr/>
        </p:nvSpPr>
        <p:spPr>
          <a:xfrm>
            <a:off x="1559501" y="4886124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Сравнение: когда что выбирать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515494C5-FD1D-BF05-4B47-907CBBADB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21226"/>
              </p:ext>
            </p:extLst>
          </p:nvPr>
        </p:nvGraphicFramePr>
        <p:xfrm>
          <a:off x="202599" y="5245051"/>
          <a:ext cx="5794494" cy="151387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31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3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do...while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Гарантия 1 выполнения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Нет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Валидация ввода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Неудобно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Идеально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Условие может быть false сразу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Нет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83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201A5E6-9548-08C8-41AD-0531F7A7DC2B}"/>
              </a:ext>
            </a:extLst>
          </p:cNvPr>
          <p:cNvSpPr/>
          <p:nvPr/>
        </p:nvSpPr>
        <p:spPr>
          <a:xfrm>
            <a:off x="491598" y="326339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do-while на практике: повторный запрос пароля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83C7152-EFB4-E692-6D18-1CFB1DAC59A1}"/>
              </a:ext>
            </a:extLst>
          </p:cNvPr>
          <p:cNvSpPr/>
          <p:nvPr/>
        </p:nvSpPr>
        <p:spPr>
          <a:xfrm>
            <a:off x="167148" y="1199536"/>
            <a:ext cx="5633884" cy="4214602"/>
          </a:xfrm>
          <a:prstGeom prst="roundRect">
            <a:avLst>
              <a:gd name="adj" fmla="val 1982"/>
            </a:avLst>
          </a:prstGeom>
          <a:solidFill>
            <a:srgbClr val="F2EDED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072790-FA2E-3425-0F1E-77F999DE0436}"/>
              </a:ext>
            </a:extLst>
          </p:cNvPr>
          <p:cNvSpPr/>
          <p:nvPr/>
        </p:nvSpPr>
        <p:spPr>
          <a:xfrm>
            <a:off x="531973" y="1354266"/>
            <a:ext cx="4885602" cy="324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Запрос пароля до верного ввода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string Secret = "cs2026";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input;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Console.Write("Введите пароль: 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input = Console.ReadLine();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(input != Secret);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Console.WriteLine("Доступ разрешён!");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3004EA9-A39D-4743-593D-ABFB603E486C}"/>
              </a:ext>
            </a:extLst>
          </p:cNvPr>
          <p:cNvSpPr/>
          <p:nvPr/>
        </p:nvSpPr>
        <p:spPr>
          <a:xfrm>
            <a:off x="6489290" y="1484671"/>
            <a:ext cx="4974833" cy="2104536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AD732F4-45F9-A126-D8B3-D555DA169715}"/>
              </a:ext>
            </a:extLst>
          </p:cNvPr>
          <p:cNvSpPr/>
          <p:nvPr/>
        </p:nvSpPr>
        <p:spPr>
          <a:xfrm>
            <a:off x="6913532" y="1635750"/>
            <a:ext cx="39877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Почему именно do-while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32E07D0-4EC0-86CE-D10A-66C09E7BCEE2}"/>
              </a:ext>
            </a:extLst>
          </p:cNvPr>
          <p:cNvSpPr/>
          <p:nvPr/>
        </p:nvSpPr>
        <p:spPr>
          <a:xfrm>
            <a:off x="6626942" y="2024259"/>
            <a:ext cx="4608587" cy="115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Переменная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объявляется до цикла, а считывание происходит внутри. Не нужно фиктивно инициализировать строку перед первой проверкой.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FDBCACDD-3840-4674-412E-859AA78926F3}"/>
              </a:ext>
            </a:extLst>
          </p:cNvPr>
          <p:cNvSpPr/>
          <p:nvPr/>
        </p:nvSpPr>
        <p:spPr>
          <a:xfrm>
            <a:off x="6489290" y="3741606"/>
            <a:ext cx="4974833" cy="1862534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CFE3B933-67C1-B6DA-A5FF-CDF3FE74D36B}"/>
              </a:ext>
            </a:extLst>
          </p:cNvPr>
          <p:cNvSpPr/>
          <p:nvPr/>
        </p:nvSpPr>
        <p:spPr>
          <a:xfrm>
            <a:off x="6913532" y="3906663"/>
            <a:ext cx="4216295" cy="324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Консольный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ввод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C37BC1B-3AC4-0C82-A17D-ED93938BAD32}"/>
              </a:ext>
            </a:extLst>
          </p:cNvPr>
          <p:cNvSpPr/>
          <p:nvPr/>
        </p:nvSpPr>
        <p:spPr>
          <a:xfrm>
            <a:off x="6913532" y="4231513"/>
            <a:ext cx="3987700" cy="9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Введите пароль: 1234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Введите пароль: admin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Введите пароль: cs2026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Доступ разрешён!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9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67A48D20-9681-F4A2-0FE0-3FE9BA8591D4}"/>
              </a:ext>
            </a:extLst>
          </p:cNvPr>
          <p:cNvSpPr/>
          <p:nvPr/>
        </p:nvSpPr>
        <p:spPr>
          <a:xfrm>
            <a:off x="609737" y="27866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for удобен, когда число повторений известно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D556773B-CDAC-7209-6B98-7A173976AB3D}"/>
              </a:ext>
            </a:extLst>
          </p:cNvPr>
          <p:cNvSpPr/>
          <p:nvPr/>
        </p:nvSpPr>
        <p:spPr>
          <a:xfrm>
            <a:off x="471933" y="3755424"/>
            <a:ext cx="6045049" cy="2823915"/>
          </a:xfrm>
          <a:prstGeom prst="roundRect">
            <a:avLst>
              <a:gd name="adj" fmla="val 2562"/>
            </a:avLst>
          </a:prstGeom>
          <a:solidFill>
            <a:srgbClr val="F2EDED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B1A8B21-6928-96A1-E813-9A9C7AE2B343}"/>
              </a:ext>
            </a:extLst>
          </p:cNvPr>
          <p:cNvSpPr/>
          <p:nvPr/>
        </p:nvSpPr>
        <p:spPr>
          <a:xfrm>
            <a:off x="674532" y="3755424"/>
            <a:ext cx="5639850" cy="2431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Вывод таблицы умножения на 7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n = 7;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1; i &lt;= 5; i++)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int res = n * i;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Console.WriteLine($"{n} x {i} = {res}");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переменная i здесь недоступна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D5A5900-C57E-FE77-23E6-0C1D30B3727C}"/>
              </a:ext>
            </a:extLst>
          </p:cNvPr>
          <p:cNvSpPr/>
          <p:nvPr/>
        </p:nvSpPr>
        <p:spPr>
          <a:xfrm>
            <a:off x="7305830" y="1671477"/>
            <a:ext cx="46227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Три части заголовка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92D48E0-A887-8642-236E-180BD5C59B40}"/>
              </a:ext>
            </a:extLst>
          </p:cNvPr>
          <p:cNvSpPr/>
          <p:nvPr/>
        </p:nvSpPr>
        <p:spPr>
          <a:xfrm>
            <a:off x="6723353" y="2130386"/>
            <a:ext cx="4622784" cy="129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600" b="1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Инициализация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i = 1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выполняется один раз.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600" b="1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Условие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 &lt;= 5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проверяется перед каждым шагом.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Шаг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i++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выполняется в конце каждого шага.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6F2613B-45C5-BB60-510B-FF9B1CA40722}"/>
              </a:ext>
            </a:extLst>
          </p:cNvPr>
          <p:cNvSpPr/>
          <p:nvPr/>
        </p:nvSpPr>
        <p:spPr>
          <a:xfrm>
            <a:off x="6821675" y="4907124"/>
            <a:ext cx="1988028" cy="1572053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2E1C8B4-D1B4-9442-5AE3-5283DC9FD28D}"/>
              </a:ext>
            </a:extLst>
          </p:cNvPr>
          <p:cNvSpPr/>
          <p:nvPr/>
        </p:nvSpPr>
        <p:spPr>
          <a:xfrm>
            <a:off x="7050269" y="4952413"/>
            <a:ext cx="4394189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Консоль</a:t>
            </a:r>
            <a:r>
              <a:rPr lang="ru-RU" sz="15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E43E0EC-4F81-67D7-84B5-15E27FB59FE8}"/>
              </a:ext>
            </a:extLst>
          </p:cNvPr>
          <p:cNvSpPr/>
          <p:nvPr/>
        </p:nvSpPr>
        <p:spPr>
          <a:xfrm>
            <a:off x="7050269" y="5281237"/>
            <a:ext cx="4165595" cy="9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7 x 1 = 7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7 x 2 = 14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...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7 x 5 = 35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9478C79-CF2C-AB9A-0C1A-2A813EC2A6E2}"/>
              </a:ext>
            </a:extLst>
          </p:cNvPr>
          <p:cNvSpPr/>
          <p:nvPr/>
        </p:nvSpPr>
        <p:spPr>
          <a:xfrm>
            <a:off x="468845" y="872372"/>
            <a:ext cx="11459769" cy="79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наиболее распространённая конструкция для итерации с известным числом повторений. Его синтаксис объединяет все три ключевых элемента цикла в одной строке, что делает код компактным и хорошо читаемым. Это мощный инструмент для работы с массивами, генерации таблиц и математических вычислений.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707F546-77B2-0835-1AE9-C8DEA8C741AE}"/>
              </a:ext>
            </a:extLst>
          </p:cNvPr>
          <p:cNvSpPr/>
          <p:nvPr/>
        </p:nvSpPr>
        <p:spPr>
          <a:xfrm>
            <a:off x="468845" y="1873724"/>
            <a:ext cx="5264415" cy="129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Синтаксис</a:t>
            </a: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цикла</a:t>
            </a: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 for</a:t>
            </a:r>
            <a:endParaRPr lang="ru-RU" sz="1600" dirty="0">
              <a:latin typeface="Times New Roman" panose="02020603050405020304" pitchFamily="18" charset="0"/>
              <a:ea typeface="Host Grotesk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инициализация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условие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шаг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//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тело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цикла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942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C869F8-3599-B812-E02C-05FCA6D38D38}"/>
              </a:ext>
            </a:extLst>
          </p:cNvPr>
          <p:cNvSpPr txBox="1"/>
          <p:nvPr/>
        </p:nvSpPr>
        <p:spPr>
          <a:xfrm>
            <a:off x="3048965" y="122062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for </a:t>
            </a:r>
            <a:r>
              <a:rPr lang="en-US" sz="3600" dirty="0" err="1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на</a:t>
            </a:r>
            <a:r>
              <a:rPr lang="en-US" sz="36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практике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331BFD8-24E2-9737-EF43-F14AEDFD6E12}"/>
              </a:ext>
            </a:extLst>
          </p:cNvPr>
          <p:cNvSpPr/>
          <p:nvPr/>
        </p:nvSpPr>
        <p:spPr>
          <a:xfrm>
            <a:off x="666026" y="1166091"/>
            <a:ext cx="4765877" cy="4525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Классический пример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0; i &lt; 5; i++)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(i); // 0, 1, 2, 3, 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Обратный отсчёт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10; i &gt;= 0; i--)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 // 10, 9, 8 ...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Шаг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0; i &lt;= 20; i += 2)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824A5E6-2583-B7F5-650F-CF8F3DCA3204}"/>
              </a:ext>
            </a:extLst>
          </p:cNvPr>
          <p:cNvSpPr/>
          <p:nvPr/>
        </p:nvSpPr>
        <p:spPr>
          <a:xfrm>
            <a:off x="944765" y="4995046"/>
            <a:ext cx="4765877" cy="1740892"/>
          </a:xfrm>
          <a:prstGeom prst="roundRect">
            <a:avLst>
              <a:gd name="adj" fmla="val 4075"/>
            </a:avLst>
          </a:prstGeom>
          <a:solidFill>
            <a:srgbClr val="D5DCF6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FE889E9-2815-8177-6720-4819701FF581}"/>
              </a:ext>
            </a:extLst>
          </p:cNvPr>
          <p:cNvSpPr/>
          <p:nvPr/>
        </p:nvSpPr>
        <p:spPr>
          <a:xfrm>
            <a:off x="1173360" y="5173450"/>
            <a:ext cx="39877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Гибкость заголовка for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9D904E6-E7FF-F9AB-B1F8-03363B8F0DA3}"/>
              </a:ext>
            </a:extLst>
          </p:cNvPr>
          <p:cNvSpPr/>
          <p:nvPr/>
        </p:nvSpPr>
        <p:spPr>
          <a:xfrm>
            <a:off x="1173360" y="5589283"/>
            <a:ext cx="4313040" cy="1048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Шаг не обязан быть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i++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. Можно использовать декремент (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i--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), произвольный шаг (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 += 2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 *= 2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) или начинать не с нуля.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C961A-02A0-6C8E-1DAE-C783452C91B0}"/>
              </a:ext>
            </a:extLst>
          </p:cNvPr>
          <p:cNvSpPr txBox="1"/>
          <p:nvPr/>
        </p:nvSpPr>
        <p:spPr>
          <a:xfrm>
            <a:off x="5939237" y="1337533"/>
            <a:ext cx="60830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17;</a:t>
            </a: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isPrime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 &lt; 2)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isPrime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= 2; i &lt;=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(n); i++)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 % i == 0)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isPrime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Console.WriteLine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isPrime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"Число простое"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"Число не простое"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19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3B7CC8-941D-F44B-2D5E-DDFDF6C426EB}"/>
              </a:ext>
            </a:extLst>
          </p:cNvPr>
          <p:cNvSpPr/>
          <p:nvPr/>
        </p:nvSpPr>
        <p:spPr>
          <a:xfrm>
            <a:off x="1286153" y="155442"/>
            <a:ext cx="10028288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Управление потоком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920DB0-41FB-FCFF-3200-F512A09FAAE6}"/>
              </a:ext>
            </a:extLst>
          </p:cNvPr>
          <p:cNvSpPr/>
          <p:nvPr/>
        </p:nvSpPr>
        <p:spPr>
          <a:xfrm>
            <a:off x="312547" y="737784"/>
            <a:ext cx="11566906" cy="732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Операторы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break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continue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дают разработчику тонкий контроль над выполнением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цикла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возможность досрочно прервать его или пропустить конкретную итерацию. Это мощные инструменты оптимизации алгоритмов, но их нужно использовать осознанно, чтобы не ухудшить читаемость кода.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6F4D84B-A0F0-44BC-2B2A-8AFC96232EA0}"/>
              </a:ext>
            </a:extLst>
          </p:cNvPr>
          <p:cNvSpPr/>
          <p:nvPr/>
        </p:nvSpPr>
        <p:spPr>
          <a:xfrm>
            <a:off x="361708" y="1571530"/>
            <a:ext cx="4264680" cy="25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break: досрочный выход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387AAC97-D4E8-1B48-854E-493FFBF63D2B}"/>
              </a:ext>
            </a:extLst>
          </p:cNvPr>
          <p:cNvSpPr/>
          <p:nvPr/>
        </p:nvSpPr>
        <p:spPr>
          <a:xfrm>
            <a:off x="6447247" y="1600317"/>
            <a:ext cx="333078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continue: пропуск итерации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66E6109-DCFB-6D30-8E49-F3BD1191E059}"/>
              </a:ext>
            </a:extLst>
          </p:cNvPr>
          <p:cNvCxnSpPr/>
          <p:nvPr/>
        </p:nvCxnSpPr>
        <p:spPr>
          <a:xfrm>
            <a:off x="5122607" y="1696947"/>
            <a:ext cx="0" cy="5168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FE05D5-54C7-5028-8FB1-A4A1D84B9F43}"/>
              </a:ext>
            </a:extLst>
          </p:cNvPr>
          <p:cNvCxnSpPr/>
          <p:nvPr/>
        </p:nvCxnSpPr>
        <p:spPr>
          <a:xfrm>
            <a:off x="0" y="182236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6">
            <a:extLst>
              <a:ext uri="{FF2B5EF4-FFF2-40B4-BE49-F238E27FC236}">
                <a16:creationId xmlns:a16="http://schemas.microsoft.com/office/drawing/2014/main" id="{3F490774-12CE-BD99-7F3A-F31A46339F5D}"/>
              </a:ext>
            </a:extLst>
          </p:cNvPr>
          <p:cNvSpPr/>
          <p:nvPr/>
        </p:nvSpPr>
        <p:spPr>
          <a:xfrm>
            <a:off x="258308" y="2025881"/>
            <a:ext cx="4471479" cy="391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Поиск первого делителя числа 35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n = 35, div = 1;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2; i &lt;= n; i++)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if (n % i == 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div = i;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break; // прерывает цикл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Console.WriteLine($"Делитель: {div}");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891DE8CB-57A1-6E49-EA43-06F751BD6DE1}"/>
              </a:ext>
            </a:extLst>
          </p:cNvPr>
          <p:cNvSpPr/>
          <p:nvPr/>
        </p:nvSpPr>
        <p:spPr>
          <a:xfrm>
            <a:off x="5618827" y="2130476"/>
            <a:ext cx="5054917" cy="323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Сумма только нечётных чисел от 1 до 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sum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1; i &lt;= 6; i++)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if (i % 2 == 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continue; // переход к шагу i++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sum += i;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Console.WriteLine($"Сумма: {sum}");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90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522E650-BE8A-345B-1BBA-BBE91FD3464F}"/>
              </a:ext>
            </a:extLst>
          </p:cNvPr>
          <p:cNvSpPr/>
          <p:nvPr/>
        </p:nvSpPr>
        <p:spPr>
          <a:xfrm>
            <a:off x="880593" y="80292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Формальная запись и порядок выполнения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7317EF30-1211-BE03-34A6-0CC27311C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583745"/>
              </p:ext>
            </p:extLst>
          </p:nvPr>
        </p:nvGraphicFramePr>
        <p:xfrm>
          <a:off x="412816" y="1735046"/>
          <a:ext cx="10972525" cy="2735056"/>
        </p:xfrm>
        <a:graphic>
          <a:graphicData uri="http://schemas.openxmlformats.org/drawingml/2006/table">
            <a:tbl>
              <a:tblPr/>
              <a:tblGrid>
                <a:gridCol w="1974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1E1E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Цикл</a:t>
                      </a:r>
                      <a:endParaRPr lang="en-US" sz="1800" b="1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1E1E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Синтаксис</a:t>
                      </a:r>
                      <a:endParaRPr lang="en-US" sz="1800" b="1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1E1E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Порядок выполнения</a:t>
                      </a:r>
                      <a:endParaRPr lang="en-US" sz="1800" b="1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A2D7A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while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while (условие) { тело }</a:t>
                      </a:r>
                      <a:endParaRPr lang="en-US" sz="18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Проверка условия → если true, тело → снова проверка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A2D7A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do-while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do { тело } while (условие);</a:t>
                      </a:r>
                      <a:endParaRPr lang="en-US" sz="18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Тело → проверка условия → если true, повтор; тело выполнится минимум один раз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A2D7A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for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for (инициализация; условие; шаг) { тело }</a:t>
                      </a:r>
                      <a:endParaRPr lang="en-US" sz="18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Инициализация (один раз) → проверка → тело → шаг → проверка…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>
            <a:extLst>
              <a:ext uri="{FF2B5EF4-FFF2-40B4-BE49-F238E27FC236}">
                <a16:creationId xmlns:a16="http://schemas.microsoft.com/office/drawing/2014/main" id="{49667947-C0AA-4744-F3E0-45C9C80D2543}"/>
              </a:ext>
            </a:extLst>
          </p:cNvPr>
          <p:cNvSpPr/>
          <p:nvPr/>
        </p:nvSpPr>
        <p:spPr>
          <a:xfrm>
            <a:off x="11514544" y="6470452"/>
            <a:ext cx="67715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4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687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6379C9-C3CE-C2E2-03E8-2E864E26DC86}"/>
              </a:ext>
            </a:extLst>
          </p:cNvPr>
          <p:cNvSpPr/>
          <p:nvPr/>
        </p:nvSpPr>
        <p:spPr>
          <a:xfrm>
            <a:off x="1628156" y="424000"/>
            <a:ext cx="9147873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Выбор цикла зависит от условия задачи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9E316B-2424-CB26-6E3F-69325D84029D}"/>
              </a:ext>
            </a:extLst>
          </p:cNvPr>
          <p:cNvSpPr/>
          <p:nvPr/>
        </p:nvSpPr>
        <p:spPr>
          <a:xfrm>
            <a:off x="887375" y="1317961"/>
            <a:ext cx="10166446" cy="47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Определите, известно ли точное количество итераций и требуется ли гарантированный первый запуск.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B8FA2857-FFB9-EFD2-2915-C670B3176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214743"/>
              </p:ext>
            </p:extLst>
          </p:nvPr>
        </p:nvGraphicFramePr>
        <p:xfrm>
          <a:off x="1072571" y="2303503"/>
          <a:ext cx="9147873" cy="2460736"/>
        </p:xfrm>
        <a:graphic>
          <a:graphicData uri="http://schemas.openxmlformats.org/drawingml/2006/table">
            <a:tbl>
              <a:tblPr/>
              <a:tblGrid>
                <a:gridCol w="3476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9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1E1E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Ситуация</a:t>
                      </a:r>
                      <a:endParaRPr lang="en-US" sz="1800" b="1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1E1E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Цикл</a:t>
                      </a:r>
                      <a:endParaRPr lang="en-US" sz="1800" b="1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1E1E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Типовой пример</a:t>
                      </a:r>
                      <a:endParaRPr lang="en-US" sz="1800" b="1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Число повторений известно заранее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A2D7A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for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Таблица умножения, факториал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Условие проверяется до первого действия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A2D7A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while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Сумма цифр числа, чтение потока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Нужен минимум один проход тела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A2D7A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do-while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B3535"/>
                          </a:solidFill>
                          <a:latin typeface="Times New Roman" panose="02020603050405020304" pitchFamily="18" charset="0"/>
                          <a:ea typeface="Noto Sans" pitchFamily="34" charset="-122"/>
                          <a:cs typeface="Times New Roman" panose="02020603050405020304" pitchFamily="18" charset="0"/>
                        </a:rPr>
                        <a:t>Консольное меню, ввод пароля</a:t>
                      </a:r>
                      <a:endParaRPr lang="en-US" sz="1800" dirty="0">
                        <a:latin typeface="Times New Roman" panose="02020603050405020304" pitchFamily="18" charset="0"/>
                        <a:ea typeface="Noto Sans" charset="0"/>
                        <a:cs typeface="Times New Roman" panose="02020603050405020304" pitchFamily="18" charset="0"/>
                      </a:endParaRPr>
                    </a:p>
                  </a:txBody>
                  <a:tcPr marL="126679" marR="126679" marT="67562" marB="67562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31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D784E73-727C-5B7F-664C-2CF954563050}"/>
              </a:ext>
            </a:extLst>
          </p:cNvPr>
          <p:cNvSpPr/>
          <p:nvPr/>
        </p:nvSpPr>
        <p:spPr>
          <a:xfrm>
            <a:off x="609737" y="672869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Вложенные циклы: внутренний цикл целиком на каждом шаге внешнего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6070ACC-7935-C42E-75BC-2FEDE8344DAF}"/>
              </a:ext>
            </a:extLst>
          </p:cNvPr>
          <p:cNvSpPr/>
          <p:nvPr/>
        </p:nvSpPr>
        <p:spPr>
          <a:xfrm>
            <a:off x="609585" y="2129742"/>
            <a:ext cx="6045049" cy="3923817"/>
          </a:xfrm>
          <a:prstGeom prst="roundRect">
            <a:avLst>
              <a:gd name="adj" fmla="val 2143"/>
            </a:avLst>
          </a:prstGeom>
          <a:solidFill>
            <a:srgbClr val="F2EDED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F6942F2-1657-2EB7-3A88-9D7F9979623C}"/>
              </a:ext>
            </a:extLst>
          </p:cNvPr>
          <p:cNvSpPr/>
          <p:nvPr/>
        </p:nvSpPr>
        <p:spPr>
          <a:xfrm>
            <a:off x="812184" y="2238871"/>
            <a:ext cx="5639850" cy="2971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Вывод прямоугольного треугольника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rows = 4;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1; i &lt;= rows; i++) // внешний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for (int j = 1; j &lt;= i; j++) // внутренний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Console.Write("* 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Console.WriteLine(); // переход строки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1548D6C-CC28-97D1-D467-99254222AF38}"/>
              </a:ext>
            </a:extLst>
          </p:cNvPr>
          <p:cNvSpPr/>
          <p:nvPr/>
        </p:nvSpPr>
        <p:spPr>
          <a:xfrm>
            <a:off x="6959327" y="2238871"/>
            <a:ext cx="4622784" cy="1691580"/>
          </a:xfrm>
          <a:prstGeom prst="roundRect">
            <a:avLst>
              <a:gd name="adj" fmla="val 4194"/>
            </a:avLst>
          </a:prstGeom>
          <a:solidFill>
            <a:srgbClr val="D5DCF6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062DAD5-7C22-AD0A-D236-4CD26729A10A}"/>
              </a:ext>
            </a:extLst>
          </p:cNvPr>
          <p:cNvSpPr/>
          <p:nvPr/>
        </p:nvSpPr>
        <p:spPr>
          <a:xfrm>
            <a:off x="7187921" y="2386019"/>
            <a:ext cx="416559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Множитель итераций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406E972-60C8-158A-B756-233A092273D0}"/>
              </a:ext>
            </a:extLst>
          </p:cNvPr>
          <p:cNvSpPr/>
          <p:nvPr/>
        </p:nvSpPr>
        <p:spPr>
          <a:xfrm>
            <a:off x="7187921" y="2730936"/>
            <a:ext cx="4165595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Если внешний цикл делает N шагов, а внутренний M, суммарно выполнится </a:t>
            </a: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N × M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операций. Здесь внутренний лимит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j &lt;= i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растёт с каждым рядом.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7651DA3F-A615-1A6A-FE3C-AF869325E29E}"/>
              </a:ext>
            </a:extLst>
          </p:cNvPr>
          <p:cNvSpPr/>
          <p:nvPr/>
        </p:nvSpPr>
        <p:spPr>
          <a:xfrm>
            <a:off x="6959327" y="4082852"/>
            <a:ext cx="4622784" cy="1845667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AA4F81F-5245-3429-ACBC-7A06CA8FA28E}"/>
              </a:ext>
            </a:extLst>
          </p:cNvPr>
          <p:cNvSpPr/>
          <p:nvPr/>
        </p:nvSpPr>
        <p:spPr>
          <a:xfrm>
            <a:off x="7187921" y="4314716"/>
            <a:ext cx="4394189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Консольный рисунок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45729C5-63D6-72D0-8B2E-1D8466FF6F6F}"/>
              </a:ext>
            </a:extLst>
          </p:cNvPr>
          <p:cNvSpPr/>
          <p:nvPr/>
        </p:nvSpPr>
        <p:spPr>
          <a:xfrm>
            <a:off x="7187921" y="4594737"/>
            <a:ext cx="4165595" cy="9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*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* *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* * *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* * * *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03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E8A9434-5AE0-3796-96A2-AD37B34602CD}"/>
              </a:ext>
            </a:extLst>
          </p:cNvPr>
          <p:cNvSpPr/>
          <p:nvPr/>
        </p:nvSpPr>
        <p:spPr>
          <a:xfrm>
            <a:off x="609584" y="60230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Вложенные циклы на практике: таблица и часы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470BC4B-6600-2FCB-F28D-3E116E9B4348}"/>
              </a:ext>
            </a:extLst>
          </p:cNvPr>
          <p:cNvSpPr/>
          <p:nvPr/>
        </p:nvSpPr>
        <p:spPr>
          <a:xfrm>
            <a:off x="609585" y="1458410"/>
            <a:ext cx="6222844" cy="4191701"/>
          </a:xfrm>
          <a:prstGeom prst="roundRect">
            <a:avLst>
              <a:gd name="adj" fmla="val 1982"/>
            </a:avLst>
          </a:prstGeom>
          <a:solidFill>
            <a:srgbClr val="F2EDED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ACB1262-2F20-0B91-81B1-58D34BD98F86}"/>
              </a:ext>
            </a:extLst>
          </p:cNvPr>
          <p:cNvSpPr/>
          <p:nvPr/>
        </p:nvSpPr>
        <p:spPr>
          <a:xfrm>
            <a:off x="838484" y="1601901"/>
            <a:ext cx="5817645" cy="4048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1. Таблица умножения 3 ×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 = 1; i &lt;= 3; i++)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for (int j = 1; j &lt;= 3; j++)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Console.Write($"{i * j,4}");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Console.WriteLine();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2. Пары «часы:минуты»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h = 10; h &lt;= 11; h++)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for (int m = 0; m &lt; 60; m += 30)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Console.Write($"{h:D2}:{m:D2}  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73A91B2-6052-1B52-17B5-1AF354C979D7}"/>
              </a:ext>
            </a:extLst>
          </p:cNvPr>
          <p:cNvSpPr/>
          <p:nvPr/>
        </p:nvSpPr>
        <p:spPr>
          <a:xfrm>
            <a:off x="7137221" y="1880295"/>
            <a:ext cx="4444889" cy="1826716"/>
          </a:xfrm>
          <a:prstGeom prst="roundRect">
            <a:avLst>
              <a:gd name="adj" fmla="val 3883"/>
            </a:avLst>
          </a:prstGeom>
          <a:solidFill>
            <a:srgbClr val="D5DCF6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3785FD8-D63E-D368-C9E2-BD8CDA04B533}"/>
              </a:ext>
            </a:extLst>
          </p:cNvPr>
          <p:cNvSpPr/>
          <p:nvPr/>
        </p:nvSpPr>
        <p:spPr>
          <a:xfrm>
            <a:off x="7365816" y="2129614"/>
            <a:ext cx="39877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Как работают вложенные циклы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D462C50-0580-B9BC-EDA6-E00256B10946}"/>
              </a:ext>
            </a:extLst>
          </p:cNvPr>
          <p:cNvSpPr/>
          <p:nvPr/>
        </p:nvSpPr>
        <p:spPr>
          <a:xfrm>
            <a:off x="7365816" y="2474531"/>
            <a:ext cx="3987700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Внешний цикл задаёт строку (i) или час (h), внутренний полностью проходит на каждом шаге внешнего и задаёт столбец (j) или минуты (m).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73C5F358-EC30-4167-BA31-2ED4A0EAE310}"/>
              </a:ext>
            </a:extLst>
          </p:cNvPr>
          <p:cNvSpPr/>
          <p:nvPr/>
        </p:nvSpPr>
        <p:spPr>
          <a:xfrm>
            <a:off x="7137221" y="3859411"/>
            <a:ext cx="4444889" cy="1980704"/>
          </a:xfrm>
          <a:prstGeom prst="rect">
            <a:avLst/>
          </a:prstGeom>
          <a:solidFill>
            <a:srgbClr val="F2EDE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362CE08-FA9F-70A9-8154-6A5CC0B66C61}"/>
              </a:ext>
            </a:extLst>
          </p:cNvPr>
          <p:cNvSpPr/>
          <p:nvPr/>
        </p:nvSpPr>
        <p:spPr>
          <a:xfrm>
            <a:off x="7365816" y="4091275"/>
            <a:ext cx="4216295" cy="17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Консоль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35469CA-719F-A863-DD92-57740755EC05}"/>
              </a:ext>
            </a:extLst>
          </p:cNvPr>
          <p:cNvSpPr/>
          <p:nvPr/>
        </p:nvSpPr>
        <p:spPr>
          <a:xfrm>
            <a:off x="7365816" y="4371296"/>
            <a:ext cx="3987700" cy="9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  1   2   3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  2   4   6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  3   6   9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10:00  10:30  11:00  11:30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254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81CF3D6-FC97-30AB-EED7-509D1A023FAB}"/>
              </a:ext>
            </a:extLst>
          </p:cNvPr>
          <p:cNvSpPr/>
          <p:nvPr/>
        </p:nvSpPr>
        <p:spPr>
          <a:xfrm>
            <a:off x="914377" y="1038346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Типичные ошибки циклов и как их избежать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7D1D58FA-07D5-13B7-60F1-FCF215C6C147}"/>
              </a:ext>
            </a:extLst>
          </p:cNvPr>
          <p:cNvSpPr/>
          <p:nvPr/>
        </p:nvSpPr>
        <p:spPr>
          <a:xfrm>
            <a:off x="609585" y="2484459"/>
            <a:ext cx="2628834" cy="2978792"/>
          </a:xfrm>
          <a:prstGeom prst="roundRect">
            <a:avLst>
              <a:gd name="adj" fmla="val 2806"/>
            </a:avLst>
          </a:prstGeom>
          <a:solidFill>
            <a:srgbClr val="D5DCF6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216DB5B-27CE-FE77-3DD3-2E98D6EE52E7}"/>
              </a:ext>
            </a:extLst>
          </p:cNvPr>
          <p:cNvSpPr/>
          <p:nvPr/>
        </p:nvSpPr>
        <p:spPr>
          <a:xfrm>
            <a:off x="838179" y="2604963"/>
            <a:ext cx="21716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Вечный цикл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90094F8-A59F-160C-ED8B-4FB021675B43}"/>
              </a:ext>
            </a:extLst>
          </p:cNvPr>
          <p:cNvSpPr/>
          <p:nvPr/>
        </p:nvSpPr>
        <p:spPr>
          <a:xfrm>
            <a:off x="757156" y="2968285"/>
            <a:ext cx="2038129" cy="1012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Забыли изменить переменную в теле: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E6FEC56-AD67-1DF6-29A5-AF1A61F0EE8E}"/>
              </a:ext>
            </a:extLst>
          </p:cNvPr>
          <p:cNvSpPr/>
          <p:nvPr/>
        </p:nvSpPr>
        <p:spPr>
          <a:xfrm>
            <a:off x="838179" y="3660295"/>
            <a:ext cx="2400240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(i &lt; 5) {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FA2F86E5-7BC8-15F3-9B8C-4496BC58820F}"/>
              </a:ext>
            </a:extLst>
          </p:cNvPr>
          <p:cNvSpPr/>
          <p:nvPr/>
        </p:nvSpPr>
        <p:spPr>
          <a:xfrm>
            <a:off x="838179" y="4029670"/>
            <a:ext cx="2171646" cy="19050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5A75D02-D547-D28C-685C-3F419E97C246}"/>
              </a:ext>
            </a:extLst>
          </p:cNvPr>
          <p:cNvSpPr/>
          <p:nvPr/>
        </p:nvSpPr>
        <p:spPr>
          <a:xfrm>
            <a:off x="838179" y="4493511"/>
            <a:ext cx="2171646" cy="539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Решение: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всегда добавляйте шаг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i++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или условие выхода.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3B9E08F-F5E3-5AAE-A236-8F2B06D5BCB0}"/>
              </a:ext>
            </a:extLst>
          </p:cNvPr>
          <p:cNvSpPr/>
          <p:nvPr/>
        </p:nvSpPr>
        <p:spPr>
          <a:xfrm>
            <a:off x="3390815" y="2484459"/>
            <a:ext cx="2628834" cy="2978792"/>
          </a:xfrm>
          <a:prstGeom prst="roundRect">
            <a:avLst>
              <a:gd name="adj" fmla="val 2806"/>
            </a:avLst>
          </a:prstGeom>
          <a:solidFill>
            <a:srgbClr val="D5DCF6"/>
          </a:solidFill>
          <a:ln/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23DA048-26BD-B542-9A28-0A0FE531052D}"/>
              </a:ext>
            </a:extLst>
          </p:cNvPr>
          <p:cNvSpPr/>
          <p:nvPr/>
        </p:nvSpPr>
        <p:spPr>
          <a:xfrm>
            <a:off x="3619409" y="2604963"/>
            <a:ext cx="21716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Счётчик вне for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4FFB5E7-8C6A-4993-9B01-18ED6C1A7A9D}"/>
              </a:ext>
            </a:extLst>
          </p:cNvPr>
          <p:cNvSpPr/>
          <p:nvPr/>
        </p:nvSpPr>
        <p:spPr>
          <a:xfrm>
            <a:off x="3538386" y="2968285"/>
            <a:ext cx="2405066" cy="1012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Обращение к переменной цикла после его окончания: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B6AAA5E-8A34-7483-A50D-12D24EA7BF9B}"/>
              </a:ext>
            </a:extLst>
          </p:cNvPr>
          <p:cNvSpPr/>
          <p:nvPr/>
        </p:nvSpPr>
        <p:spPr>
          <a:xfrm>
            <a:off x="3619409" y="3652738"/>
            <a:ext cx="2171646" cy="57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(int i=0; i&lt;5; i++) {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Console.WriteLine(i);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EE305591-44EB-63DD-7842-570CFBB8D0C1}"/>
              </a:ext>
            </a:extLst>
          </p:cNvPr>
          <p:cNvSpPr/>
          <p:nvPr/>
        </p:nvSpPr>
        <p:spPr>
          <a:xfrm>
            <a:off x="3619409" y="4364434"/>
            <a:ext cx="2171646" cy="19050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E529DFA-16B2-51D2-0D9A-6ABF1B197AE7}"/>
              </a:ext>
            </a:extLst>
          </p:cNvPr>
          <p:cNvSpPr/>
          <p:nvPr/>
        </p:nvSpPr>
        <p:spPr>
          <a:xfrm>
            <a:off x="3619409" y="4530015"/>
            <a:ext cx="2171646" cy="539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Решение: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объявить счётчик до цикла, если он нужен после него.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B8FD7AA6-0ED2-8CE2-8C6D-3C26D1724279}"/>
              </a:ext>
            </a:extLst>
          </p:cNvPr>
          <p:cNvSpPr/>
          <p:nvPr/>
        </p:nvSpPr>
        <p:spPr>
          <a:xfrm>
            <a:off x="6172046" y="2484459"/>
            <a:ext cx="2628834" cy="2978792"/>
          </a:xfrm>
          <a:prstGeom prst="roundRect">
            <a:avLst>
              <a:gd name="adj" fmla="val 2806"/>
            </a:avLst>
          </a:prstGeom>
          <a:solidFill>
            <a:srgbClr val="D5DCF6"/>
          </a:solidFill>
          <a:ln/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F4163D7-4A74-0F8B-12AC-781F28EBF903}"/>
              </a:ext>
            </a:extLst>
          </p:cNvPr>
          <p:cNvSpPr/>
          <p:nvPr/>
        </p:nvSpPr>
        <p:spPr>
          <a:xfrm>
            <a:off x="6400640" y="2604963"/>
            <a:ext cx="21716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Точка с запятой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2CDBC705-F066-D4B7-2E4D-DF5768EAC064}"/>
              </a:ext>
            </a:extLst>
          </p:cNvPr>
          <p:cNvSpPr/>
          <p:nvPr/>
        </p:nvSpPr>
        <p:spPr>
          <a:xfrm>
            <a:off x="6319617" y="2968285"/>
            <a:ext cx="2252669" cy="506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Пустое тело цикла: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39B7EB4-C0EA-2A3B-54DC-DC10B0ECC675}"/>
              </a:ext>
            </a:extLst>
          </p:cNvPr>
          <p:cNvSpPr/>
          <p:nvPr/>
        </p:nvSpPr>
        <p:spPr>
          <a:xfrm>
            <a:off x="6400640" y="3474458"/>
            <a:ext cx="2400240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(...); { тело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12A12E10-6E8D-5C1D-B66B-4F9231B828B5}"/>
              </a:ext>
            </a:extLst>
          </p:cNvPr>
          <p:cNvSpPr/>
          <p:nvPr/>
        </p:nvSpPr>
        <p:spPr>
          <a:xfrm>
            <a:off x="6400640" y="3843834"/>
            <a:ext cx="2171646" cy="19050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E89BEF5E-FC6F-50BF-6FE2-43D5C1E607BF}"/>
              </a:ext>
            </a:extLst>
          </p:cNvPr>
          <p:cNvSpPr/>
          <p:nvPr/>
        </p:nvSpPr>
        <p:spPr>
          <a:xfrm>
            <a:off x="6400640" y="4493511"/>
            <a:ext cx="2171646" cy="72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Решение: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не ставить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сразу после круглых скобок for/while.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6B00076-FDEB-7861-2B25-53BDA03B119C}"/>
              </a:ext>
            </a:extLst>
          </p:cNvPr>
          <p:cNvSpPr/>
          <p:nvPr/>
        </p:nvSpPr>
        <p:spPr>
          <a:xfrm>
            <a:off x="8953276" y="2484459"/>
            <a:ext cx="2628834" cy="2978792"/>
          </a:xfrm>
          <a:prstGeom prst="roundRect">
            <a:avLst>
              <a:gd name="adj" fmla="val 2806"/>
            </a:avLst>
          </a:prstGeom>
          <a:solidFill>
            <a:srgbClr val="D5DCF6"/>
          </a:solidFill>
          <a:ln/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9F797D4-62D2-F3E3-D5E1-864675367B33}"/>
              </a:ext>
            </a:extLst>
          </p:cNvPr>
          <p:cNvSpPr/>
          <p:nvPr/>
        </p:nvSpPr>
        <p:spPr>
          <a:xfrm>
            <a:off x="9181870" y="2604963"/>
            <a:ext cx="21716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Мутация счётчика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C1645DA0-5A2E-7BBF-0851-D8F981F74EC6}"/>
              </a:ext>
            </a:extLst>
          </p:cNvPr>
          <p:cNvSpPr/>
          <p:nvPr/>
        </p:nvSpPr>
        <p:spPr>
          <a:xfrm>
            <a:off x="9100847" y="2968285"/>
            <a:ext cx="2252669" cy="506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Счётчик меняется </a:t>
            </a:r>
            <a:r>
              <a:rPr lang="en-US" sz="1600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внутри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 err="1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тела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for: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90BA1B93-95DD-A4FF-4618-2CE3E4AAE15D}"/>
              </a:ext>
            </a:extLst>
          </p:cNvPr>
          <p:cNvSpPr/>
          <p:nvPr/>
        </p:nvSpPr>
        <p:spPr>
          <a:xfrm>
            <a:off x="9181870" y="3725664"/>
            <a:ext cx="2400240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B3535"/>
                </a:solidFill>
                <a:highlight>
                  <a:srgbClr val="F2EDED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(..) { i--;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C60F8062-924C-6B23-36CD-1C31D2EE2B5B}"/>
              </a:ext>
            </a:extLst>
          </p:cNvPr>
          <p:cNvSpPr/>
          <p:nvPr/>
        </p:nvSpPr>
        <p:spPr>
          <a:xfrm>
            <a:off x="9181870" y="4095040"/>
            <a:ext cx="2171646" cy="19050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EDB1F87F-2490-49E7-6657-978E8DEB980C}"/>
              </a:ext>
            </a:extLst>
          </p:cNvPr>
          <p:cNvSpPr/>
          <p:nvPr/>
        </p:nvSpPr>
        <p:spPr>
          <a:xfrm>
            <a:off x="9181870" y="4511179"/>
            <a:ext cx="2171646" cy="539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Noto Sans SemiBold" pitchFamily="34" charset="-122"/>
                <a:cs typeface="Times New Roman" panose="02020603050405020304" pitchFamily="18" charset="0"/>
              </a:rPr>
              <a:t>Решение:</a:t>
            </a: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Noto Sans Light" pitchFamily="34" charset="-122"/>
                <a:cs typeface="Times New Roman" panose="02020603050405020304" pitchFamily="18" charset="0"/>
              </a:rPr>
              <a:t> изменять счётчик for только в заголовке цикла.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5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BABC73-3507-4F32-B5B0-67D62E5ECD37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2AF1A-CDD4-4A01-B414-7370597141A0}"/>
              </a:ext>
            </a:extLst>
          </p:cNvPr>
          <p:cNvSpPr txBox="1"/>
          <p:nvPr/>
        </p:nvSpPr>
        <p:spPr>
          <a:xfrm>
            <a:off x="699394" y="1575632"/>
            <a:ext cx="60977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EDB0F-4AF1-4AF2-9233-45C09D4BFC65}"/>
              </a:ext>
            </a:extLst>
          </p:cNvPr>
          <p:cNvSpPr txBox="1"/>
          <p:nvPr/>
        </p:nvSpPr>
        <p:spPr>
          <a:xfrm>
            <a:off x="699394" y="106035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Что выведет переменная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6FA-7A5A-4816-99CC-D8A956E7D528}"/>
              </a:ext>
            </a:extLst>
          </p:cNvPr>
          <p:cNvSpPr txBox="1"/>
          <p:nvPr/>
        </p:nvSpPr>
        <p:spPr>
          <a:xfrm>
            <a:off x="6096000" y="1455128"/>
            <a:ext cx="40232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600" dirty="0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DE468-F79F-420A-BC2E-0C665FC47184}"/>
              </a:ext>
            </a:extLst>
          </p:cNvPr>
          <p:cNvSpPr txBox="1"/>
          <p:nvPr/>
        </p:nvSpPr>
        <p:spPr>
          <a:xfrm>
            <a:off x="6061142" y="104977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Что выведет переменная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4426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AC6B3C-7BBD-4669-80B5-F813787FFB11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DA5E3A-86C8-4A6E-9391-5286443E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862" y="2520158"/>
            <a:ext cx="30652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sum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0;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=0;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&lt;10;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++)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sum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+=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sum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48FC0-391C-4B05-BD33-0DDD35214A4B}"/>
              </a:ext>
            </a:extLst>
          </p:cNvPr>
          <p:cNvSpPr txBox="1"/>
          <p:nvPr/>
        </p:nvSpPr>
        <p:spPr>
          <a:xfrm>
            <a:off x="194898" y="892188"/>
            <a:ext cx="590110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Программа должна вычислить сумму всех целых чисел от 0 до 10 включительно.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 – 55, но программа выводит 45.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и исправьте ошибку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8516C-EBD1-449C-BCA3-40E45F62F4CC}"/>
              </a:ext>
            </a:extLst>
          </p:cNvPr>
          <p:cNvSpPr txBox="1"/>
          <p:nvPr/>
        </p:nvSpPr>
        <p:spPr>
          <a:xfrm>
            <a:off x="6292670" y="892188"/>
            <a:ext cx="5704432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Программа должна вычислить сумму всех чисел от 1 до 10, которые не делятся на 3.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 – 37, но программа выводит 3.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и исправьте ошибку, изменив только одно ключевое слово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FB44C7-1428-4C4B-AA61-67DDF9EEB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704" y="2520158"/>
            <a:ext cx="379142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sum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0;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0;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&lt;= 10;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++)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%3==0)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break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sum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+=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sum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755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BA0B09-6F5F-417C-ADFB-707A7F00CBD7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91B3F-219E-4721-8C7B-144171A89AE2}"/>
              </a:ext>
            </a:extLst>
          </p:cNvPr>
          <p:cNvSpPr txBox="1"/>
          <p:nvPr/>
        </p:nvSpPr>
        <p:spPr>
          <a:xfrm>
            <a:off x="387796" y="923720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Программа должна запрашивать целое число от 1 до 5 до тех пор, пока пользователь не введет допустимое значение.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при вводе 3 программа продолжает запрашивать число, а при вводе 9 завершает цикл.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логическую ошибку в условии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do…while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73FA34-F7D7-490F-A320-0F3A4A406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94" y="2549182"/>
            <a:ext cx="54745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choice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do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"Введите число от 1до 5:"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choice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Parse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ReadLine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());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while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choice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&gt;= 1 &amp;&amp;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choice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&lt;= 5);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"Число принято"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F2598-5480-427C-AA28-35E095905946}"/>
              </a:ext>
            </a:extLst>
          </p:cNvPr>
          <p:cNvSpPr txBox="1"/>
          <p:nvPr/>
        </p:nvSpPr>
        <p:spPr>
          <a:xfrm>
            <a:off x="6800193" y="923719"/>
            <a:ext cx="50040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Программа должна определить количество цифр в числе 4050.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 – 4, но программа никогда не заканчивает работу.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ошибку в коде.</a:t>
            </a:r>
            <a:endParaRPr lang="ru-RU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5BF0B7-5AAC-4894-84E7-7FEF4E43C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536" y="2549183"/>
            <a:ext cx="336823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number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4050;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digits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0;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while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number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&gt;=0)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digits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++;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number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/=10;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digits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282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36AB72-2569-9262-8F93-1668C23E6CA2}"/>
              </a:ext>
            </a:extLst>
          </p:cNvPr>
          <p:cNvSpPr txBox="1"/>
          <p:nvPr/>
        </p:nvSpPr>
        <p:spPr>
          <a:xfrm>
            <a:off x="616352" y="1013314"/>
            <a:ext cx="5576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Программа должна найти наименьший делитель числа 91, который больше 1.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 - 7, но программа выводит 2.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ошибку, не изменяя оператор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E552F23-ECFA-79DD-93CC-19BF5115989E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62842-E3E9-4CCD-92FD-BE3A8814D823}"/>
              </a:ext>
            </a:extLst>
          </p:cNvPr>
          <p:cNvSpPr txBox="1"/>
          <p:nvPr/>
        </p:nvSpPr>
        <p:spPr>
          <a:xfrm>
            <a:off x="674226" y="2606006"/>
            <a:ext cx="60940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divisor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74156-4A8C-D0B7-30B8-99D86BF15C92}"/>
              </a:ext>
            </a:extLst>
          </p:cNvPr>
          <p:cNvSpPr txBox="1"/>
          <p:nvPr/>
        </p:nvSpPr>
        <p:spPr>
          <a:xfrm>
            <a:off x="6513746" y="1013314"/>
            <a:ext cx="52808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Программа должна вычислить сумму квадратов нечётных чисел от 1 до 7 включительно.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 - 84, но программа зависает.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причину бесконечного цикла.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Исправьте код, сохранив конструкцию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оператор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13256C-30E0-A9D1-D5BA-860376F96AB1}"/>
              </a:ext>
            </a:extLst>
          </p:cNvPr>
          <p:cNvSpPr txBox="1"/>
          <p:nvPr/>
        </p:nvSpPr>
        <p:spPr>
          <a:xfrm>
            <a:off x="6635419" y="2723867"/>
            <a:ext cx="4890258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5217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C5CFC6-1724-F85D-07BE-D90C03A4843B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F0CDB-2889-EF93-14B0-773CFD33E448}"/>
              </a:ext>
            </a:extLst>
          </p:cNvPr>
          <p:cNvSpPr txBox="1"/>
          <p:nvPr/>
        </p:nvSpPr>
        <p:spPr>
          <a:xfrm>
            <a:off x="1102582" y="945849"/>
            <a:ext cx="104374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Программа должна запрашивать слово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тех пор, пока пользователь не введёт его правильно, но не более трёх попыток.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даже при правильном вводе с первой попытки программа продолжает запрашивать слово.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логическую ошибку, заменив только один оператор.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1CBB9-F751-741A-C236-B5462956CB87}"/>
              </a:ext>
            </a:extLst>
          </p:cNvPr>
          <p:cNvSpPr txBox="1"/>
          <p:nvPr/>
        </p:nvSpPr>
        <p:spPr>
          <a:xfrm>
            <a:off x="3327675" y="2549220"/>
            <a:ext cx="60940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Введите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yes: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Попыток: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80553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F01C43-076D-444B-18F0-EEC7874F0FE8}"/>
              </a:ext>
            </a:extLst>
          </p:cNvPr>
          <p:cNvSpPr txBox="1"/>
          <p:nvPr/>
        </p:nvSpPr>
        <p:spPr>
          <a:xfrm>
            <a:off x="1600201" y="810104"/>
            <a:ext cx="841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Определите, какие значения переменных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будут выведены.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4649D-4677-66D4-0209-3D6877F8E1F0}"/>
              </a:ext>
            </a:extLst>
          </p:cNvPr>
          <p:cNvSpPr txBox="1"/>
          <p:nvPr/>
        </p:nvSpPr>
        <p:spPr>
          <a:xfrm>
            <a:off x="3047036" y="1446734"/>
            <a:ext cx="60940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B8B04A8-5DD2-1718-227C-70AD348DF4E4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91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8532B-A702-E3AB-A5F7-2F729605E8EE}"/>
              </a:ext>
            </a:extLst>
          </p:cNvPr>
          <p:cNvSpPr txBox="1"/>
          <p:nvPr/>
        </p:nvSpPr>
        <p:spPr>
          <a:xfrm>
            <a:off x="1600201" y="1048435"/>
            <a:ext cx="8134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Определите, что выведет программа. Сколько раз выполнится тело цикла?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43B800E-0496-B48D-6B6A-3BF3D714AD52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7B03B-D009-1FB9-B2A6-F4339D69D33E}"/>
              </a:ext>
            </a:extLst>
          </p:cNvPr>
          <p:cNvSpPr txBox="1"/>
          <p:nvPr/>
        </p:nvSpPr>
        <p:spPr>
          <a:xfrm>
            <a:off x="2931289" y="1746089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Конец: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22072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A3342D-1819-199E-5E64-5F651B407855}"/>
              </a:ext>
            </a:extLst>
          </p:cNvPr>
          <p:cNvSpPr txBox="1"/>
          <p:nvPr/>
        </p:nvSpPr>
        <p:spPr>
          <a:xfrm>
            <a:off x="3255380" y="115221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Определите итоговые значения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E2C4F-E418-E4B4-4CD6-91A3965CCD59}"/>
              </a:ext>
            </a:extLst>
          </p:cNvPr>
          <p:cNvSpPr txBox="1"/>
          <p:nvPr/>
        </p:nvSpPr>
        <p:spPr>
          <a:xfrm>
            <a:off x="3048965" y="1956417"/>
            <a:ext cx="60940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0CA7480-AF34-D609-2000-A1ADB2F6EE43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8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B3C59-1BB9-5A2C-49C7-2F78EF7EEFA4}"/>
              </a:ext>
            </a:extLst>
          </p:cNvPr>
          <p:cNvSpPr txBox="1"/>
          <p:nvPr/>
        </p:nvSpPr>
        <p:spPr>
          <a:xfrm>
            <a:off x="2190509" y="1187331"/>
            <a:ext cx="8354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Определите значение переменной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после завершения цикла.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0EBB183-C4FD-4E0B-8ABC-88F887323AC0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2437E-B8FF-BBAB-1907-4990BB41A642}"/>
              </a:ext>
            </a:extLst>
          </p:cNvPr>
          <p:cNvSpPr txBox="1"/>
          <p:nvPr/>
        </p:nvSpPr>
        <p:spPr>
          <a:xfrm>
            <a:off x="2908139" y="1841068"/>
            <a:ext cx="60940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30507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digit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digit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digit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6794208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8580</Words>
  <Application>Microsoft Office PowerPoint</Application>
  <PresentationFormat>Широкоэкранный</PresentationFormat>
  <Paragraphs>916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Cascadia Mono</vt:lpstr>
      <vt:lpstr>Consolas</vt:lpstr>
      <vt:lpstr>KyivType Sans Heavy</vt:lpstr>
      <vt:lpstr>Times New Roman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Преподаватель</cp:lastModifiedBy>
  <cp:revision>16</cp:revision>
  <dcterms:created xsi:type="dcterms:W3CDTF">2026-10-14T06:40:53Z</dcterms:created>
  <dcterms:modified xsi:type="dcterms:W3CDTF">2026-10-15T14:00:33Z</dcterms:modified>
</cp:coreProperties>
</file>