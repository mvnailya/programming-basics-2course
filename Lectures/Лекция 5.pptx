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373" autoAdjust="0"/>
  </p:normalViewPr>
  <p:slideViewPr>
    <p:cSldViewPr snapToGrid="0">
      <p:cViewPr varScale="1">
        <p:scale>
          <a:sx n="104" d="100"/>
          <a:sy n="104" d="100"/>
        </p:scale>
        <p:origin x="8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E5B4A1-5D7B-480A-9728-1CA73C926754}" type="datetimeFigureOut">
              <a:rPr lang="ru-RU" smtClean="0"/>
              <a:t>07.10.26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A12FE-C6B0-4A36-8412-08AC604C0D8A}" type="slidenum">
              <a:rPr lang="ru-RU" smtClean="0"/>
              <a:t>‹#›</a:t>
            </a:fld>
            <a:endParaRPr lang="ru-RU"/>
          </a:p>
        </p:txBody>
      </p:sp>
    </p:spTree>
    <p:extLst>
      <p:ext uri="{BB962C8B-B14F-4D97-AF65-F5344CB8AC3E}">
        <p14:creationId xmlns:p14="http://schemas.microsoft.com/office/powerpoint/2010/main" val="3547886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EB6EA5-BBE7-43BF-8BFD-25EDB7B77679}" type="slidenum">
              <a:rPr kumimoji="0" lang="ru-R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453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мы создавали линейные программы. В них все инструкции выполнялись последовательно: сначала ввод данных, затем вычисления, после чего вывод результата. Такой подход подходит для решения простых задач, например вычисления площади прямоугольника или перевода температуры из одной шкалы в другую. Однако большинство реальных приложений устроены значительно сложнее. Они должны реагировать на изменяющиеся обстоятельства, анализировать информацию и выбирать различные варианты дальнейшей работы.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проверки используются практически во всех современных программах. При входе в личный кабинет система проверяет правильность логина и пароля. Интернет-магазин определяет, есть ли выбранный товар на складе. Банковское приложение анализирует, достаточно ли средств на счёте для выполнения перевода. При регистрации нового пользователя программа проверяет корректность введённых данных, а при возникновении ошибок выбирает соответствующий способ их обработки. Во всех этих случаях дальнейшая работа программы зависит от результата проверки условия.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Для выполнения таких проверок язык C# использует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логические выражения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-выражения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Их особенностью является то, что результатом вычисления всегда становится логическое значение типа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bool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Оно может принимать только два значения: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что означает «истина»,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что означает «ложь». Именно эти два значения позволяют программе определить, какой участок кода необходимо выполнить дальше. </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-выражение может иметь различный вид. Это может быть обычное сравнение двух значений, например проверка, больше ли число нуля. Это может быть результат работы метода, который возвращает логическое значение, например проверка активности пользователя. Кроме того, несколько условий могут объединяться в одно сложное логическое выражение с помощью операторов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которые мы уже изучали ранее. Независимо от сложности такого выражения результат всегда будет одним из двух значений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-выражение располагается внутри круглых скобок условного оператора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также используется в циклах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while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других управляющих конструкциях языка C#. Сначала программа вычисляет значение логического выражения, и только после этого принимает решение о дальнейших действиях. Если выражение истинно, выполняется один вариант программы. Если ложно — выполняется другой вариант или выполнение продолжается дальше без выполнения условного блока. </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условные конструкции являются механизмом принятия решений, 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-выражения служат их основой. Именно благодаря логическим выражениям программа может анализировать текущую ситуацию, реагировать на действия пользователя и выбирать наиболее подходящий сценарий работы. Это делает программное обеспечение гибким, интерактивным и способным решать значительно более сложные задачи по сравнению с обычными линейными алгоритмами. </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2</a:t>
            </a:fld>
            <a:endParaRPr lang="ru-RU"/>
          </a:p>
        </p:txBody>
      </p:sp>
    </p:spTree>
    <p:extLst>
      <p:ext uri="{BB962C8B-B14F-4D97-AF65-F5344CB8AC3E}">
        <p14:creationId xmlns:p14="http://schemas.microsoft.com/office/powerpoint/2010/main" val="4196283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Конструкция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позволяет выполнить некоторый блок кода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только в том случае, если заданное условие истинно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Программа сначала вычисляет логическое выражение, расположенное в круглых скобках. Если результат равен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выполняются инструкции, находящиеся внутри блока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же результат равен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этот блок полностью пропускается, а выполнение программы продолжается со следующей инструкции после него.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на синтаксис конструкции. Условие всегда заключается в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круглые скобки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инструкции, которые должны выполняться при истинности условия, помещаются в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фигурные скобки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Формально фигурные скобки можно не использовать, если внутри находится только одна инструкция. Однако в профессиональной разработке рекомендуется всегда заключать тело условного оператора в фигурные скобки. Такой стиль делает код более понятным, облегчает его сопровождение и помогает избежать ошибок при дальнейшем изменении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простой пример проверки возраста.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программе создаётся переменная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после чего выполняется проверка: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if (age &gt;= 18)</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Console.WriteLine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Доступ разрешён</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возраст пользователя больше либо равен восемнадцати годам, программа выводит сообщение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«Доступ разрешён»</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условие окажется ложным, сообщение не появится, а программа просто продолжит выполнение следующей инструкции. Это хорошо демонстрирует основную особенность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она выполняет действия только при выполнении указанного условия.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Конструкция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используется в тех случаях, когда необходимо выполнить некоторое действие только при соблюдении одного конкретного условия, а при его невыполнении ничего предпринимать не нужно. Подобные ситуации встречаются очень часто. Например, перед выполнением банковской операции можно проверить, достаточно ли средств на счёте. Перед сохранением документа можно убедиться, что все обязательные поля заполнены. Перед предоставлением доступа к определённому ресурсу можно проверить права пользователя. Во всех этих случаях, если условие не выполняется, программа может просто перейти к следующей инструкции.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ещё один пример, представленный на слайде. Программа хранит сумму денежных средств на счёте пользователя и стоимость покупки. Перед списанием денег выполняется проверка:</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balance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&gt;=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balance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price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Console.WriteLine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("Покупка успешна");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денежных средств достаточно, стоимость покупки вычитается из баланса, а пользователю выводится сообщение об успешной операции. Если же денег недостаточно, весь блок пропускается. При этом программа никак не сообщает пользователю о причине отказа — она просто не выполняет инструкции внутри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Именно поэтому одной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бывает недостаточно. </a:t>
            </a:r>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3</a:t>
            </a:fld>
            <a:endParaRPr lang="ru-RU"/>
          </a:p>
        </p:txBody>
      </p:sp>
    </p:spTree>
    <p:extLst>
      <p:ext uri="{BB962C8B-B14F-4D97-AF65-F5344CB8AC3E}">
        <p14:creationId xmlns:p14="http://schemas.microsoft.com/office/powerpoint/2010/main" val="2258512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Конструкция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позволяет организовать два альтернативных пути выполнения программы. Сначала, как и в обычном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вычисляется логическое выражение. Если его результат равен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выполняется блок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же результат равен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управление автоматически переходит к блоку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Благодаря этому программа реагирует на оба возможных результата проверки и её поведение становится более предсказуемым.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Общий синтаксис конструкции выглядит следующим образом:</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(условие)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Код выполняется, если условие истинно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Код выполняется, если условие ложно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Обратите внимание, что, как и в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условие всегда заключается в круглые скобки, а оба блока кода рекомендуется оформлять фигурными скобками независимо от количества инструкций внутри. Это делает программу более читаемой и помогает избежать ошибок при её дальнейшем изменении.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 проверки пароля.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Пользователь вводит строку с клавиатуры, после чего программа сравнивает её с заранее известным правильным паролем.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введённый пароль совпадает с ожидаемым значением, программа выводит сообщение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«Добро пожаловать!»</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может продолжить работу, например открыть главное окно приложения.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же пароль введён неверно, выполняется блок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который сообщает пользователю об ошибке и может предложить повторить ввод данных. Таким образом, программа явно обрабатывает оба возможных варианта развития событий.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Особое внимание следует уделить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фигурным скобкам</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показан пример, в котором фигурные скобки отсутствуют. В такой ситуации оператор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управляет только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первой инструкцией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расположенной после условия. Все последующие инструкции будут выполняться независимо от результата проверки. Подобная ошибка часто приводит к неожиданному поведению программы и бывает достаточно трудно обнаружить её при чтении кода. Именно поэтому в профессиональной разработке считается хорошей практикой всегда использовать фигурные скобки, даже если внутри условия находится всего одна инструкция.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 многих задачах необходимо проверить не одно, а несколько условий. Для этого используется конструкция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Она представляет собой цепочку последовательных проверок. Программа анализирует условия сверху вниз. Как только находится первое истинное условие, выполняется соответствующий блок кода, после чего остальные проверки уже не выполняются. Если ни одно из условий не оказалось истинным, управление переходит к блоку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он присутствует.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 определения оценки по количеству набранных баллов.</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проверяется, набрал ли студент не менее 90 баллов. Если это условие истинно, выводится оценка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«Отлично»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нет, программа проверяет следующее условие — набрано ли не менее 75 баллов. При его выполнении выводится оценка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«Хорошо»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Затем выполняется проверка на 60 баллов, после чего при необходимости выводится оценка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«Удовлетворительно»</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ни одно из перечисленных условий не выполняется, программа переходит к блоку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выводит сообщение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 сдал»</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Такой подход позволяет удобно организовать проверку нескольких взаимно исключающих условий.</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4</a:t>
            </a:fld>
            <a:endParaRPr lang="ru-RU"/>
          </a:p>
        </p:txBody>
      </p:sp>
    </p:spTree>
    <p:extLst>
      <p:ext uri="{BB962C8B-B14F-4D97-AF65-F5344CB8AC3E}">
        <p14:creationId xmlns:p14="http://schemas.microsoft.com/office/powerpoint/2010/main" val="330100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бывают ситуации, когда необходимо лишь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присвоить переменной одно из двух значений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таких случаях запись с использованием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может оказаться слишком громоздкой. Для решения подобных задач в языке C# существует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тернарный оператор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Тернарный оператор получил своё название потому, что состоит из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трёх частей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Первая часть — это условие, вторая определяет значение, которое будет использовано, если условие истинно, а третья — значение, которое будет использовано, если условие ложно. Это единственный оператор языка C#, который принимает сразу три операнда.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Общий синтаксис тернарного оператора выглядит следующим образом: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переменная = условие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значение_если_true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значение_если_false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вычисляется условие. Если оно возвращает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результатом работы оператора становится первое значение, расположенное после знака вопроса. Если условие возвращает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выбирается значение после двоеточия. Полученный результат сразу присваивается переменной или используется в составе другого выражения.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приведено сравнение двух способов решения одной и той же задачи.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первом случае используется классическая конструкция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возраст человека больше либо равен восемнадцати годам, переменной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status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присваивается строка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«Совершеннолетний»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противном случае в неё записывается значение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«Несовершеннолетний»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Эту же задачу можно решить гораздо компактнее: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status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age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&gt;= 18</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"Совершеннолетний"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"Несовершеннолетний";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Обе записи полностью эквивалентны и дают одинаковый результат. Разница заключается лишь в форме записи. Тернарный оператор позволяет сократить количество строк кода и сделать простые присваивания более компактными.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свою краткость, тернарный оператор используется достаточно широко. Он особенно удобен в тех случаях, когда необходимо присвоить переменной одно из двух значений в зависимости от условия, вернуть результат из метода одной строкой, сформировать текстовое сообщение или выполнить простую инициализацию объекта. Во всех этих ситуациях использование тернарного оператора делает код лаконичным и выразительным.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Однако важно понимать, что тернарный оператор подходит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только для простых условий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логика программы начинает усложняться, появляется несколько условий или внутри каждой ветви необходимо выполнить несколько действий, лучше использовать обычную конструкцию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противном случае код становится трудно читать и сопровождать. Особенно не рекомендуется создавать длинные цепочки вложенных тернарных операторов. Хотя такой код может работать корректно, его понимание требует значительно больше времени и повышает вероятность ошибок.</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Хорошей практикой является следующее правило: если условие легко помещается в одну строку и обе ветви просто возвращают значение, можно использовать тернарный оператор. Если же приходится выполнять несколько инструкций или логика становится сложной, предпочтительнее воспользоваться конструкцией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Такой подход делает программу более понятной и облегчает её сопровождение.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тернарный оператор является компактной альтернативой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для простых случаев. Он позволяет быстро выбирать одно из двух значений и присваивать его переменной. При правильном использовании он делает код короче и удобнее для чтения, однако применять его следует только там, где это действительно повышает читаемость программы.</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5</a:t>
            </a:fld>
            <a:endParaRPr lang="ru-RU"/>
          </a:p>
        </p:txBody>
      </p:sp>
    </p:spTree>
    <p:extLst>
      <p:ext uri="{BB962C8B-B14F-4D97-AF65-F5344CB8AC3E}">
        <p14:creationId xmlns:p14="http://schemas.microsoft.com/office/powerpoint/2010/main" val="2088698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бывают ситуации, когда необходимо выбрать один вариант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из большого количества заранее известных значений одной переменной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использовать для этого длинную цепочку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программа становится громоздкой и менее читаемой. В таких случаях в языке C# применяется конструкция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Конструкция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предназначена для выполнения различных действий в зависимости от значения одного выражения. Программа вычисляет указанное выражение, затем сравнивает его с каждым вариантом, указанным после ключевого слова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Как только находится совпадение, выполняется соответствующий блок кода. Если ни один из вариантов не подошёл, управление передаётся блоку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default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он присутствует.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Общий синтаксис конструкции выглядит следующим образом:</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(выражение)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значение1:</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Код</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break</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значение2:</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Код</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break</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default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Код по умолчанию</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break</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После каждого блока используется оператор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break</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 завершает выполнение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передаёт управление следующей инструкции программы. Благодаря этому выполняется только тот блок, который соответствует найденному варианту.</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Следует обратить внимание на несколько важных правил использования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Во-первых, выражение после ключевого слова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должно иметь подходящий тип данных. Чаще всего используются типы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int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char</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string</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enum</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Во-вторых, практически каждый блок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case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завершается оператором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break</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Благодаря этому после выполнения нужного варианта программа сразу выходит из конструкции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не продолжает выполнять последующие варианты.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В-третьих, блок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default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рекомендуется использовать всегда. Он позволяет обработать все значения, которые не совпали ни с одним из перечисленных вариантов. Это делает программу более надёжной и предотвращает ситуации, когда неожиданные данные остаются необработанными.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пример на слайде демонстрирует выбор размера кофе.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зависимости от значения переменной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size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программа устанавливает соответствующую цену напитка. Для размеров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S</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M</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задаются разные значения стоимости. Если пользователь ввёл неизвестный размер, выполняется блок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default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который присваивает значение по умолчанию. Такой подход часто используется при работе с меню, категориями товаров, кодами ошибок и другими заранее известными наборами значений.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современных версиях языка C#, начиная с версии 8.0, появилась ещё одна форма записи —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-выражение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отличие от классического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оно не выполняет блоки кода, 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возвращает значение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Благодаря этому запись становится значительно компактнее. На слайде показан пример определения оценки по количеству баллов с использованием нового синтаксиса. Такое выражение сразу возвращает соответствующую строку без необходимости писать несколько операторов присваивания. Однако принцип работы остаётся тем же: выбирается первый подходящий вариант, после чего возвращается соответствующий результат.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конструкция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является удобным инструментом для выбора одного действия из множества возможных вариантов. Она делает код более читаемым по сравнению с длинными цепочками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особенно если необходимо обработать большое количество фиксированных значений. В современных версиях языка дополнительно используются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switch</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-выражения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которые позволяют ещё более компактно реализовывать подобные проверки.</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6</a:t>
            </a:fld>
            <a:endParaRPr lang="ru-RU"/>
          </a:p>
        </p:txBody>
      </p:sp>
    </p:spTree>
    <p:extLst>
      <p:ext uri="{BB962C8B-B14F-4D97-AF65-F5344CB8AC3E}">
        <p14:creationId xmlns:p14="http://schemas.microsoft.com/office/powerpoint/2010/main" val="125315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До этого момента мы рассматривали ситуации, в которых программе было достаточно выполнить одну проверку или выбрать один из нескольких вариантов. Однако в реальных приложениях нередко возникают задачи, когда выполнение одного условия возможно только после успешного выполнения другого. В таких случаях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вложенные условия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конструкции, в которых один оператор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находится внутри другого.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Представим ситуацию, когда пользователь хочет получить доступ к закрытому разделу сайта. Недостаточно проверить только наличие учётной записи. Сначала необходимо убедиться, что пользователь вошёл в систему. Затем проверить, оформлена ли у него подписка. После этого следует убедиться, что срок действия подписки ещё не истёк. Только если все эти проверки успешно пройдены, пользователь получает доступ к содержимому. Именно такая последовательность проверок и реализуется с помощью вложенных условий.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 такой проверки.</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программа определяет, авторизован ли пользователь. Если условие истинно, выполняется следующая проверка — имеется ли активная подписка. Если и это условие выполняется, программа дополнительно проверяет, не закончился ли срок её действия. Только после успешного прохождения всех трёх проверок пользователь получает доступ к премиум-контенту. Если же на любом этапе условие оказывается ложным, выполняется соответствующая ветка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которая сообщает пользователю причину отказа.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Несмотря на то что вложенные условия позволяют решать сложные задачи, злоупотреблять ими не следует. Чем больше уровней вложенности содержит программа, тем труднее становится понять её логику. Если количество вложенных условий превышает два или три уровня, код начинает превращаться в так называемый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«спагетти-код»</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сложную структуру, в которой трудно разобраться даже самому автору программы спустя некоторое время. Такой код значительно сложнее читать, тестировать и сопровождать.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Чтобы избежать подобных проблем, в профессиональной разработке применяют несколько приёмов упрощения кода.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приём называется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ранний выход</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Early</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Return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Его идея заключается в том, чтобы сначала проверить ситуации, при которых дальнейшее выполнение программы невозможно, и сразу завершить выполнение метода. Благодаря этому удаётся избежать лишней вложенности и сделать основную логику программы более наглядной.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Второй способ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объединение условий</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несколько проверок должны выполняться одновременно, их можно объединить в одном логическом выражении с помощью оператора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Вместо нескольких вложенных операторов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программа получает одно более компактное условие, которое проще читать и анализировать.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Третий способ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выделение отдельных методов</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Если внутри условия находится большой объём кода, его можно вынести в отдельный метод с понятным названием. Тогда основная программа становится значительно короче, а сама логика разбивается на небольшие, независимые части, которые проще понимать и повторно использовать.</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также рассматривается ещё одна распространённая ошибка — проблема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dangling</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или «висящего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Она возникает в ситуациях, когда программист не использует фигурные скобки. В языке C# каждый оператор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автоматически относится к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ближайшему оператору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if</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который ещё не имеет собственной ветви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Это может привести к неожиданному поведению программы, когда разработчик предполагает один порядок выполнения, а компилятор интерпретирует код совершенно иначе.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Именно поэтому хорошей практикой считается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всегда использовать фигурные скобки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даже если тело условия состоит всего из одной инструкции. Такой подход делает структуру программы очевидной, предотвращает неоднозначность и существенно снижает вероятность появления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труднообнаружимых</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ошибок. Кроме того, правильное форматирование кода позволяет быстрее ориентироваться в программе как самому разработчику, так и другим участникам проекта.</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7</a:t>
            </a:fld>
            <a:endParaRPr lang="ru-RU"/>
          </a:p>
        </p:txBody>
      </p:sp>
    </p:spTree>
    <p:extLst>
      <p:ext uri="{BB962C8B-B14F-4D97-AF65-F5344CB8AC3E}">
        <p14:creationId xmlns:p14="http://schemas.microsoft.com/office/powerpoint/2010/main" val="3925877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 реальных программах одного условия часто бывает недостаточно. Например, при входе в информационную систему необходимо одновременно проверить права пользователя, наличие активной подписки и отсутствие блокировки. Для решения подобных задач в языке C# используются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логические операторы</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которые позволяют объединять несколько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Boolean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-выражений в одно сложное условие.</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Первый логический оператор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логическое И (&amp;&amp;)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используется в тех случаях, когда необходимо, чтобы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все условия одновременно были истинными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хотя бы одно из условий оказывается ложным, результат всего выражения также становится ложным.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пользователь сможет войти в закрытый раздел сайта только тогда, когда он достиг необходимого возраста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предъявил документ, удостоверяющий личность. Если хотя бы одно из этих требований не выполнено, доступ предоставлен не будет. Именно такие проверки чаще всего используются при авторизации, проверке прав доступа и выполнении различных ограничений.</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Следующий оператор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логическое ИЛИ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Он применяется тогда, когда достаточно выполнения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хотя бы одного условия</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хотя бы одно из выражений возвращает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результат всего условия также будет истинным.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Например, доступ к административной панели может получить либо администратор, либо пользователь, обладающий специальным токеном доступа. В этом случае не требуется выполнение сразу двух условий — достаточно любого одного.</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Третий логический оператор —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логическое НЕ (!)</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Его задача состоит в том, чтобы изменить логическое значение на противоположное. Если выражение имеет значение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true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после применения оператора получится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false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наоборот.</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Такой оператор особенно удобен при проверке отрицательных условий. Например, вместо проверки «пользователь не заблокирован» можно использовать логическую переменную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isBlocked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 записать условие как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isBlocked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Подобная запись делает код более компактным и выразительным.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приведён пример комплексной проверки доступа.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программа определяет, обладает ли пользователь необходимыми правами. Затем проверяет наличие активной подписки и отсутствие блокировки. После этого все три условия объединяются с помощью оператора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 результате доступ предоставляется только в том случае, если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каждая проверка</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успешно пройдена. Если хотя бы одно условие окажется ложным, будет выполнена ветка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else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сообщающая об отказе в доступе. Такой подход часто используется в системах авторизации и разграничения прав пользователей.</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8</a:t>
            </a:fld>
            <a:endParaRPr lang="ru-RU"/>
          </a:p>
        </p:txBody>
      </p:sp>
    </p:spTree>
    <p:extLst>
      <p:ext uri="{BB962C8B-B14F-4D97-AF65-F5344CB8AC3E}">
        <p14:creationId xmlns:p14="http://schemas.microsoft.com/office/powerpoint/2010/main" val="3614580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При составлении сложных логических выражений необходимо учитывать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приоритет операторов</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Наивысший приоритет имеет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затем выполняется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а после него —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Это означает, что выражение</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isAdmin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isMod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&amp;&amp;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isActive</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компилятор автоматически интерпретирует как</a:t>
            </a:r>
          </a:p>
          <a:p>
            <a:pPr indent="450215" algn="just">
              <a:lnSpc>
                <a:spcPct val="150000"/>
              </a:lnSpc>
            </a:pP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isAdmin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isMod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&amp;&amp;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isActive</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поскольку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имеет более высокий приоритет, чем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Несмотря на это, рекомендуется использовать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скобки</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даже если они не являются обязательными. Они делают программу значительно понятнее для человека и уменьшают вероятность ошибок при чтении кода.</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Ещё одной важной особенностью логических операторов является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ленивое вычисление</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которое также называют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short-circuit</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1800" b="1" kern="100" dirty="0" err="1">
                <a:effectLst/>
                <a:latin typeface="Times New Roman" panose="02020603050405020304" pitchFamily="18" charset="0"/>
                <a:ea typeface="Aptos" panose="020B0004020202020204" pitchFamily="34" charset="0"/>
                <a:cs typeface="Times New Roman" panose="02020603050405020304" pitchFamily="18" charset="0"/>
              </a:rPr>
              <a:t>evaluation</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Рассмотрим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первое условие уже оказалось ложным, второе условие проверяться не будет, поскольку итоговый результат заранее известен — всё выражение всё равно окажется ложным.</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Аналогично работает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Если первое условие уже истинно, дальнейшие проверки становятся бессмысленными, поэтому они также не выполняются. Такой механизм не только ускоряет работу программы, но и помогает избежать некоторых ошибок во время выполнения.</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На слайде показан пример безопасной проверки объекта:</a:t>
            </a:r>
          </a:p>
          <a:p>
            <a:pPr indent="450215" algn="just">
              <a:lnSpc>
                <a:spcPct val="150000"/>
              </a:lnSpc>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if (obj != null &amp;&amp;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obj.IsValid</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ru-RU"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Сначала программа проверяет, существует ли объект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obj</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Только если объект не равен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null</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выполняется обращение к его свойству </a:t>
            </a:r>
            <a:r>
              <a:rPr lang="ru-RU" sz="1800" kern="100" dirty="0" err="1">
                <a:effectLst/>
                <a:latin typeface="Times New Roman" panose="02020603050405020304" pitchFamily="18" charset="0"/>
                <a:ea typeface="Aptos" panose="020B0004020202020204" pitchFamily="34" charset="0"/>
                <a:cs typeface="Times New Roman" panose="02020603050405020304" pitchFamily="18" charset="0"/>
              </a:rPr>
              <a:t>IsValid</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Благодаря ленивому вычислению программа не попытается обратиться к свойству несуществующего объекта, что предотвращает возникновение ошибки во время выполнения программы.</a:t>
            </a:r>
          </a:p>
          <a:p>
            <a:pPr indent="450215" algn="just">
              <a:lnSpc>
                <a:spcPct val="150000"/>
              </a:lnSpc>
            </a:pP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Таким образом, логические операторы позволяют объединять несколько условий в единое логическое выражение.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&amp;&amp;</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требует выполнения всех условий одновременно,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 хотя бы одного условия, а оператор </a:t>
            </a:r>
            <a:r>
              <a:rPr lang="ru-RU" sz="1800" b="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ru-RU" sz="1800" kern="100" dirty="0">
                <a:effectLst/>
                <a:latin typeface="Times New Roman" panose="02020603050405020304" pitchFamily="18" charset="0"/>
                <a:ea typeface="Aptos" panose="020B0004020202020204" pitchFamily="34" charset="0"/>
                <a:cs typeface="Times New Roman" panose="02020603050405020304" pitchFamily="18" charset="0"/>
              </a:rPr>
              <a:t> инвертирует логическое значение. При работе со сложными выражениями необходимо учитывать приоритет операторов, использовать скобки для повышения читаемости и помнить о механизме ленивого вычисления, который делает программы более безопасными и эффективными.</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9</a:t>
            </a:fld>
            <a:endParaRPr lang="ru-RU"/>
          </a:p>
        </p:txBody>
      </p:sp>
    </p:spTree>
    <p:extLst>
      <p:ext uri="{BB962C8B-B14F-4D97-AF65-F5344CB8AC3E}">
        <p14:creationId xmlns:p14="http://schemas.microsoft.com/office/powerpoint/2010/main" val="2799879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Где ошибка?</a:t>
            </a:r>
          </a:p>
          <a:p>
            <a:r>
              <a:rPr lang="ru-RU" dirty="0"/>
              <a:t>Использован </a:t>
            </a:r>
            <a:r>
              <a:rPr lang="ru-RU" b="1" dirty="0"/>
              <a:t>постфиксный инкремент</a:t>
            </a:r>
            <a:r>
              <a:rPr lang="ru-RU" dirty="0"/>
              <a:t>:</a:t>
            </a:r>
          </a:p>
          <a:p>
            <a:r>
              <a:rPr lang="ru-RU" dirty="0" err="1"/>
              <a:t>points</a:t>
            </a:r>
            <a:r>
              <a:rPr lang="ru-RU" dirty="0"/>
              <a:t>++</a:t>
            </a:r>
          </a:p>
          <a:p>
            <a:r>
              <a:rPr lang="ru-RU" dirty="0"/>
              <a:t>В выражение сначала попадает </a:t>
            </a:r>
            <a:r>
              <a:rPr lang="ru-RU" b="1" dirty="0"/>
              <a:t>старое значение 9</a:t>
            </a:r>
            <a:r>
              <a:rPr lang="ru-RU" dirty="0"/>
              <a:t>, и только затем </a:t>
            </a:r>
            <a:r>
              <a:rPr lang="ru-RU" dirty="0" err="1"/>
              <a:t>points</a:t>
            </a:r>
            <a:r>
              <a:rPr lang="ru-RU" dirty="0"/>
              <a:t> становится равным 10.</a:t>
            </a:r>
          </a:p>
          <a:p>
            <a:r>
              <a:rPr lang="ru-RU" dirty="0"/>
              <a:t>То есть фактически условие проверяется как:</a:t>
            </a:r>
          </a:p>
          <a:p>
            <a:r>
              <a:rPr lang="ru-RU" dirty="0"/>
              <a:t>9 &gt;= 10</a:t>
            </a:r>
          </a:p>
          <a:p>
            <a:r>
              <a:rPr lang="ru-RU" dirty="0"/>
              <a:t>Это </a:t>
            </a:r>
            <a:r>
              <a:rPr lang="ru-RU" dirty="0" err="1"/>
              <a:t>false</a:t>
            </a:r>
            <a:r>
              <a:rPr lang="ru-RU" dirty="0"/>
              <a:t>.</a:t>
            </a:r>
          </a:p>
          <a:p>
            <a:endParaRPr lang="ru-RU" dirty="0"/>
          </a:p>
          <a:p>
            <a:r>
              <a:rPr lang="ru-RU" dirty="0"/>
              <a:t>Здесь используется </a:t>
            </a:r>
            <a:r>
              <a:rPr lang="ru-RU" b="1" dirty="0"/>
              <a:t>префиксный инкремент</a:t>
            </a:r>
            <a:r>
              <a:rPr lang="ru-RU" dirty="0"/>
              <a:t>:</a:t>
            </a:r>
          </a:p>
          <a:p>
            <a:r>
              <a:rPr lang="ru-RU" dirty="0"/>
              <a:t>++</a:t>
            </a:r>
            <a:r>
              <a:rPr lang="ru-RU" dirty="0" err="1"/>
              <a:t>points</a:t>
            </a:r>
            <a:endParaRPr lang="ru-RU" dirty="0"/>
          </a:p>
          <a:p>
            <a:r>
              <a:rPr lang="ru-RU" dirty="0"/>
              <a:t>Сначала </a:t>
            </a:r>
            <a:r>
              <a:rPr lang="ru-RU" dirty="0" err="1"/>
              <a:t>points</a:t>
            </a:r>
            <a:r>
              <a:rPr lang="ru-RU" dirty="0"/>
              <a:t> становится 10, затем выполняется сравнение.</a:t>
            </a:r>
          </a:p>
          <a:p>
            <a:endParaRPr lang="ru-RU" dirty="0"/>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10</a:t>
            </a:fld>
            <a:endParaRPr lang="ru-RU"/>
          </a:p>
        </p:txBody>
      </p:sp>
    </p:spTree>
    <p:extLst>
      <p:ext uri="{BB962C8B-B14F-4D97-AF65-F5344CB8AC3E}">
        <p14:creationId xmlns:p14="http://schemas.microsoft.com/office/powerpoint/2010/main" val="3017270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Что выведет программа?</a:t>
            </a:r>
          </a:p>
          <a:p>
            <a:r>
              <a:rPr lang="ru-RU" dirty="0"/>
              <a:t>Скидка предоставлена</a:t>
            </a:r>
          </a:p>
          <a:p>
            <a:r>
              <a:rPr lang="ru-RU" b="1" dirty="0"/>
              <a:t>Где ошибка?</a:t>
            </a:r>
          </a:p>
          <a:p>
            <a:r>
              <a:rPr lang="ru-RU" dirty="0"/>
              <a:t>Проблема в </a:t>
            </a:r>
            <a:r>
              <a:rPr lang="ru-RU" b="1" dirty="0"/>
              <a:t>приоритете логических операторов</a:t>
            </a:r>
            <a:r>
              <a:rPr lang="ru-RU" dirty="0"/>
              <a:t>.</a:t>
            </a:r>
          </a:p>
          <a:p>
            <a:r>
              <a:rPr lang="ru-RU" dirty="0"/>
              <a:t>В C# &amp;&amp; выполняется раньше ||.</a:t>
            </a:r>
          </a:p>
          <a:p>
            <a:r>
              <a:rPr lang="ru-RU" dirty="0"/>
              <a:t>Поэтому выражение:</a:t>
            </a:r>
          </a:p>
          <a:p>
            <a:r>
              <a:rPr lang="ru-RU" dirty="0" err="1"/>
              <a:t>age</a:t>
            </a:r>
            <a:r>
              <a:rPr lang="ru-RU" dirty="0"/>
              <a:t> &gt;= 18 &amp;&amp; </a:t>
            </a:r>
            <a:r>
              <a:rPr lang="ru-RU" dirty="0" err="1"/>
              <a:t>hasCard</a:t>
            </a:r>
            <a:r>
              <a:rPr lang="ru-RU" dirty="0"/>
              <a:t> || </a:t>
            </a:r>
            <a:r>
              <a:rPr lang="ru-RU" dirty="0" err="1"/>
              <a:t>total</a:t>
            </a:r>
            <a:r>
              <a:rPr lang="ru-RU" dirty="0"/>
              <a:t> &gt;= 5000 &amp;&amp; !</a:t>
            </a:r>
            <a:r>
              <a:rPr lang="ru-RU" dirty="0" err="1"/>
              <a:t>isBlocked</a:t>
            </a:r>
            <a:endParaRPr lang="ru-RU" dirty="0"/>
          </a:p>
          <a:p>
            <a:r>
              <a:rPr lang="ru-RU" dirty="0"/>
              <a:t>понимается как:</a:t>
            </a:r>
          </a:p>
          <a:p>
            <a:r>
              <a:rPr lang="ru-RU" dirty="0"/>
              <a:t>(</a:t>
            </a:r>
            <a:r>
              <a:rPr lang="ru-RU" dirty="0" err="1"/>
              <a:t>age</a:t>
            </a:r>
            <a:r>
              <a:rPr lang="ru-RU" dirty="0"/>
              <a:t> &gt;= 18 &amp;&amp; </a:t>
            </a:r>
            <a:r>
              <a:rPr lang="ru-RU" dirty="0" err="1"/>
              <a:t>hasCard</a:t>
            </a:r>
            <a:r>
              <a:rPr lang="ru-RU" dirty="0"/>
              <a:t>) || (</a:t>
            </a:r>
            <a:r>
              <a:rPr lang="ru-RU" dirty="0" err="1"/>
              <a:t>total</a:t>
            </a:r>
            <a:r>
              <a:rPr lang="ru-RU" dirty="0"/>
              <a:t> &gt;= 5000 &amp;&amp; !</a:t>
            </a:r>
            <a:r>
              <a:rPr lang="ru-RU" dirty="0" err="1"/>
              <a:t>isBlocked</a:t>
            </a:r>
            <a:r>
              <a:rPr lang="ru-RU" dirty="0"/>
              <a:t>)</a:t>
            </a:r>
          </a:p>
          <a:p>
            <a:r>
              <a:rPr lang="ru-RU" dirty="0"/>
              <a:t>Подставим значения:</a:t>
            </a:r>
          </a:p>
          <a:p>
            <a:r>
              <a:rPr lang="ru-RU" dirty="0"/>
              <a:t>(</a:t>
            </a:r>
            <a:r>
              <a:rPr lang="ru-RU" dirty="0" err="1"/>
              <a:t>false</a:t>
            </a:r>
            <a:r>
              <a:rPr lang="ru-RU" dirty="0"/>
              <a:t> &amp;&amp; </a:t>
            </a:r>
            <a:r>
              <a:rPr lang="ru-RU" dirty="0" err="1"/>
              <a:t>false</a:t>
            </a:r>
            <a:r>
              <a:rPr lang="ru-RU" dirty="0"/>
              <a:t>) || (</a:t>
            </a:r>
            <a:r>
              <a:rPr lang="ru-RU" dirty="0" err="1"/>
              <a:t>true</a:t>
            </a:r>
            <a:r>
              <a:rPr lang="ru-RU" dirty="0"/>
              <a:t> &amp;&amp; </a:t>
            </a:r>
            <a:r>
              <a:rPr lang="ru-RU" dirty="0" err="1"/>
              <a:t>true</a:t>
            </a:r>
            <a:r>
              <a:rPr lang="ru-RU" dirty="0"/>
              <a:t>) </a:t>
            </a:r>
            <a:r>
              <a:rPr lang="ru-RU" dirty="0" err="1"/>
              <a:t>false</a:t>
            </a:r>
            <a:r>
              <a:rPr lang="ru-RU" dirty="0"/>
              <a:t> || </a:t>
            </a:r>
            <a:r>
              <a:rPr lang="ru-RU" dirty="0" err="1"/>
              <a:t>true</a:t>
            </a:r>
            <a:r>
              <a:rPr lang="ru-RU" dirty="0"/>
              <a:t> </a:t>
            </a:r>
            <a:r>
              <a:rPr lang="ru-RU" dirty="0" err="1"/>
              <a:t>true</a:t>
            </a:r>
            <a:endParaRPr lang="ru-RU" dirty="0"/>
          </a:p>
          <a:p>
            <a:r>
              <a:rPr lang="ru-RU" dirty="0"/>
              <a:t>Поэтому условие выполняется.</a:t>
            </a:r>
          </a:p>
          <a:p>
            <a:r>
              <a:rPr lang="ru-RU" dirty="0"/>
              <a:t>Но по условию задачи совершеннолетие должно быть обязательным.</a:t>
            </a:r>
          </a:p>
          <a:p>
            <a:endParaRPr lang="ru-RU" dirty="0"/>
          </a:p>
          <a:p>
            <a:r>
              <a:rPr lang="ru-RU" dirty="0"/>
              <a:t>скобки желательно использовать для явного задания логики</a:t>
            </a:r>
          </a:p>
        </p:txBody>
      </p:sp>
      <p:sp>
        <p:nvSpPr>
          <p:cNvPr id="4" name="Номер слайда 3"/>
          <p:cNvSpPr>
            <a:spLocks noGrp="1"/>
          </p:cNvSpPr>
          <p:nvPr>
            <p:ph type="sldNum" sz="quarter" idx="5"/>
          </p:nvPr>
        </p:nvSpPr>
        <p:spPr/>
        <p:txBody>
          <a:bodyPr/>
          <a:lstStyle/>
          <a:p>
            <a:fld id="{960A12FE-C6B0-4A36-8412-08AC604C0D8A}" type="slidenum">
              <a:rPr lang="ru-RU" smtClean="0"/>
              <a:t>11</a:t>
            </a:fld>
            <a:endParaRPr lang="ru-RU"/>
          </a:p>
        </p:txBody>
      </p:sp>
    </p:spTree>
    <p:extLst>
      <p:ext uri="{BB962C8B-B14F-4D97-AF65-F5344CB8AC3E}">
        <p14:creationId xmlns:p14="http://schemas.microsoft.com/office/powerpoint/2010/main" val="596834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Что выведет программа?</a:t>
            </a:r>
          </a:p>
          <a:p>
            <a:r>
              <a:rPr lang="ru-RU" dirty="0"/>
              <a:t>Сначала происходит:</a:t>
            </a:r>
          </a:p>
          <a:p>
            <a:r>
              <a:rPr lang="ru-RU" dirty="0"/>
              <a:t>(</a:t>
            </a:r>
            <a:r>
              <a:rPr lang="ru-RU" dirty="0" err="1"/>
              <a:t>int</a:t>
            </a:r>
            <a:r>
              <a:rPr lang="ru-RU" dirty="0"/>
              <a:t>)</a:t>
            </a:r>
            <a:r>
              <a:rPr lang="ru-RU" dirty="0" err="1"/>
              <a:t>price</a:t>
            </a:r>
            <a:endParaRPr lang="ru-RU" dirty="0"/>
          </a:p>
          <a:p>
            <a:r>
              <a:rPr lang="ru-RU" dirty="0"/>
              <a:t>То есть:</a:t>
            </a:r>
          </a:p>
          <a:p>
            <a:r>
              <a:rPr lang="ru-RU" dirty="0"/>
              <a:t>99.9 → 99</a:t>
            </a:r>
          </a:p>
          <a:p>
            <a:r>
              <a:rPr lang="ru-RU" dirty="0"/>
              <a:t>После этого:</a:t>
            </a:r>
          </a:p>
          <a:p>
            <a:r>
              <a:rPr lang="ru-RU" dirty="0"/>
              <a:t>99 * 3 = 297</a:t>
            </a:r>
          </a:p>
          <a:p>
            <a:r>
              <a:rPr lang="ru-RU" dirty="0"/>
              <a:t>Результат:</a:t>
            </a:r>
          </a:p>
          <a:p>
            <a:r>
              <a:rPr lang="ru-RU" dirty="0"/>
              <a:t>Сумма слишком мала Итого: 297</a:t>
            </a:r>
          </a:p>
          <a:p>
            <a:r>
              <a:rPr lang="ru-RU" b="1" dirty="0"/>
              <a:t>Где логическая ошибка?</a:t>
            </a:r>
          </a:p>
          <a:p>
            <a:r>
              <a:rPr lang="ru-RU" dirty="0"/>
              <a:t>Приведение типа выполняется </a:t>
            </a:r>
            <a:r>
              <a:rPr lang="ru-RU" b="1" dirty="0"/>
              <a:t>слишком рано</a:t>
            </a:r>
            <a:r>
              <a:rPr lang="ru-RU" dirty="0"/>
              <a:t>.</a:t>
            </a:r>
          </a:p>
          <a:p>
            <a:r>
              <a:rPr lang="ru-RU" dirty="0"/>
              <a:t>Программист хотел сначала:</a:t>
            </a:r>
          </a:p>
          <a:p>
            <a:r>
              <a:rPr lang="ru-RU" dirty="0"/>
              <a:t>99.9 × 3 = 299.7</a:t>
            </a:r>
          </a:p>
          <a:p>
            <a:r>
              <a:rPr lang="ru-RU" dirty="0"/>
              <a:t>и только потом отбросить дробную часть:</a:t>
            </a:r>
          </a:p>
          <a:p>
            <a:r>
              <a:rPr lang="ru-RU" dirty="0"/>
              <a:t>299.7 → 299</a:t>
            </a:r>
          </a:p>
          <a:p>
            <a:endParaRPr lang="ru-RU" dirty="0"/>
          </a:p>
          <a:p>
            <a:r>
              <a:rPr lang="ru-RU" b="1" dirty="0"/>
              <a:t>Главное отличие</a:t>
            </a:r>
          </a:p>
          <a:p>
            <a:r>
              <a:rPr lang="ru-RU" dirty="0"/>
              <a:t>Неправильно:</a:t>
            </a:r>
          </a:p>
          <a:p>
            <a:r>
              <a:rPr lang="ru-RU" dirty="0"/>
              <a:t>(</a:t>
            </a:r>
            <a:r>
              <a:rPr lang="en-US" dirty="0"/>
              <a:t>int)price * count</a:t>
            </a:r>
          </a:p>
          <a:p>
            <a:r>
              <a:rPr lang="en-US" dirty="0"/>
              <a:t>(int)99.9 × 3 99 × 3 297</a:t>
            </a:r>
          </a:p>
          <a:p>
            <a:r>
              <a:rPr lang="ru-RU" dirty="0"/>
              <a:t>Правильно:</a:t>
            </a:r>
          </a:p>
          <a:p>
            <a:r>
              <a:rPr lang="ru-RU" dirty="0"/>
              <a:t>(</a:t>
            </a:r>
            <a:r>
              <a:rPr lang="en-US" dirty="0"/>
              <a:t>int)(price * count)</a:t>
            </a:r>
          </a:p>
          <a:p>
            <a:r>
              <a:rPr lang="en-US" dirty="0"/>
              <a:t>(int)(99.9 × 3) (int)299.7 299</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12</a:t>
            </a:fld>
            <a:endParaRPr lang="ru-RU"/>
          </a:p>
        </p:txBody>
      </p:sp>
    </p:spTree>
    <p:extLst>
      <p:ext uri="{BB962C8B-B14F-4D97-AF65-F5344CB8AC3E}">
        <p14:creationId xmlns:p14="http://schemas.microsoft.com/office/powerpoint/2010/main" val="1470319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Почему --</a:t>
            </a:r>
            <a:r>
              <a:rPr lang="ru-RU" b="1" dirty="0" err="1"/>
              <a:t>attempts</a:t>
            </a:r>
            <a:r>
              <a:rPr lang="ru-RU" b="1" dirty="0"/>
              <a:t> не выполнился?</a:t>
            </a:r>
          </a:p>
          <a:p>
            <a:r>
              <a:rPr lang="ru-RU" dirty="0"/>
              <a:t>Первое выражение:</a:t>
            </a:r>
          </a:p>
          <a:p>
            <a:r>
              <a:rPr lang="ru-RU" dirty="0" err="1"/>
              <a:t>input</a:t>
            </a:r>
            <a:r>
              <a:rPr lang="ru-RU" dirty="0"/>
              <a:t> == </a:t>
            </a:r>
            <a:r>
              <a:rPr lang="ru-RU" dirty="0" err="1"/>
              <a:t>password</a:t>
            </a:r>
            <a:endParaRPr lang="ru-RU" dirty="0"/>
          </a:p>
          <a:p>
            <a:r>
              <a:rPr lang="ru-RU" dirty="0"/>
              <a:t>равно:</a:t>
            </a:r>
          </a:p>
          <a:p>
            <a:r>
              <a:rPr lang="ru-RU" dirty="0" err="1"/>
              <a:t>true</a:t>
            </a:r>
            <a:endParaRPr lang="ru-RU" dirty="0"/>
          </a:p>
          <a:p>
            <a:r>
              <a:rPr lang="ru-RU" dirty="0"/>
              <a:t>Используется оператор:</a:t>
            </a:r>
          </a:p>
          <a:p>
            <a:r>
              <a:rPr lang="ru-RU" dirty="0"/>
              <a:t>||</a:t>
            </a:r>
          </a:p>
          <a:p>
            <a:r>
              <a:rPr lang="ru-RU" dirty="0"/>
              <a:t>При || C# применяет </a:t>
            </a:r>
            <a:r>
              <a:rPr lang="ru-RU" b="1" dirty="0"/>
              <a:t>ленивое вычисление</a:t>
            </a:r>
            <a:r>
              <a:rPr lang="ru-RU" dirty="0"/>
              <a:t>.</a:t>
            </a:r>
          </a:p>
          <a:p>
            <a:r>
              <a:rPr lang="ru-RU" dirty="0"/>
              <a:t>Если первая часть уже равна </a:t>
            </a:r>
            <a:r>
              <a:rPr lang="ru-RU" dirty="0" err="1"/>
              <a:t>true</a:t>
            </a:r>
            <a:r>
              <a:rPr lang="ru-RU" dirty="0"/>
              <a:t>, проверять вторую часть бессмысленно:</a:t>
            </a:r>
          </a:p>
          <a:p>
            <a:r>
              <a:rPr lang="ru-RU" dirty="0" err="1"/>
              <a:t>true</a:t>
            </a:r>
            <a:r>
              <a:rPr lang="ru-RU" dirty="0"/>
              <a:t> || </a:t>
            </a:r>
            <a:r>
              <a:rPr lang="ru-RU" dirty="0" err="1"/>
              <a:t>что_угодно</a:t>
            </a:r>
            <a:endParaRPr lang="ru-RU" dirty="0"/>
          </a:p>
          <a:p>
            <a:r>
              <a:rPr lang="ru-RU" dirty="0"/>
              <a:t>в любом случае даст:</a:t>
            </a:r>
          </a:p>
          <a:p>
            <a:r>
              <a:rPr lang="ru-RU" dirty="0" err="1"/>
              <a:t>true</a:t>
            </a:r>
            <a:endParaRPr lang="ru-RU" dirty="0"/>
          </a:p>
          <a:p>
            <a:r>
              <a:rPr lang="ru-RU" dirty="0"/>
              <a:t>Поэтому выражение:</a:t>
            </a:r>
          </a:p>
          <a:p>
            <a:r>
              <a:rPr lang="ru-RU" dirty="0"/>
              <a:t>--</a:t>
            </a:r>
            <a:r>
              <a:rPr lang="ru-RU" dirty="0" err="1"/>
              <a:t>attempts</a:t>
            </a:r>
            <a:endParaRPr lang="ru-RU" dirty="0"/>
          </a:p>
          <a:p>
            <a:r>
              <a:rPr lang="ru-RU" b="1" dirty="0"/>
              <a:t>вообще не выполняется</a:t>
            </a:r>
            <a:r>
              <a:rPr lang="ru-RU" dirty="0"/>
              <a:t>.</a:t>
            </a:r>
          </a:p>
          <a:p>
            <a:r>
              <a:rPr lang="ru-RU" b="1" dirty="0"/>
              <a:t>Как исправить, если попытку нужно уменьшать всегда?</a:t>
            </a:r>
          </a:p>
          <a:p>
            <a:r>
              <a:rPr lang="ru-RU" dirty="0"/>
              <a:t>Побочный эффект лучше вынести из логического выражения:</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13</a:t>
            </a:fld>
            <a:endParaRPr lang="ru-RU"/>
          </a:p>
        </p:txBody>
      </p:sp>
    </p:spTree>
    <p:extLst>
      <p:ext uri="{BB962C8B-B14F-4D97-AF65-F5344CB8AC3E}">
        <p14:creationId xmlns:p14="http://schemas.microsoft.com/office/powerpoint/2010/main" val="3044358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Что выведет программа?</a:t>
            </a:r>
          </a:p>
          <a:p>
            <a:r>
              <a:rPr lang="ru-RU" dirty="0"/>
              <a:t>После:</a:t>
            </a:r>
          </a:p>
          <a:p>
            <a:r>
              <a:rPr lang="ru-RU" dirty="0" err="1"/>
              <a:t>int</a:t>
            </a:r>
            <a:r>
              <a:rPr lang="ru-RU" dirty="0"/>
              <a:t> </a:t>
            </a:r>
            <a:r>
              <a:rPr lang="ru-RU" dirty="0" err="1"/>
              <a:t>score</a:t>
            </a:r>
            <a:r>
              <a:rPr lang="ru-RU" dirty="0"/>
              <a:t> = </a:t>
            </a:r>
            <a:r>
              <a:rPr lang="ru-RU" dirty="0" err="1"/>
              <a:t>int.Parse</a:t>
            </a:r>
            <a:r>
              <a:rPr lang="ru-RU" dirty="0"/>
              <a:t>(</a:t>
            </a:r>
            <a:r>
              <a:rPr lang="ru-RU" dirty="0" err="1"/>
              <a:t>input</a:t>
            </a:r>
            <a:r>
              <a:rPr lang="ru-RU" dirty="0"/>
              <a:t>);</a:t>
            </a:r>
          </a:p>
          <a:p>
            <a:r>
              <a:rPr lang="ru-RU" dirty="0"/>
              <a:t>получаем:</a:t>
            </a:r>
          </a:p>
          <a:p>
            <a:r>
              <a:rPr lang="ru-RU" dirty="0"/>
              <a:t>80</a:t>
            </a:r>
          </a:p>
          <a:p>
            <a:r>
              <a:rPr lang="ru-RU" dirty="0"/>
              <a:t>После составного присваивания:</a:t>
            </a:r>
          </a:p>
          <a:p>
            <a:r>
              <a:rPr lang="ru-RU" dirty="0" err="1"/>
              <a:t>score</a:t>
            </a:r>
            <a:r>
              <a:rPr lang="ru-RU" dirty="0"/>
              <a:t> += 5;</a:t>
            </a:r>
          </a:p>
          <a:p>
            <a:r>
              <a:rPr lang="ru-RU" dirty="0"/>
              <a:t>получаем:</a:t>
            </a:r>
          </a:p>
          <a:p>
            <a:r>
              <a:rPr lang="ru-RU" dirty="0"/>
              <a:t>85</a:t>
            </a:r>
          </a:p>
          <a:p>
            <a:r>
              <a:rPr lang="ru-RU" dirty="0"/>
              <a:t>Но программа выводит:</a:t>
            </a:r>
          </a:p>
          <a:p>
            <a:r>
              <a:rPr lang="ru-RU" dirty="0"/>
              <a:t>Баллы: 85 Результат: Удовлетворительно</a:t>
            </a:r>
          </a:p>
          <a:p>
            <a:r>
              <a:rPr lang="ru-RU" b="1" dirty="0"/>
              <a:t>Почему?</a:t>
            </a:r>
          </a:p>
          <a:p>
            <a:r>
              <a:rPr lang="ru-RU" dirty="0"/>
              <a:t>В цепочке </a:t>
            </a:r>
            <a:r>
              <a:rPr lang="ru-RU" dirty="0" err="1"/>
              <a:t>if</a:t>
            </a:r>
            <a:r>
              <a:rPr lang="ru-RU" dirty="0"/>
              <a:t> / </a:t>
            </a:r>
            <a:r>
              <a:rPr lang="ru-RU" dirty="0" err="1"/>
              <a:t>else</a:t>
            </a:r>
            <a:r>
              <a:rPr lang="ru-RU" dirty="0"/>
              <a:t> </a:t>
            </a:r>
            <a:r>
              <a:rPr lang="ru-RU" dirty="0" err="1"/>
              <a:t>if</a:t>
            </a:r>
            <a:r>
              <a:rPr lang="ru-RU" dirty="0"/>
              <a:t> программа выполняет </a:t>
            </a:r>
            <a:r>
              <a:rPr lang="ru-RU" b="1" dirty="0"/>
              <a:t>первый подходящий блок</a:t>
            </a:r>
            <a:r>
              <a:rPr lang="ru-RU" dirty="0"/>
              <a:t>.</a:t>
            </a:r>
          </a:p>
          <a:p>
            <a:r>
              <a:rPr lang="ru-RU" dirty="0"/>
              <a:t>Первое же условие:</a:t>
            </a:r>
          </a:p>
          <a:p>
            <a:r>
              <a:rPr lang="ru-RU" dirty="0" err="1"/>
              <a:t>score</a:t>
            </a:r>
            <a:r>
              <a:rPr lang="ru-RU" dirty="0"/>
              <a:t> &gt;= 60</a:t>
            </a:r>
          </a:p>
          <a:p>
            <a:r>
              <a:rPr lang="ru-RU" dirty="0"/>
              <a:t>для 85 истинно.</a:t>
            </a:r>
          </a:p>
          <a:p>
            <a:r>
              <a:rPr lang="ru-RU" dirty="0"/>
              <a:t>Поэтому следующие условия уже даже не проверяются:</a:t>
            </a:r>
          </a:p>
          <a:p>
            <a:r>
              <a:rPr lang="ru-RU" dirty="0" err="1"/>
              <a:t>score</a:t>
            </a:r>
            <a:r>
              <a:rPr lang="ru-RU" dirty="0"/>
              <a:t> &gt;= 75 </a:t>
            </a:r>
            <a:r>
              <a:rPr lang="ru-RU" dirty="0" err="1"/>
              <a:t>score</a:t>
            </a:r>
            <a:r>
              <a:rPr lang="ru-RU" dirty="0"/>
              <a:t> &gt;= 90</a:t>
            </a:r>
          </a:p>
          <a:p>
            <a:endParaRPr lang="ru-RU" dirty="0"/>
          </a:p>
          <a:p>
            <a:r>
              <a:rPr lang="ru-RU" b="1" dirty="0"/>
              <a:t>Исправленный вариант</a:t>
            </a:r>
          </a:p>
          <a:p>
            <a:r>
              <a:rPr lang="ru-RU" dirty="0"/>
              <a:t>Условия нужно располагать </a:t>
            </a:r>
            <a:r>
              <a:rPr lang="ru-RU" b="1" dirty="0"/>
              <a:t>от самого строгого к самому широкому</a:t>
            </a:r>
            <a:r>
              <a:rPr lang="ru-RU" dirty="0"/>
              <a:t>:</a:t>
            </a:r>
          </a:p>
          <a:p>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14</a:t>
            </a:fld>
            <a:endParaRPr lang="ru-RU"/>
          </a:p>
        </p:txBody>
      </p:sp>
    </p:spTree>
    <p:extLst>
      <p:ext uri="{BB962C8B-B14F-4D97-AF65-F5344CB8AC3E}">
        <p14:creationId xmlns:p14="http://schemas.microsoft.com/office/powerpoint/2010/main" val="1631455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Вопрос</a:t>
            </a:r>
          </a:p>
          <a:p>
            <a:r>
              <a:rPr lang="ru-RU" dirty="0"/>
              <a:t>Что выведет программа?</a:t>
            </a:r>
          </a:p>
          <a:p>
            <a:r>
              <a:rPr lang="ru-RU" b="1" dirty="0"/>
              <a:t>Ответ</a:t>
            </a:r>
          </a:p>
          <a:p>
            <a:r>
              <a:rPr lang="ru-RU" b="1" dirty="0"/>
              <a:t>Ничего. Код не скомпилируется.</a:t>
            </a:r>
            <a:endParaRPr lang="ru-RU" dirty="0"/>
          </a:p>
          <a:p>
            <a:r>
              <a:rPr lang="ru-RU" dirty="0" err="1"/>
              <a:t>input</a:t>
            </a:r>
            <a:r>
              <a:rPr lang="ru-RU" dirty="0"/>
              <a:t> имеет тип:</a:t>
            </a:r>
          </a:p>
          <a:p>
            <a:r>
              <a:rPr lang="ru-RU" dirty="0" err="1"/>
              <a:t>string</a:t>
            </a:r>
            <a:endParaRPr lang="ru-RU" dirty="0"/>
          </a:p>
          <a:p>
            <a:r>
              <a:rPr lang="ru-RU" dirty="0"/>
              <a:t>а значения </a:t>
            </a:r>
            <a:r>
              <a:rPr lang="ru-RU" dirty="0" err="1"/>
              <a:t>case</a:t>
            </a:r>
            <a:r>
              <a:rPr lang="ru-RU" dirty="0"/>
              <a:t>:</a:t>
            </a:r>
          </a:p>
          <a:p>
            <a:r>
              <a:rPr lang="ru-RU" dirty="0"/>
              <a:t>1 2 3</a:t>
            </a:r>
          </a:p>
          <a:p>
            <a:r>
              <a:rPr lang="ru-RU" dirty="0"/>
              <a:t>имеют тип:</a:t>
            </a:r>
          </a:p>
          <a:p>
            <a:r>
              <a:rPr lang="ru-RU" dirty="0" err="1"/>
              <a:t>int</a:t>
            </a:r>
            <a:endParaRPr lang="ru-RU" dirty="0"/>
          </a:p>
          <a:p>
            <a:r>
              <a:rPr lang="ru-RU" b="1" dirty="0"/>
              <a:t>несовпадение типов</a:t>
            </a:r>
            <a:r>
              <a:rPr lang="ru-RU" dirty="0"/>
              <a:t>.</a:t>
            </a:r>
          </a:p>
          <a:p>
            <a:endParaRPr lang="ru-RU" dirty="0"/>
          </a:p>
          <a:p>
            <a:r>
              <a:rPr lang="ru-RU" dirty="0"/>
              <a:t>Исправление №1 — преобразовать строку в </a:t>
            </a:r>
            <a:r>
              <a:rPr lang="ru-RU" dirty="0" err="1"/>
              <a:t>int</a:t>
            </a:r>
            <a:endParaRPr lang="ru-RU" dirty="0"/>
          </a:p>
          <a:p>
            <a:r>
              <a:rPr lang="ru-RU" dirty="0"/>
              <a:t>Исправление №2 — оставить </a:t>
            </a:r>
            <a:r>
              <a:rPr lang="en-US" dirty="0"/>
              <a:t>string</a:t>
            </a:r>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15</a:t>
            </a:fld>
            <a:endParaRPr lang="ru-RU"/>
          </a:p>
        </p:txBody>
      </p:sp>
    </p:spTree>
    <p:extLst>
      <p:ext uri="{BB962C8B-B14F-4D97-AF65-F5344CB8AC3E}">
        <p14:creationId xmlns:p14="http://schemas.microsoft.com/office/powerpoint/2010/main" val="1643993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Здесь в одной небольшой задаче одновременно используются:</a:t>
            </a:r>
          </a:p>
          <a:p>
            <a:r>
              <a:rPr lang="ru-RU" dirty="0" err="1"/>
              <a:t>string</a:t>
            </a:r>
            <a:r>
              <a:rPr lang="ru-RU" dirty="0"/>
              <a:t> → </a:t>
            </a:r>
            <a:r>
              <a:rPr lang="ru-RU" dirty="0" err="1"/>
              <a:t>int</a:t>
            </a:r>
            <a:r>
              <a:rPr lang="ru-RU" dirty="0"/>
              <a:t> </a:t>
            </a:r>
          </a:p>
          <a:p>
            <a:r>
              <a:rPr lang="ru-RU" dirty="0" err="1"/>
              <a:t>switch</a:t>
            </a:r>
            <a:r>
              <a:rPr lang="ru-RU" dirty="0"/>
              <a:t> </a:t>
            </a:r>
          </a:p>
          <a:p>
            <a:r>
              <a:rPr lang="ru-RU" dirty="0" err="1"/>
              <a:t>if</a:t>
            </a:r>
            <a:r>
              <a:rPr lang="ru-RU" dirty="0"/>
              <a:t> </a:t>
            </a:r>
          </a:p>
          <a:p>
            <a:r>
              <a:rPr lang="ru-RU" dirty="0"/>
              <a:t>сравнение </a:t>
            </a:r>
          </a:p>
          <a:p>
            <a:r>
              <a:rPr lang="ru-RU" dirty="0"/>
              <a:t>составное присваивание -= </a:t>
            </a:r>
          </a:p>
          <a:p>
            <a:r>
              <a:rPr lang="ru-RU" dirty="0"/>
              <a:t>неявное преобразование </a:t>
            </a:r>
            <a:r>
              <a:rPr lang="ru-RU" dirty="0" err="1"/>
              <a:t>int</a:t>
            </a:r>
            <a:r>
              <a:rPr lang="ru-RU" dirty="0"/>
              <a:t> → </a:t>
            </a:r>
            <a:r>
              <a:rPr lang="ru-RU" dirty="0" err="1"/>
              <a:t>double</a:t>
            </a:r>
            <a:endParaRPr lang="ru-RU" dirty="0"/>
          </a:p>
        </p:txBody>
      </p:sp>
      <p:sp>
        <p:nvSpPr>
          <p:cNvPr id="4" name="Номер слайда 3"/>
          <p:cNvSpPr>
            <a:spLocks noGrp="1"/>
          </p:cNvSpPr>
          <p:nvPr>
            <p:ph type="sldNum" sz="quarter" idx="5"/>
          </p:nvPr>
        </p:nvSpPr>
        <p:spPr/>
        <p:txBody>
          <a:bodyPr/>
          <a:lstStyle/>
          <a:p>
            <a:fld id="{960A12FE-C6B0-4A36-8412-08AC604C0D8A}" type="slidenum">
              <a:rPr lang="ru-RU" smtClean="0"/>
              <a:t>16</a:t>
            </a:fld>
            <a:endParaRPr lang="ru-RU"/>
          </a:p>
        </p:txBody>
      </p:sp>
    </p:spTree>
    <p:extLst>
      <p:ext uri="{BB962C8B-B14F-4D97-AF65-F5344CB8AC3E}">
        <p14:creationId xmlns:p14="http://schemas.microsoft.com/office/powerpoint/2010/main" val="796879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a:t>какое значение участвует в сравнении</a:t>
            </a:r>
            <a:r>
              <a:rPr lang="ru-RU" dirty="0"/>
              <a:t>, затем — какое значение </a:t>
            </a:r>
            <a:r>
              <a:rPr lang="ru-RU" dirty="0" err="1"/>
              <a:t>points</a:t>
            </a:r>
            <a:r>
              <a:rPr lang="ru-RU" dirty="0"/>
              <a:t> уже имеет внутри выбранной ветки.</a:t>
            </a:r>
          </a:p>
        </p:txBody>
      </p:sp>
      <p:sp>
        <p:nvSpPr>
          <p:cNvPr id="4" name="Номер слайда 3"/>
          <p:cNvSpPr>
            <a:spLocks noGrp="1"/>
          </p:cNvSpPr>
          <p:nvPr>
            <p:ph type="sldNum" sz="quarter" idx="5"/>
          </p:nvPr>
        </p:nvSpPr>
        <p:spPr/>
        <p:txBody>
          <a:bodyPr/>
          <a:lstStyle/>
          <a:p>
            <a:fld id="{960A12FE-C6B0-4A36-8412-08AC604C0D8A}" type="slidenum">
              <a:rPr lang="ru-RU" smtClean="0"/>
              <a:t>19</a:t>
            </a:fld>
            <a:endParaRPr lang="ru-RU"/>
          </a:p>
        </p:txBody>
      </p:sp>
    </p:spTree>
    <p:extLst>
      <p:ext uri="{BB962C8B-B14F-4D97-AF65-F5344CB8AC3E}">
        <p14:creationId xmlns:p14="http://schemas.microsoft.com/office/powerpoint/2010/main" val="2674364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Выведет баллы приняты.</a:t>
            </a:r>
          </a:p>
          <a:p>
            <a:r>
              <a:rPr lang="ru-RU" dirty="0"/>
              <a:t>Число некорректно, если оно </a:t>
            </a:r>
            <a:r>
              <a:rPr lang="ru-RU" b="1" dirty="0"/>
              <a:t>либо меньше 0, либо больше 100</a:t>
            </a:r>
            <a:r>
              <a:rPr lang="ru-RU" dirty="0"/>
              <a:t>.</a:t>
            </a:r>
          </a:p>
        </p:txBody>
      </p:sp>
      <p:sp>
        <p:nvSpPr>
          <p:cNvPr id="4" name="Номер слайда 3"/>
          <p:cNvSpPr>
            <a:spLocks noGrp="1"/>
          </p:cNvSpPr>
          <p:nvPr>
            <p:ph type="sldNum" sz="quarter" idx="5"/>
          </p:nvPr>
        </p:nvSpPr>
        <p:spPr/>
        <p:txBody>
          <a:bodyPr/>
          <a:lstStyle/>
          <a:p>
            <a:fld id="{960A12FE-C6B0-4A36-8412-08AC604C0D8A}" type="slidenum">
              <a:rPr lang="ru-RU" smtClean="0"/>
              <a:t>20</a:t>
            </a:fld>
            <a:endParaRPr lang="ru-RU"/>
          </a:p>
        </p:txBody>
      </p:sp>
    </p:spTree>
    <p:extLst>
      <p:ext uri="{BB962C8B-B14F-4D97-AF65-F5344CB8AC3E}">
        <p14:creationId xmlns:p14="http://schemas.microsoft.com/office/powerpoint/2010/main" val="3724619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Титульный слайд" type="title" userDrawn="1">
  <p:cSld name="Титульный слайд">
    <p:spTree>
      <p:nvGrpSpPr>
        <p:cNvPr id="1" name=""/>
        <p:cNvGrpSpPr/>
        <p:nvPr/>
      </p:nvGrpSpPr>
      <p:grpSpPr bwMode="auto">
        <a:xfrm>
          <a:off x="0" y="0"/>
          <a:ext cx="0" cy="0"/>
          <a:chOff x="0" y="0"/>
          <a:chExt cx="0" cy="0"/>
        </a:xfrm>
      </p:grpSpPr>
      <p:sp>
        <p:nvSpPr>
          <p:cNvPr id="16" name="Google Shape;16;p2"/>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 name="Google Shape;17;p2"/>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8" name="Google Shape;18;p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 name="Google Shape;19;p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 name="Google Shape;20;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976197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Заголовок и объект" type="obj" userDrawn="1">
  <p:cSld name="Заголовок и объект">
    <p:spTree>
      <p:nvGrpSpPr>
        <p:cNvPr id="1" name=""/>
        <p:cNvGrpSpPr/>
        <p:nvPr/>
      </p:nvGrpSpPr>
      <p:grpSpPr bwMode="auto">
        <a:xfrm>
          <a:off x="0" y="0"/>
          <a:ext cx="0" cy="0"/>
          <a:chOff x="0" y="0"/>
          <a:chExt cx="0" cy="0"/>
        </a:xfrm>
      </p:grpSpPr>
      <p:sp>
        <p:nvSpPr>
          <p:cNvPr id="22" name="Google Shape;22;p3"/>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 name="Google Shape;23;p3"/>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4" name="Google Shape;24;p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 name="Google Shape;25;p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 name="Google Shape;26;p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414460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Заголовок раздела" type="secHead" userDrawn="1">
  <p:cSld name="Заголовок раздела">
    <p:spTree>
      <p:nvGrpSpPr>
        <p:cNvPr id="1" name=""/>
        <p:cNvGrpSpPr/>
        <p:nvPr/>
      </p:nvGrpSpPr>
      <p:grpSpPr bwMode="auto">
        <a:xfrm>
          <a:off x="0" y="0"/>
          <a:ext cx="0" cy="0"/>
          <a:chOff x="0" y="0"/>
          <a:chExt cx="0" cy="0"/>
        </a:xfrm>
      </p:grpSpPr>
      <p:sp>
        <p:nvSpPr>
          <p:cNvPr id="28" name="Google Shape;28;p4"/>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 name="Google Shape;29;p4"/>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30" name="Google Shape;30;p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1" name="Google Shape;31;p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 name="Google Shape;32;p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628367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Два объекта" type="twoObj" userDrawn="1">
  <p:cSld name="Два объекта">
    <p:spTree>
      <p:nvGrpSpPr>
        <p:cNvPr id="1" name=""/>
        <p:cNvGrpSpPr/>
        <p:nvPr/>
      </p:nvGrpSpPr>
      <p:grpSpPr bwMode="auto">
        <a:xfrm>
          <a:off x="0" y="0"/>
          <a:ext cx="0" cy="0"/>
          <a:chOff x="0" y="0"/>
          <a:chExt cx="0" cy="0"/>
        </a:xfrm>
      </p:grpSpPr>
      <p:sp>
        <p:nvSpPr>
          <p:cNvPr id="34" name="Google Shape;34;p5"/>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 name="Google Shape;35;p5"/>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6" name="Google Shape;36;p5"/>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7" name="Google Shape;37;p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8" name="Google Shape;38;p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 name="Google Shape;39;p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875657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Сравнение" type="twoTxTwoObj" userDrawn="1">
  <p:cSld name="Сравнение">
    <p:spTree>
      <p:nvGrpSpPr>
        <p:cNvPr id="1" name=""/>
        <p:cNvGrpSpPr/>
        <p:nvPr/>
      </p:nvGrpSpPr>
      <p:grpSpPr bwMode="auto">
        <a:xfrm>
          <a:off x="0" y="0"/>
          <a:ext cx="0" cy="0"/>
          <a:chOff x="0" y="0"/>
          <a:chExt cx="0" cy="0"/>
        </a:xfrm>
      </p:grpSpPr>
      <p:sp>
        <p:nvSpPr>
          <p:cNvPr id="41" name="Google Shape;41;p6"/>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2" name="Google Shape;42;p6"/>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3" name="Google Shape;43;p6"/>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4" name="Google Shape;44;p6"/>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5" name="Google Shape;45;p6"/>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6" name="Google Shape;46;p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7" name="Google Shape;47;p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 name="Google Shape;48;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25134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Только заголовок" type="titleOnly" userDrawn="1">
  <p:cSld name="Только заголовок">
    <p:spTree>
      <p:nvGrpSpPr>
        <p:cNvPr id="1" name=""/>
        <p:cNvGrpSpPr/>
        <p:nvPr/>
      </p:nvGrpSpPr>
      <p:grpSpPr bwMode="auto">
        <a:xfrm>
          <a:off x="0" y="0"/>
          <a:ext cx="0" cy="0"/>
          <a:chOff x="0" y="0"/>
          <a:chExt cx="0" cy="0"/>
        </a:xfrm>
      </p:grpSpPr>
      <p:sp>
        <p:nvSpPr>
          <p:cNvPr id="50" name="Google Shape;50;p7"/>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1" name="Google Shape;51;p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 name="Google Shape;52;p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 name="Google Shape;53;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609189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Пустой слайд" type="blank" userDrawn="1">
  <p:cSld name="Пустой слайд">
    <p:spTree>
      <p:nvGrpSpPr>
        <p:cNvPr id="1" name=""/>
        <p:cNvGrpSpPr/>
        <p:nvPr/>
      </p:nvGrpSpPr>
      <p:grpSpPr bwMode="auto">
        <a:xfrm>
          <a:off x="0" y="0"/>
          <a:ext cx="0" cy="0"/>
          <a:chOff x="0" y="0"/>
          <a:chExt cx="0" cy="0"/>
        </a:xfrm>
      </p:grpSpPr>
      <p:sp>
        <p:nvSpPr>
          <p:cNvPr id="55" name="Google Shape;55;p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6" name="Google Shape;56;p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7" name="Google Shape;57;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29725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Объект с подписью" type="objTx" userDrawn="1">
  <p:cSld name="Объект с подписью">
    <p:spTree>
      <p:nvGrpSpPr>
        <p:cNvPr id="1" name=""/>
        <p:cNvGrpSpPr/>
        <p:nvPr/>
      </p:nvGrpSpPr>
      <p:grpSpPr bwMode="auto">
        <a:xfrm>
          <a:off x="0" y="0"/>
          <a:ext cx="0" cy="0"/>
          <a:chOff x="0" y="0"/>
          <a:chExt cx="0" cy="0"/>
        </a:xfrm>
      </p:grpSpPr>
      <p:sp>
        <p:nvSpPr>
          <p:cNvPr id="59" name="Google Shape;59;p9"/>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 name="Google Shape;60;p9"/>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61" name="Google Shape;61;p9"/>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2" name="Google Shape;62;p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3" name="Google Shape;63;p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4" name="Google Shape;6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109726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Рисунок с подписью" type="picTx" userDrawn="1">
  <p:cSld name="Рисунок с подписью">
    <p:spTree>
      <p:nvGrpSpPr>
        <p:cNvPr id="1" name=""/>
        <p:cNvGrpSpPr/>
        <p:nvPr/>
      </p:nvGrpSpPr>
      <p:grpSpPr bwMode="auto">
        <a:xfrm>
          <a:off x="0" y="0"/>
          <a:ext cx="0" cy="0"/>
          <a:chOff x="0" y="0"/>
          <a:chExt cx="0" cy="0"/>
        </a:xfrm>
      </p:grpSpPr>
      <p:sp>
        <p:nvSpPr>
          <p:cNvPr id="66" name="Google Shape;66;p10"/>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 name="Google Shape;67;p10"/>
          <p:cNvSpPr>
            <a:spLocks noGrp="1"/>
          </p:cNvSpPr>
          <p:nvPr>
            <p:ph type="pic" idx="2"/>
          </p:nvPr>
        </p:nvSpPr>
        <p:spPr bwMode="auto">
          <a:xfrm>
            <a:off x="5183188" y="987425"/>
            <a:ext cx="6172200" cy="4873625"/>
          </a:xfrm>
          <a:prstGeom prst="rect">
            <a:avLst/>
          </a:prstGeom>
          <a:noFill/>
          <a:ln>
            <a:noFill/>
          </a:ln>
        </p:spPr>
      </p:sp>
      <p:sp>
        <p:nvSpPr>
          <p:cNvPr id="68" name="Google Shape;68;p10"/>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9" name="Google Shape;69;p1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0" name="Google Shape;70;p1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1" name="Google Shape;71;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756104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Заголовок и вертикальный текст" type="vertTx" userDrawn="1">
  <p:cSld name="Заголовок и вертикальный текст">
    <p:spTree>
      <p:nvGrpSpPr>
        <p:cNvPr id="1" name=""/>
        <p:cNvGrpSpPr/>
        <p:nvPr/>
      </p:nvGrpSpPr>
      <p:grpSpPr bwMode="auto">
        <a:xfrm>
          <a:off x="0" y="0"/>
          <a:ext cx="0" cy="0"/>
          <a:chOff x="0" y="0"/>
          <a:chExt cx="0" cy="0"/>
        </a:xfrm>
      </p:grpSpPr>
      <p:sp>
        <p:nvSpPr>
          <p:cNvPr id="73" name="Google Shape;73;p1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 name="Google Shape;74;p11"/>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75" name="Google Shape;75;p1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6" name="Google Shape;76;p1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 name="Google Shape;77;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038887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Вертикальный заголовок и текст" type="vertTitleAndTx" userDrawn="1">
  <p:cSld name="Вертикальный заголовок и текст">
    <p:spTree>
      <p:nvGrpSpPr>
        <p:cNvPr id="1" name=""/>
        <p:cNvGrpSpPr/>
        <p:nvPr/>
      </p:nvGrpSpPr>
      <p:grpSpPr bwMode="auto">
        <a:xfrm>
          <a:off x="0" y="0"/>
          <a:ext cx="0" cy="0"/>
          <a:chOff x="0" y="0"/>
          <a:chExt cx="0" cy="0"/>
        </a:xfrm>
      </p:grpSpPr>
      <p:sp>
        <p:nvSpPr>
          <p:cNvPr id="79" name="Google Shape;79;p12"/>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0" name="Google Shape;80;p12"/>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81" name="Google Shape;81;p1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2" name="Google Shape;82;p1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3" name="Google Shape;8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4069119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0" name="Google Shape;10;p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1" name="Google Shape;11;p1"/>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2" name="Google Shape;12;p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3" name="Google Shape;13;p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4" name="Google Shape;14;p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77779659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3">
            <a:alphaModFix/>
          </a:blip>
          <a:stretch/>
        </a:blipFill>
        <a:effectLst/>
      </p:bgPr>
    </p:bg>
    <p:spTree>
      <p:nvGrpSpPr>
        <p:cNvPr id="1" name=""/>
        <p:cNvGrpSpPr/>
        <p:nvPr/>
      </p:nvGrpSpPr>
      <p:grpSpPr bwMode="auto">
        <a:xfrm>
          <a:off x="0" y="0"/>
          <a:ext cx="0" cy="0"/>
          <a:chOff x="0" y="0"/>
          <a:chExt cx="0" cy="0"/>
        </a:xfrm>
      </p:grpSpPr>
      <p:sp>
        <p:nvSpPr>
          <p:cNvPr id="88" name="Google Shape;88;p13"/>
          <p:cNvSpPr txBox="1"/>
          <p:nvPr/>
        </p:nvSpPr>
        <p:spPr bwMode="auto">
          <a:xfrm>
            <a:off x="3633585" y="2233926"/>
            <a:ext cx="8558415"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000" b="1" i="0" u="none" strike="noStrike" kern="0" cap="none" spc="0" normalizeH="0" baseline="0" noProof="0" dirty="0">
                <a:ln>
                  <a:noFill/>
                </a:ln>
                <a:solidFill>
                  <a:srgbClr val="283CF5"/>
                </a:solidFill>
                <a:effectLst/>
                <a:uLnTx/>
                <a:uFillTx/>
                <a:latin typeface="Arial"/>
                <a:cs typeface="Arial"/>
              </a:rPr>
              <a:t>Условные конструкции</a:t>
            </a:r>
          </a:p>
        </p:txBody>
      </p:sp>
      <p:sp>
        <p:nvSpPr>
          <p:cNvPr id="92" name="Google Shape;92;p13"/>
          <p:cNvSpPr txBox="1"/>
          <p:nvPr/>
        </p:nvSpPr>
        <p:spPr bwMode="auto">
          <a:xfrm>
            <a:off x="3722075" y="5189207"/>
            <a:ext cx="7885206"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400" b="0" i="0" u="none" strike="noStrike" kern="0" cap="none" spc="0" normalizeH="0" baseline="0" noProof="0" dirty="0">
                <a:ln>
                  <a:noFill/>
                </a:ln>
                <a:solidFill>
                  <a:srgbClr val="FFFFFF"/>
                </a:solidFill>
                <a:effectLst/>
                <a:uLnTx/>
                <a:uFillTx/>
                <a:latin typeface="Arial"/>
                <a:cs typeface="Arial"/>
              </a:rPr>
              <a:t>Преподаватель: Евдошенко Неля </a:t>
            </a:r>
            <a:r>
              <a:rPr kumimoji="0" lang="ru-RU" sz="2400" b="0" i="0" u="none" strike="noStrike" kern="0" cap="none" spc="0" normalizeH="0" baseline="0" noProof="0" dirty="0" err="1">
                <a:ln>
                  <a:noFill/>
                </a:ln>
                <a:solidFill>
                  <a:srgbClr val="FFFFFF"/>
                </a:solidFill>
                <a:effectLst/>
                <a:uLnTx/>
                <a:uFillTx/>
                <a:latin typeface="Arial"/>
                <a:cs typeface="Arial"/>
              </a:rPr>
              <a:t>Ильнуровна</a:t>
            </a:r>
            <a:endParaRPr kumimoji="0" sz="1050" b="0" i="0" u="none" strike="noStrike" kern="0" cap="none" spc="0" normalizeH="0" baseline="0" noProof="0" dirty="0">
              <a:ln>
                <a:noFill/>
              </a:ln>
              <a:solidFill>
                <a:srgbClr val="000000"/>
              </a:solidFill>
              <a:effectLst/>
              <a:uLnTx/>
              <a:uFillTx/>
              <a:latin typeface="Arial"/>
              <a:cs typeface="Arial"/>
            </a:endParaRPr>
          </a:p>
        </p:txBody>
      </p:sp>
      <p:sp>
        <p:nvSpPr>
          <p:cNvPr id="93" name="Google Shape;93;p13"/>
          <p:cNvSpPr txBox="1"/>
          <p:nvPr/>
        </p:nvSpPr>
        <p:spPr bwMode="auto">
          <a:xfrm>
            <a:off x="3722075" y="3290820"/>
            <a:ext cx="8146463" cy="107717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Дисциплина: Основы алгоритмизации и программирования</a:t>
            </a:r>
            <a:endParaRPr kumimoji="0" sz="1200" b="0" i="0" u="none" strike="noStrike" kern="0" cap="none" spc="0" normalizeH="0" baseline="0" noProof="0" dirty="0">
              <a:ln>
                <a:noFill/>
              </a:ln>
              <a:solidFill>
                <a:srgbClr val="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descr="preencoded.png">
            <a:extLst>
              <a:ext uri="{FF2B5EF4-FFF2-40B4-BE49-F238E27FC236}">
                <a16:creationId xmlns:a16="http://schemas.microsoft.com/office/drawing/2014/main" id="{D3D14B7A-67F6-6356-6A02-4AD56427AE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5255" y="2157883"/>
            <a:ext cx="3932616" cy="3525162"/>
          </a:xfrm>
          <a:prstGeom prst="rect">
            <a:avLst/>
          </a:prstGeom>
        </p:spPr>
      </p:pic>
      <p:pic>
        <p:nvPicPr>
          <p:cNvPr id="13" name="Image 0" descr="preencoded.png">
            <a:extLst>
              <a:ext uri="{FF2B5EF4-FFF2-40B4-BE49-F238E27FC236}">
                <a16:creationId xmlns:a16="http://schemas.microsoft.com/office/drawing/2014/main" id="{5AC817FB-4DE9-5DBB-329C-B70973265B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0939" y="2157883"/>
            <a:ext cx="3707048" cy="3525162"/>
          </a:xfrm>
          <a:prstGeom prst="rect">
            <a:avLst/>
          </a:prstGeom>
        </p:spPr>
      </p:pic>
      <p:pic>
        <p:nvPicPr>
          <p:cNvPr id="12" name="Image 0" descr="preencoded.png">
            <a:extLst>
              <a:ext uri="{FF2B5EF4-FFF2-40B4-BE49-F238E27FC236}">
                <a16:creationId xmlns:a16="http://schemas.microsoft.com/office/drawing/2014/main" id="{EDACF0DE-DC4D-62DB-E61A-27D2C62FC1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129" y="2157883"/>
            <a:ext cx="3579229" cy="3525162"/>
          </a:xfrm>
          <a:prstGeom prst="rect">
            <a:avLst/>
          </a:prstGeom>
        </p:spPr>
      </p:pic>
      <p:sp>
        <p:nvSpPr>
          <p:cNvPr id="4" name="Text 0">
            <a:extLst>
              <a:ext uri="{FF2B5EF4-FFF2-40B4-BE49-F238E27FC236}">
                <a16:creationId xmlns:a16="http://schemas.microsoft.com/office/drawing/2014/main" id="{693873EB-5C59-EB6C-DB85-026CE3469D89}"/>
              </a:ext>
            </a:extLst>
          </p:cNvPr>
          <p:cNvSpPr/>
          <p:nvPr/>
        </p:nvSpPr>
        <p:spPr>
          <a:xfrm>
            <a:off x="2440394" y="169537"/>
            <a:ext cx="8196114" cy="389706"/>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Основы логики: Почему программе нужно выбирать</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1A393E62-780E-228D-7AA7-1EA0E89A278A}"/>
              </a:ext>
            </a:extLst>
          </p:cNvPr>
          <p:cNvSpPr/>
          <p:nvPr/>
        </p:nvSpPr>
        <p:spPr>
          <a:xfrm>
            <a:off x="621427" y="696895"/>
            <a:ext cx="11305102" cy="1052287"/>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Любая программа, выходящая за рамки простейших вычислений, неизбежно сталкивается с необходимостью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принимать решения</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Линейное </a:t>
            </a:r>
            <a:r>
              <a:rPr lang="en-US" sz="1600" dirty="0" err="1">
                <a:solidFill>
                  <a:srgbClr val="3B3535"/>
                </a:solidFill>
                <a:latin typeface="Times New Roman" panose="02020603050405020304" pitchFamily="18" charset="0"/>
                <a:ea typeface="Sora Light" pitchFamily="34" charset="-122"/>
                <a:cs typeface="Times New Roman" panose="02020603050405020304" pitchFamily="18" charset="0"/>
              </a:rPr>
              <a:t>выполнение</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6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когда инструкции исполняются строго одна за </a:t>
            </a:r>
            <a:r>
              <a:rPr lang="en-US" sz="1600" dirty="0" err="1">
                <a:solidFill>
                  <a:srgbClr val="3B3535"/>
                </a:solidFill>
                <a:latin typeface="Times New Roman" panose="02020603050405020304" pitchFamily="18" charset="0"/>
                <a:ea typeface="Sora Light" pitchFamily="34" charset="-122"/>
                <a:cs typeface="Times New Roman" panose="02020603050405020304" pitchFamily="18" charset="0"/>
              </a:rPr>
              <a:t>другой</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6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достаточно лишь для тривиальных задач. Реальный мир требует реакции на внешние события, пользовательский ввод, состояние системы и множество других переменных.</a:t>
            </a:r>
            <a:endParaRPr lang="en-US" sz="1600" dirty="0">
              <a:latin typeface="Times New Roman" panose="02020603050405020304" pitchFamily="18" charset="0"/>
              <a:cs typeface="Times New Roman" panose="02020603050405020304" pitchFamily="18" charset="0"/>
            </a:endParaRPr>
          </a:p>
        </p:txBody>
      </p:sp>
      <p:sp>
        <p:nvSpPr>
          <p:cNvPr id="6" name="Text 2">
            <a:extLst>
              <a:ext uri="{FF2B5EF4-FFF2-40B4-BE49-F238E27FC236}">
                <a16:creationId xmlns:a16="http://schemas.microsoft.com/office/drawing/2014/main" id="{C0BAA819-CF8C-3F7E-955C-18CE25148C6C}"/>
              </a:ext>
            </a:extLst>
          </p:cNvPr>
          <p:cNvSpPr/>
          <p:nvPr/>
        </p:nvSpPr>
        <p:spPr>
          <a:xfrm>
            <a:off x="579213" y="2226709"/>
            <a:ext cx="3256619" cy="863270"/>
          </a:xfrm>
          <a:prstGeom prst="rect">
            <a:avLst/>
          </a:prstGeom>
          <a:noFill/>
          <a:ln/>
        </p:spPr>
        <p:txBody>
          <a:bodyPr wrap="square" lIns="0" tIns="0" rIns="0" bIns="0" rtlCol="0" anchor="t">
            <a:noAutofit/>
          </a:bodyPr>
          <a:lstStyle/>
          <a:p>
            <a:pPr marL="0" indent="0" algn="l">
              <a:lnSpc>
                <a:spcPct val="104000"/>
              </a:lnSpc>
              <a:buNone/>
            </a:pPr>
            <a:r>
              <a:rPr lang="en-US" sz="1600" b="1" dirty="0">
                <a:solidFill>
                  <a:srgbClr val="3B3535"/>
                </a:solidFill>
                <a:latin typeface="Times New Roman" panose="02020603050405020304" pitchFamily="18" charset="0"/>
                <a:ea typeface="Alexandria SemiBold" pitchFamily="34" charset="-122"/>
                <a:cs typeface="Times New Roman" panose="02020603050405020304" pitchFamily="18" charset="0"/>
              </a:rPr>
              <a:t>Программа как алгоритм выбора</a:t>
            </a:r>
            <a:endParaRPr lang="en-US" sz="1600" b="1" dirty="0">
              <a:latin typeface="Times New Roman" panose="02020603050405020304" pitchFamily="18" charset="0"/>
              <a:cs typeface="Times New Roman" panose="02020603050405020304" pitchFamily="18" charset="0"/>
            </a:endParaRPr>
          </a:p>
        </p:txBody>
      </p:sp>
      <p:sp>
        <p:nvSpPr>
          <p:cNvPr id="7" name="Text 3">
            <a:extLst>
              <a:ext uri="{FF2B5EF4-FFF2-40B4-BE49-F238E27FC236}">
                <a16:creationId xmlns:a16="http://schemas.microsoft.com/office/drawing/2014/main" id="{9924C2C1-E879-2B93-9C41-B3D7F586FCC8}"/>
              </a:ext>
            </a:extLst>
          </p:cNvPr>
          <p:cNvSpPr/>
          <p:nvPr/>
        </p:nvSpPr>
        <p:spPr>
          <a:xfrm>
            <a:off x="579213" y="2687407"/>
            <a:ext cx="3256619" cy="3359432"/>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Представьте навигатор: он не просто показывает маршрут, а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реагирует на пробки, аварии и предпочтения водителя</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Именно условные конструкции превращают статичный код в динамическую, адаптивную систему. Без них программа была бы слепа к окружающему контексту.</a:t>
            </a:r>
            <a:endParaRPr lang="en-US" sz="160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F5BBD7C4-BB5A-11E1-B134-AE73ADD16700}"/>
              </a:ext>
            </a:extLst>
          </p:cNvPr>
          <p:cNvSpPr/>
          <p:nvPr/>
        </p:nvSpPr>
        <p:spPr>
          <a:xfrm>
            <a:off x="4258187" y="2157883"/>
            <a:ext cx="2889866" cy="389632"/>
          </a:xfrm>
          <a:prstGeom prst="rect">
            <a:avLst/>
          </a:prstGeom>
          <a:noFill/>
          <a:ln/>
        </p:spPr>
        <p:txBody>
          <a:bodyPr wrap="square" lIns="0" tIns="0" rIns="0" bIns="0" rtlCol="0" anchor="t">
            <a:noAutofit/>
          </a:bodyPr>
          <a:lstStyle/>
          <a:p>
            <a:pPr marL="0" indent="0" algn="l">
              <a:lnSpc>
                <a:spcPct val="104000"/>
              </a:lnSpc>
              <a:buNone/>
            </a:pPr>
            <a:r>
              <a:rPr lang="en-US" sz="1600" b="1" dirty="0">
                <a:solidFill>
                  <a:srgbClr val="3B3535"/>
                </a:solidFill>
                <a:latin typeface="Times New Roman" panose="02020603050405020304" pitchFamily="18" charset="0"/>
                <a:ea typeface="Alexandria SemiBold" pitchFamily="34" charset="-122"/>
                <a:cs typeface="Times New Roman" panose="02020603050405020304" pitchFamily="18" charset="0"/>
              </a:rPr>
              <a:t>Роль условий в реальных приложениях</a:t>
            </a:r>
            <a:endParaRPr lang="en-US" sz="1600" b="1"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1D91987F-646F-B178-FB09-38AA625D280F}"/>
              </a:ext>
            </a:extLst>
          </p:cNvPr>
          <p:cNvSpPr/>
          <p:nvPr/>
        </p:nvSpPr>
        <p:spPr>
          <a:xfrm>
            <a:off x="4336026" y="2687407"/>
            <a:ext cx="3274142" cy="2627979"/>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Авторизация пользователя, проверка баланса счёта, валидация формы, обработка </a:t>
            </a:r>
            <a:r>
              <a:rPr lang="en-US" sz="1600" dirty="0" err="1">
                <a:solidFill>
                  <a:srgbClr val="3B3535"/>
                </a:solidFill>
                <a:latin typeface="Times New Roman" panose="02020603050405020304" pitchFamily="18" charset="0"/>
                <a:ea typeface="Sora Light" pitchFamily="34" charset="-122"/>
                <a:cs typeface="Times New Roman" panose="02020603050405020304" pitchFamily="18" charset="0"/>
              </a:rPr>
              <a:t>ошибок</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6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все эти сценарии требуют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анализа данных в момент выполнения</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Результат работы программы зависит от того, что введёт пользователь, что вернёт база данных или какой статус имеет текущая сессия.</a:t>
            </a:r>
            <a:endParaRPr lang="en-US" sz="1600" dirty="0">
              <a:latin typeface="Times New Roman" panose="02020603050405020304" pitchFamily="18" charset="0"/>
              <a:cs typeface="Times New Roman" panose="02020603050405020304" pitchFamily="18" charset="0"/>
            </a:endParaRPr>
          </a:p>
        </p:txBody>
      </p:sp>
      <p:sp>
        <p:nvSpPr>
          <p:cNvPr id="10" name="Text 6">
            <a:extLst>
              <a:ext uri="{FF2B5EF4-FFF2-40B4-BE49-F238E27FC236}">
                <a16:creationId xmlns:a16="http://schemas.microsoft.com/office/drawing/2014/main" id="{18FBF938-4017-4638-071B-AA82668B48E0}"/>
              </a:ext>
            </a:extLst>
          </p:cNvPr>
          <p:cNvSpPr/>
          <p:nvPr/>
        </p:nvSpPr>
        <p:spPr>
          <a:xfrm>
            <a:off x="8110362" y="2226709"/>
            <a:ext cx="3502425" cy="669005"/>
          </a:xfrm>
          <a:prstGeom prst="rect">
            <a:avLst/>
          </a:prstGeom>
          <a:noFill/>
          <a:ln/>
        </p:spPr>
        <p:txBody>
          <a:bodyPr wrap="square" lIns="0" tIns="0" rIns="0" bIns="0" rtlCol="0" anchor="t">
            <a:noAutofit/>
          </a:bodyPr>
          <a:lstStyle/>
          <a:p>
            <a:pPr marL="0" indent="0" algn="l">
              <a:lnSpc>
                <a:spcPct val="104000"/>
              </a:lnSpc>
              <a:buNone/>
            </a:pPr>
            <a:r>
              <a:rPr lang="en-US" sz="1600" b="1" dirty="0">
                <a:solidFill>
                  <a:srgbClr val="3B3535"/>
                </a:solidFill>
                <a:latin typeface="Times New Roman" panose="02020603050405020304" pitchFamily="18" charset="0"/>
                <a:ea typeface="Alexandria SemiBold" pitchFamily="34" charset="-122"/>
                <a:cs typeface="Times New Roman" panose="02020603050405020304" pitchFamily="18" charset="0"/>
              </a:rPr>
              <a:t>Boolean-выражения: язык истины и лжи</a:t>
            </a:r>
            <a:endParaRPr lang="en-US" sz="1600" b="1"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75BF0404-54F7-403D-43A8-2C4BA1A1EB7E}"/>
              </a:ext>
            </a:extLst>
          </p:cNvPr>
          <p:cNvSpPr/>
          <p:nvPr/>
        </p:nvSpPr>
        <p:spPr>
          <a:xfrm>
            <a:off x="8110362" y="2687407"/>
            <a:ext cx="3502425" cy="2627979"/>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Компьютер «мыслит» в терминах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true (истина)</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и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false (ложь)</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Любое условие в C# должно в конечном счёте сводиться к значению типа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bool</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Это может быть прямое сравнение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x &gt; 0</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результат вызова метода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IsActive()</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или комбинация выражений через логические операторы.</a:t>
            </a:r>
            <a:endParaRPr lang="en-US" sz="1600" dirty="0">
              <a:latin typeface="Times New Roman" panose="02020603050405020304" pitchFamily="18" charset="0"/>
              <a:cs typeface="Times New Roman" panose="02020603050405020304" pitchFamily="18" charset="0"/>
            </a:endParaRPr>
          </a:p>
        </p:txBody>
      </p:sp>
      <p:sp>
        <p:nvSpPr>
          <p:cNvPr id="15" name="Shape 8">
            <a:extLst>
              <a:ext uri="{FF2B5EF4-FFF2-40B4-BE49-F238E27FC236}">
                <a16:creationId xmlns:a16="http://schemas.microsoft.com/office/drawing/2014/main" id="{6E9BB38E-C7A7-A7C3-71ED-BEB5F40E6C26}"/>
              </a:ext>
            </a:extLst>
          </p:cNvPr>
          <p:cNvSpPr/>
          <p:nvPr/>
        </p:nvSpPr>
        <p:spPr>
          <a:xfrm>
            <a:off x="1309684" y="5834611"/>
            <a:ext cx="9454163" cy="741752"/>
          </a:xfrm>
          <a:prstGeom prst="roundRect">
            <a:avLst>
              <a:gd name="adj" fmla="val 7395"/>
            </a:avLst>
          </a:prstGeom>
          <a:solidFill>
            <a:srgbClr val="D5DCF6"/>
          </a:solidFill>
          <a:ln/>
        </p:spPr>
      </p:sp>
      <p:pic>
        <p:nvPicPr>
          <p:cNvPr id="16" name="Image 3" descr="preencoded.png">
            <a:extLst>
              <a:ext uri="{FF2B5EF4-FFF2-40B4-BE49-F238E27FC236}">
                <a16:creationId xmlns:a16="http://schemas.microsoft.com/office/drawing/2014/main" id="{3EC9BEE4-944D-9BC2-49E1-ED28B57EFB77}"/>
              </a:ext>
            </a:extLst>
          </p:cNvPr>
          <p:cNvPicPr>
            <a:picLocks noChangeAspect="1"/>
          </p:cNvPicPr>
          <p:nvPr/>
        </p:nvPicPr>
        <p:blipFill>
          <a:blip r:embed="rId5"/>
          <a:stretch>
            <a:fillRect/>
          </a:stretch>
        </p:blipFill>
        <p:spPr>
          <a:xfrm>
            <a:off x="1428152" y="6002862"/>
            <a:ext cx="223668" cy="178934"/>
          </a:xfrm>
          <a:prstGeom prst="rect">
            <a:avLst/>
          </a:prstGeom>
        </p:spPr>
      </p:pic>
      <p:sp>
        <p:nvSpPr>
          <p:cNvPr id="17" name="Text 9">
            <a:extLst>
              <a:ext uri="{FF2B5EF4-FFF2-40B4-BE49-F238E27FC236}">
                <a16:creationId xmlns:a16="http://schemas.microsoft.com/office/drawing/2014/main" id="{69F701A8-DFD5-9C22-09D8-297DE711A844}"/>
              </a:ext>
            </a:extLst>
          </p:cNvPr>
          <p:cNvSpPr/>
          <p:nvPr/>
        </p:nvSpPr>
        <p:spPr>
          <a:xfrm>
            <a:off x="1694703" y="5927033"/>
            <a:ext cx="8845477" cy="580503"/>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Boolean-</a:t>
            </a:r>
            <a:r>
              <a:rPr lang="en-US" sz="1400" dirty="0" err="1">
                <a:solidFill>
                  <a:srgbClr val="000000"/>
                </a:solidFill>
                <a:latin typeface="Times New Roman" panose="02020603050405020304" pitchFamily="18" charset="0"/>
                <a:ea typeface="Sora Light" pitchFamily="34" charset="-122"/>
                <a:cs typeface="Times New Roman" panose="02020603050405020304" pitchFamily="18" charset="0"/>
              </a:rPr>
              <a:t>выражение</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a:t>
            </a:r>
            <a:r>
              <a:rPr lang="ru-RU" sz="1400" dirty="0">
                <a:solidFill>
                  <a:srgbClr val="000000"/>
                </a:solidFill>
                <a:latin typeface="Times New Roman" panose="02020603050405020304" pitchFamily="18" charset="0"/>
                <a:ea typeface="Sora Light" pitchFamily="34" charset="-122"/>
                <a:cs typeface="Times New Roman" panose="02020603050405020304" pitchFamily="18" charset="0"/>
              </a:rPr>
              <a:t>-</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это любое выражение, которое возвращает значение типа </a:t>
            </a:r>
            <a:r>
              <a:rPr lang="en-US" sz="1400" dirty="0">
                <a:solidFill>
                  <a:srgbClr val="000000"/>
                </a:solidFill>
                <a:highlight>
                  <a:srgbClr val="F2EDED"/>
                </a:highlight>
                <a:latin typeface="Times New Roman" panose="02020603050405020304" pitchFamily="18" charset="0"/>
                <a:ea typeface="Consolas" pitchFamily="34" charset="-122"/>
                <a:cs typeface="Times New Roman" panose="02020603050405020304" pitchFamily="18" charset="0"/>
              </a:rPr>
              <a:t>bool</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Именно оно стоит в условии конструкции </a:t>
            </a:r>
            <a:r>
              <a:rPr lang="en-US" sz="1400" dirty="0">
                <a:solidFill>
                  <a:srgbClr val="000000"/>
                </a:solidFill>
                <a:highlight>
                  <a:srgbClr val="F2EDED"/>
                </a:highlight>
                <a:latin typeface="Times New Roman" panose="02020603050405020304" pitchFamily="18" charset="0"/>
                <a:ea typeface="Consolas" pitchFamily="34" charset="-122"/>
                <a:cs typeface="Times New Roman" panose="02020603050405020304" pitchFamily="18" charset="0"/>
              </a:rPr>
              <a:t>if</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цикла </a:t>
            </a:r>
            <a:r>
              <a:rPr lang="en-US" sz="1400" dirty="0">
                <a:solidFill>
                  <a:srgbClr val="000000"/>
                </a:solidFill>
                <a:highlight>
                  <a:srgbClr val="F2EDED"/>
                </a:highlight>
                <a:latin typeface="Times New Roman" panose="02020603050405020304" pitchFamily="18" charset="0"/>
                <a:ea typeface="Consolas" pitchFamily="34" charset="-122"/>
                <a:cs typeface="Times New Roman" panose="02020603050405020304" pitchFamily="18" charset="0"/>
              </a:rPr>
              <a:t>while</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и других управляющих структур.</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5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554AC25-EDCA-0F53-18FA-F0762EB4F92E}"/>
              </a:ext>
            </a:extLst>
          </p:cNvPr>
          <p:cNvSpPr/>
          <p:nvPr/>
        </p:nvSpPr>
        <p:spPr>
          <a:xfrm>
            <a:off x="2334274" y="139799"/>
            <a:ext cx="8196114" cy="316706"/>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Базовый инструмент: Конструкция if</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6241E146-737F-AB7D-EB6E-F46604624492}"/>
              </a:ext>
            </a:extLst>
          </p:cNvPr>
          <p:cNvSpPr/>
          <p:nvPr/>
        </p:nvSpPr>
        <p:spPr>
          <a:xfrm>
            <a:off x="473942" y="802109"/>
            <a:ext cx="11402747" cy="1058222"/>
          </a:xfrm>
          <a:prstGeom prst="rect">
            <a:avLst/>
          </a:prstGeom>
          <a:noFill/>
          <a:ln/>
        </p:spPr>
        <p:txBody>
          <a:bodyPr wrap="square" lIns="0" tIns="0" rIns="0" bIns="0" rtlCol="0" anchor="t">
            <a:noAutofit/>
          </a:bodyPr>
          <a:lstStyle/>
          <a:p>
            <a:pPr marL="0" indent="0" algn="l">
              <a:lnSpc>
                <a:spcPct val="121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Конструкция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if</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6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это первый и наиболее фундаментальный инструмент ветвления в C#. Она позволяет выполнить блок кода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только тогда, когда определённое условие истинно</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Если условие </a:t>
            </a:r>
            <a:r>
              <a:rPr lang="en-US" sz="1600" dirty="0" err="1">
                <a:solidFill>
                  <a:srgbClr val="3B3535"/>
                </a:solidFill>
                <a:latin typeface="Times New Roman" panose="02020603050405020304" pitchFamily="18" charset="0"/>
                <a:ea typeface="Sora Light" pitchFamily="34" charset="-122"/>
                <a:cs typeface="Times New Roman" panose="02020603050405020304" pitchFamily="18" charset="0"/>
              </a:rPr>
              <a:t>ложно</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6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программа просто пропускает этот блок и продолжает выполнение со следующей строки.</a:t>
            </a:r>
            <a:endParaRPr lang="en-US" sz="1600" dirty="0">
              <a:latin typeface="Times New Roman" panose="02020603050405020304" pitchFamily="18" charset="0"/>
              <a:cs typeface="Times New Roman" panose="02020603050405020304" pitchFamily="18" charset="0"/>
            </a:endParaRPr>
          </a:p>
        </p:txBody>
      </p:sp>
      <p:sp>
        <p:nvSpPr>
          <p:cNvPr id="4" name="Shape 2">
            <a:extLst>
              <a:ext uri="{FF2B5EF4-FFF2-40B4-BE49-F238E27FC236}">
                <a16:creationId xmlns:a16="http://schemas.microsoft.com/office/drawing/2014/main" id="{872DE69E-977C-AF8A-A149-2D26F215F684}"/>
              </a:ext>
            </a:extLst>
          </p:cNvPr>
          <p:cNvSpPr/>
          <p:nvPr/>
        </p:nvSpPr>
        <p:spPr>
          <a:xfrm>
            <a:off x="473942" y="1762610"/>
            <a:ext cx="4665617" cy="4955591"/>
          </a:xfrm>
          <a:prstGeom prst="roundRect">
            <a:avLst>
              <a:gd name="adj" fmla="val 1904"/>
            </a:avLst>
          </a:prstGeom>
          <a:solidFill>
            <a:srgbClr val="E7EEF9"/>
          </a:solidFill>
          <a:ln/>
        </p:spPr>
      </p:sp>
      <p:sp>
        <p:nvSpPr>
          <p:cNvPr id="5" name="Text 3">
            <a:extLst>
              <a:ext uri="{FF2B5EF4-FFF2-40B4-BE49-F238E27FC236}">
                <a16:creationId xmlns:a16="http://schemas.microsoft.com/office/drawing/2014/main" id="{6FD454D9-4AC3-BACF-7AEC-E44C71C6F129}"/>
              </a:ext>
            </a:extLst>
          </p:cNvPr>
          <p:cNvSpPr/>
          <p:nvPr/>
        </p:nvSpPr>
        <p:spPr>
          <a:xfrm>
            <a:off x="570160" y="1840819"/>
            <a:ext cx="3926904" cy="158279"/>
          </a:xfrm>
          <a:prstGeom prst="rect">
            <a:avLst/>
          </a:prstGeom>
          <a:noFill/>
          <a:ln/>
        </p:spPr>
        <p:txBody>
          <a:bodyPr wrap="none" lIns="0" tIns="0" rIns="0" bIns="0" rtlCol="0" anchor="t"/>
          <a:lstStyle/>
          <a:p>
            <a:pPr marL="0" indent="0" algn="l">
              <a:lnSpc>
                <a:spcPct val="104000"/>
              </a:lnSpc>
              <a:buNone/>
            </a:pPr>
            <a:r>
              <a:rPr lang="en-US" sz="1600" b="1" dirty="0">
                <a:solidFill>
                  <a:srgbClr val="1F1E1E"/>
                </a:solidFill>
                <a:latin typeface="Times New Roman" panose="02020603050405020304" pitchFamily="18" charset="0"/>
                <a:ea typeface="Alexandria SemiBold" pitchFamily="34" charset="-122"/>
                <a:cs typeface="Times New Roman" panose="02020603050405020304" pitchFamily="18" charset="0"/>
              </a:rPr>
              <a:t>Синтаксис конструкции if</a:t>
            </a:r>
            <a:endParaRPr lang="en-US" sz="1600" b="1" dirty="0">
              <a:latin typeface="Times New Roman" panose="02020603050405020304" pitchFamily="18" charset="0"/>
              <a:cs typeface="Times New Roman" panose="02020603050405020304" pitchFamily="18" charset="0"/>
            </a:endParaRPr>
          </a:p>
        </p:txBody>
      </p:sp>
      <p:sp>
        <p:nvSpPr>
          <p:cNvPr id="6" name="Shape 4">
            <a:extLst>
              <a:ext uri="{FF2B5EF4-FFF2-40B4-BE49-F238E27FC236}">
                <a16:creationId xmlns:a16="http://schemas.microsoft.com/office/drawing/2014/main" id="{0BD6670D-BCDA-A45C-FEA6-DD3A2CE5832E}"/>
              </a:ext>
            </a:extLst>
          </p:cNvPr>
          <p:cNvSpPr/>
          <p:nvPr/>
        </p:nvSpPr>
        <p:spPr>
          <a:xfrm>
            <a:off x="570160" y="2087054"/>
            <a:ext cx="3926904" cy="1696669"/>
          </a:xfrm>
          <a:prstGeom prst="roundRect">
            <a:avLst>
              <a:gd name="adj" fmla="val 4200"/>
            </a:avLst>
          </a:prstGeom>
          <a:solidFill>
            <a:srgbClr val="DAE1EC"/>
          </a:solidFill>
          <a:ln/>
        </p:spPr>
      </p:sp>
      <p:sp>
        <p:nvSpPr>
          <p:cNvPr id="7" name="Text 5">
            <a:extLst>
              <a:ext uri="{FF2B5EF4-FFF2-40B4-BE49-F238E27FC236}">
                <a16:creationId xmlns:a16="http://schemas.microsoft.com/office/drawing/2014/main" id="{38EE2CE2-5B92-0823-D1FA-26CA398B669F}"/>
              </a:ext>
            </a:extLst>
          </p:cNvPr>
          <p:cNvSpPr/>
          <p:nvPr/>
        </p:nvSpPr>
        <p:spPr>
          <a:xfrm>
            <a:off x="685650" y="2183272"/>
            <a:ext cx="3695923" cy="770186"/>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if (условие)</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 Код выполняется,</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 если условие истинно</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3361BE43-C092-C0AF-505E-766AF4C50A2A}"/>
              </a:ext>
            </a:extLst>
          </p:cNvPr>
          <p:cNvSpPr/>
          <p:nvPr/>
        </p:nvSpPr>
        <p:spPr>
          <a:xfrm>
            <a:off x="570160" y="3884305"/>
            <a:ext cx="4338295" cy="974598"/>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Условие обязательно заключается в круглые скобки. Фигурные скобки для тела обязательны при наличии нескольких операторов, но рекомендуются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всегда</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4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даже для одной строки.</a:t>
            </a:r>
            <a:endParaRPr lang="en-US" sz="140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97796ED5-578A-6ADB-C921-67C454FAC99F}"/>
              </a:ext>
            </a:extLst>
          </p:cNvPr>
          <p:cNvSpPr/>
          <p:nvPr/>
        </p:nvSpPr>
        <p:spPr>
          <a:xfrm>
            <a:off x="570160" y="5045111"/>
            <a:ext cx="3926904" cy="158279"/>
          </a:xfrm>
          <a:prstGeom prst="rect">
            <a:avLst/>
          </a:prstGeom>
          <a:noFill/>
          <a:ln/>
        </p:spPr>
        <p:txBody>
          <a:bodyPr wrap="none" lIns="0" tIns="0" rIns="0" bIns="0" rtlCol="0" anchor="t"/>
          <a:lstStyle/>
          <a:p>
            <a:pPr marL="0" indent="0" algn="l">
              <a:lnSpc>
                <a:spcPct val="104000"/>
              </a:lnSpc>
              <a:buNone/>
            </a:pPr>
            <a:r>
              <a:rPr lang="en-US" sz="1400" dirty="0">
                <a:solidFill>
                  <a:srgbClr val="1F1E1E"/>
                </a:solidFill>
                <a:latin typeface="Times New Roman" panose="02020603050405020304" pitchFamily="18" charset="0"/>
                <a:ea typeface="Alexandria SemiBold" pitchFamily="34" charset="-122"/>
                <a:cs typeface="Times New Roman" panose="02020603050405020304" pitchFamily="18" charset="0"/>
              </a:rPr>
              <a:t>Пример: проверка возраста</a:t>
            </a:r>
            <a:endParaRPr lang="en-US" sz="1400" dirty="0">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9126F8D4-0327-3D40-A611-D03B894EDB64}"/>
              </a:ext>
            </a:extLst>
          </p:cNvPr>
          <p:cNvSpPr/>
          <p:nvPr/>
        </p:nvSpPr>
        <p:spPr>
          <a:xfrm>
            <a:off x="570160" y="5291347"/>
            <a:ext cx="3926904" cy="1319660"/>
          </a:xfrm>
          <a:prstGeom prst="roundRect">
            <a:avLst>
              <a:gd name="adj" fmla="val 4200"/>
            </a:avLst>
          </a:prstGeom>
          <a:solidFill>
            <a:srgbClr val="DAE1EC"/>
          </a:solidFill>
          <a:ln/>
        </p:spPr>
      </p:sp>
      <p:sp>
        <p:nvSpPr>
          <p:cNvPr id="11" name="Text 9">
            <a:extLst>
              <a:ext uri="{FF2B5EF4-FFF2-40B4-BE49-F238E27FC236}">
                <a16:creationId xmlns:a16="http://schemas.microsoft.com/office/drawing/2014/main" id="{45D0488A-1D4D-C283-FEFE-A77B4E94D5C8}"/>
              </a:ext>
            </a:extLst>
          </p:cNvPr>
          <p:cNvSpPr/>
          <p:nvPr/>
        </p:nvSpPr>
        <p:spPr>
          <a:xfrm>
            <a:off x="685650" y="5264566"/>
            <a:ext cx="3695923" cy="1450104"/>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int age = 18;</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(age &gt;= 18)</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Console.WriteLine("Доступ разрешён");</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2C692B16-B7E3-D25E-6CCC-DE03A8FF55D6}"/>
              </a:ext>
            </a:extLst>
          </p:cNvPr>
          <p:cNvSpPr/>
          <p:nvPr/>
        </p:nvSpPr>
        <p:spPr>
          <a:xfrm>
            <a:off x="7616064" y="1702052"/>
            <a:ext cx="3980631" cy="158279"/>
          </a:xfrm>
          <a:prstGeom prst="rect">
            <a:avLst/>
          </a:prstGeom>
          <a:noFill/>
          <a:ln/>
        </p:spPr>
        <p:txBody>
          <a:bodyPr wrap="none" lIns="0" tIns="0" rIns="0" bIns="0" rtlCol="0" anchor="t"/>
          <a:lstStyle/>
          <a:p>
            <a:pPr marL="0" indent="0" algn="l">
              <a:lnSpc>
                <a:spcPct val="104000"/>
              </a:lnSpc>
              <a:buNone/>
            </a:pPr>
            <a:r>
              <a:rPr lang="en-US" sz="1600" b="1" dirty="0">
                <a:latin typeface="Times New Roman" panose="02020603050405020304" pitchFamily="18" charset="0"/>
                <a:ea typeface="Alexandria SemiBold" pitchFamily="34" charset="-122"/>
                <a:cs typeface="Times New Roman" panose="02020603050405020304" pitchFamily="18" charset="0"/>
              </a:rPr>
              <a:t>Когда использовать if?</a:t>
            </a:r>
            <a:endParaRPr lang="en-US" sz="1600" b="1"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33CD8969-9893-324B-A7A2-BE9AB981FE22}"/>
              </a:ext>
            </a:extLst>
          </p:cNvPr>
          <p:cNvSpPr/>
          <p:nvPr/>
        </p:nvSpPr>
        <p:spPr>
          <a:xfrm>
            <a:off x="6039512" y="1948288"/>
            <a:ext cx="5837177" cy="701505"/>
          </a:xfrm>
          <a:prstGeom prst="rect">
            <a:avLst/>
          </a:prstGeom>
          <a:noFill/>
          <a:ln/>
        </p:spPr>
        <p:txBody>
          <a:bodyPr wrap="square" lIns="0" tIns="0" rIns="0" bIns="0" rtlCol="0" anchor="t">
            <a:noAutofit/>
          </a:bodyPr>
          <a:lstStyle/>
          <a:p>
            <a:pPr marL="0" indent="0" algn="l">
              <a:lnSpc>
                <a:spcPct val="121000"/>
              </a:lnSpc>
              <a:buNone/>
            </a:pPr>
            <a:r>
              <a:rPr lang="en-US" sz="1400" dirty="0">
                <a:latin typeface="Times New Roman" panose="02020603050405020304" pitchFamily="18" charset="0"/>
                <a:ea typeface="Sora Light" pitchFamily="34" charset="-122"/>
                <a:cs typeface="Times New Roman" panose="02020603050405020304" pitchFamily="18" charset="0"/>
              </a:rPr>
              <a:t>Конструкция </a:t>
            </a:r>
            <a:r>
              <a:rPr lang="en-US" sz="1400" dirty="0">
                <a:highlight>
                  <a:srgbClr val="F2EDED"/>
                </a:highlight>
                <a:latin typeface="Times New Roman" panose="02020603050405020304" pitchFamily="18" charset="0"/>
                <a:ea typeface="Consolas" pitchFamily="34" charset="-122"/>
                <a:cs typeface="Times New Roman" panose="02020603050405020304" pitchFamily="18" charset="0"/>
              </a:rPr>
              <a:t>if</a:t>
            </a:r>
            <a:r>
              <a:rPr lang="en-US" sz="1400" dirty="0">
                <a:latin typeface="Times New Roman" panose="02020603050405020304" pitchFamily="18" charset="0"/>
                <a:ea typeface="Sora Light" pitchFamily="34" charset="-122"/>
                <a:cs typeface="Times New Roman" panose="02020603050405020304" pitchFamily="18" charset="0"/>
              </a:rPr>
              <a:t> идеальна, когда нужно выполнить действие </a:t>
            </a:r>
            <a:r>
              <a:rPr lang="en-US" sz="1400" b="1" dirty="0">
                <a:latin typeface="Times New Roman" panose="02020603050405020304" pitchFamily="18" charset="0"/>
                <a:ea typeface="Sora Bold" pitchFamily="34" charset="-122"/>
                <a:cs typeface="Times New Roman" panose="02020603050405020304" pitchFamily="18" charset="0"/>
              </a:rPr>
              <a:t>при соблюдении одного конкретного условия</a:t>
            </a:r>
            <a:r>
              <a:rPr lang="en-US" sz="1400" dirty="0">
                <a:latin typeface="Times New Roman" panose="02020603050405020304" pitchFamily="18" charset="0"/>
                <a:ea typeface="Sora Light" pitchFamily="34" charset="-122"/>
                <a:cs typeface="Times New Roman" panose="02020603050405020304" pitchFamily="18" charset="0"/>
              </a:rPr>
              <a:t>, а в противном </a:t>
            </a:r>
            <a:r>
              <a:rPr lang="en-US" sz="1400" dirty="0" err="1">
                <a:latin typeface="Times New Roman" panose="02020603050405020304" pitchFamily="18" charset="0"/>
                <a:ea typeface="Sora Light" pitchFamily="34" charset="-122"/>
                <a:cs typeface="Times New Roman" panose="02020603050405020304" pitchFamily="18" charset="0"/>
              </a:rPr>
              <a:t>случае</a:t>
            </a:r>
            <a:r>
              <a:rPr lang="en-US" sz="1400" dirty="0">
                <a:latin typeface="Times New Roman" panose="02020603050405020304" pitchFamily="18" charset="0"/>
                <a:ea typeface="Sora Light" pitchFamily="34" charset="-122"/>
                <a:cs typeface="Times New Roman" panose="02020603050405020304" pitchFamily="18" charset="0"/>
              </a:rPr>
              <a:t> </a:t>
            </a:r>
            <a:r>
              <a:rPr lang="ru-RU" sz="1400" dirty="0">
                <a:latin typeface="Times New Roman" panose="02020603050405020304" pitchFamily="18" charset="0"/>
                <a:ea typeface="Sora Light" pitchFamily="34" charset="-122"/>
                <a:cs typeface="Times New Roman" panose="02020603050405020304" pitchFamily="18" charset="0"/>
              </a:rPr>
              <a:t>-</a:t>
            </a:r>
            <a:r>
              <a:rPr lang="en-US" sz="1400" dirty="0">
                <a:latin typeface="Times New Roman" panose="02020603050405020304" pitchFamily="18" charset="0"/>
                <a:ea typeface="Sora Light" pitchFamily="34" charset="-122"/>
                <a:cs typeface="Times New Roman" panose="02020603050405020304" pitchFamily="18" charset="0"/>
              </a:rPr>
              <a:t> просто ничего не делать. Типичные сценарии:</a:t>
            </a:r>
            <a:endParaRPr lang="en-US" sz="14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5DBB3345-2F2F-41FD-DA05-992B4AF486B4}"/>
              </a:ext>
            </a:extLst>
          </p:cNvPr>
          <p:cNvSpPr/>
          <p:nvPr/>
        </p:nvSpPr>
        <p:spPr>
          <a:xfrm>
            <a:off x="6039512" y="2751833"/>
            <a:ext cx="4260474" cy="1424732"/>
          </a:xfrm>
          <a:prstGeom prst="rect">
            <a:avLst/>
          </a:prstGeom>
          <a:noFill/>
          <a:ln/>
        </p:spPr>
        <p:txBody>
          <a:bodyPr wrap="square" lIns="0" tIns="38508" rIns="0" bIns="0" rtlCol="0" anchor="t">
            <a:noAutofit/>
          </a:bodyPr>
          <a:lstStyle/>
          <a:p>
            <a:pPr marL="152400" indent="-152400" algn="l">
              <a:lnSpc>
                <a:spcPct val="121000"/>
              </a:lnSpc>
              <a:buSzPct val="100000"/>
              <a:buChar char="•"/>
            </a:pPr>
            <a:r>
              <a:rPr lang="en-US" sz="1400" dirty="0">
                <a:latin typeface="Times New Roman" panose="02020603050405020304" pitchFamily="18" charset="0"/>
                <a:ea typeface="Sora Light" pitchFamily="34" charset="-122"/>
                <a:cs typeface="Times New Roman" panose="02020603050405020304" pitchFamily="18" charset="0"/>
              </a:rPr>
              <a:t>Проверка баланса перед транзакцией</a:t>
            </a:r>
            <a:endParaRPr lang="en-US" sz="1400" dirty="0">
              <a:latin typeface="Times New Roman" panose="02020603050405020304" pitchFamily="18" charset="0"/>
              <a:cs typeface="Times New Roman" panose="02020603050405020304" pitchFamily="18" charset="0"/>
            </a:endParaRPr>
          </a:p>
          <a:p>
            <a:pPr marL="152400" indent="-152400" algn="l">
              <a:lnSpc>
                <a:spcPct val="121000"/>
              </a:lnSpc>
              <a:buSzPct val="100000"/>
              <a:buChar char="•"/>
            </a:pPr>
            <a:r>
              <a:rPr lang="en-US" sz="1400" dirty="0">
                <a:latin typeface="Times New Roman" panose="02020603050405020304" pitchFamily="18" charset="0"/>
                <a:ea typeface="Sora Light" pitchFamily="34" charset="-122"/>
                <a:cs typeface="Times New Roman" panose="02020603050405020304" pitchFamily="18" charset="0"/>
              </a:rPr>
              <a:t>Валидация пользовательского ввода</a:t>
            </a:r>
            <a:endParaRPr lang="en-US" sz="1400" dirty="0">
              <a:latin typeface="Times New Roman" panose="02020603050405020304" pitchFamily="18" charset="0"/>
              <a:cs typeface="Times New Roman" panose="02020603050405020304" pitchFamily="18" charset="0"/>
            </a:endParaRPr>
          </a:p>
          <a:p>
            <a:pPr marL="152400" indent="-152400" algn="l">
              <a:lnSpc>
                <a:spcPct val="121000"/>
              </a:lnSpc>
              <a:buSzPct val="100000"/>
              <a:buChar char="•"/>
            </a:pPr>
            <a:r>
              <a:rPr lang="en-US" sz="1400" dirty="0">
                <a:latin typeface="Times New Roman" panose="02020603050405020304" pitchFamily="18" charset="0"/>
                <a:ea typeface="Sora Light" pitchFamily="34" charset="-122"/>
                <a:cs typeface="Times New Roman" panose="02020603050405020304" pitchFamily="18" charset="0"/>
              </a:rPr>
              <a:t>Проверка прав доступа к ресурсу</a:t>
            </a:r>
            <a:endParaRPr lang="en-US" sz="1400" dirty="0">
              <a:latin typeface="Times New Roman" panose="02020603050405020304" pitchFamily="18" charset="0"/>
              <a:cs typeface="Times New Roman" panose="02020603050405020304" pitchFamily="18" charset="0"/>
            </a:endParaRPr>
          </a:p>
          <a:p>
            <a:pPr marL="152400" indent="-152400" algn="l">
              <a:lnSpc>
                <a:spcPct val="121000"/>
              </a:lnSpc>
              <a:buSzPct val="100000"/>
              <a:buChar char="•"/>
            </a:pPr>
            <a:r>
              <a:rPr lang="en-US" sz="1400" dirty="0">
                <a:latin typeface="Times New Roman" panose="02020603050405020304" pitchFamily="18" charset="0"/>
                <a:ea typeface="Sora Light" pitchFamily="34" charset="-122"/>
                <a:cs typeface="Times New Roman" panose="02020603050405020304" pitchFamily="18" charset="0"/>
              </a:rPr>
              <a:t>Контроль состояния системы перед операцией</a:t>
            </a:r>
            <a:endParaRPr lang="en-US" sz="1400"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6B71088C-0DDC-2857-8176-2B78BC88C2DE}"/>
              </a:ext>
            </a:extLst>
          </p:cNvPr>
          <p:cNvSpPr/>
          <p:nvPr/>
        </p:nvSpPr>
        <p:spPr>
          <a:xfrm>
            <a:off x="7871101" y="3884305"/>
            <a:ext cx="3980631" cy="15827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Alexandria SemiBold" pitchFamily="34" charset="-122"/>
                <a:cs typeface="Times New Roman" panose="02020603050405020304" pitchFamily="18" charset="0"/>
              </a:rPr>
              <a:t>Пример: проверка баланса</a:t>
            </a:r>
            <a:endParaRPr lang="en-US" sz="1400" dirty="0">
              <a:latin typeface="Times New Roman" panose="02020603050405020304" pitchFamily="18" charset="0"/>
              <a:cs typeface="Times New Roman" panose="02020603050405020304" pitchFamily="18" charset="0"/>
            </a:endParaRPr>
          </a:p>
        </p:txBody>
      </p:sp>
      <p:sp>
        <p:nvSpPr>
          <p:cNvPr id="16" name="Shape 14">
            <a:extLst>
              <a:ext uri="{FF2B5EF4-FFF2-40B4-BE49-F238E27FC236}">
                <a16:creationId xmlns:a16="http://schemas.microsoft.com/office/drawing/2014/main" id="{664A1A65-98DA-03FE-6231-4FAFCCDAA994}"/>
              </a:ext>
            </a:extLst>
          </p:cNvPr>
          <p:cNvSpPr/>
          <p:nvPr/>
        </p:nvSpPr>
        <p:spPr>
          <a:xfrm>
            <a:off x="6168425" y="4240570"/>
            <a:ext cx="3980631" cy="2023596"/>
          </a:xfrm>
          <a:prstGeom prst="roundRect">
            <a:avLst>
              <a:gd name="adj" fmla="val 2838"/>
            </a:avLst>
          </a:prstGeom>
          <a:solidFill>
            <a:srgbClr val="F2EDED"/>
          </a:solidFill>
          <a:ln/>
        </p:spPr>
      </p:sp>
      <p:sp>
        <p:nvSpPr>
          <p:cNvPr id="17" name="Text 15">
            <a:extLst>
              <a:ext uri="{FF2B5EF4-FFF2-40B4-BE49-F238E27FC236}">
                <a16:creationId xmlns:a16="http://schemas.microsoft.com/office/drawing/2014/main" id="{9C652582-9F67-2D01-848E-C62D5E96286B}"/>
              </a:ext>
            </a:extLst>
          </p:cNvPr>
          <p:cNvSpPr/>
          <p:nvPr/>
        </p:nvSpPr>
        <p:spPr>
          <a:xfrm>
            <a:off x="6283916" y="4240571"/>
            <a:ext cx="3749650" cy="1328514"/>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decimal balance = 1500.00m;</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decimal price = 1200.00m;</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(balance &gt;= price)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balance -= price;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Console.WriteLine("Покупка успешна");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E894015B-4136-D6F2-525E-99F4B42C818B}"/>
              </a:ext>
            </a:extLst>
          </p:cNvPr>
          <p:cNvSpPr/>
          <p:nvPr/>
        </p:nvSpPr>
        <p:spPr>
          <a:xfrm>
            <a:off x="5880785" y="6264166"/>
            <a:ext cx="6132539" cy="593833"/>
          </a:xfrm>
          <a:prstGeom prst="rect">
            <a:avLst/>
          </a:prstGeom>
          <a:noFill/>
          <a:ln/>
        </p:spPr>
        <p:txBody>
          <a:bodyPr wrap="square" lIns="0" tIns="0" rIns="0" bIns="0" rtlCol="0" anchor="t">
            <a:noAutofit/>
          </a:bodyPr>
          <a:lstStyle/>
          <a:p>
            <a:pPr marL="0" indent="0" algn="l">
              <a:lnSpc>
                <a:spcPct val="121000"/>
              </a:lnSpc>
              <a:buNone/>
            </a:pPr>
            <a:r>
              <a:rPr lang="en-US" sz="1400" dirty="0">
                <a:latin typeface="Times New Roman" panose="02020603050405020304" pitchFamily="18" charset="0"/>
                <a:ea typeface="Sora Light" pitchFamily="34" charset="-122"/>
                <a:cs typeface="Times New Roman" panose="02020603050405020304" pitchFamily="18" charset="0"/>
              </a:rPr>
              <a:t>Обратите внимание: если баланса недостаточно, блок просто </a:t>
            </a:r>
            <a:r>
              <a:rPr lang="en-US" sz="1400" dirty="0" err="1">
                <a:latin typeface="Times New Roman" panose="02020603050405020304" pitchFamily="18" charset="0"/>
                <a:ea typeface="Sora Light" pitchFamily="34" charset="-122"/>
                <a:cs typeface="Times New Roman" panose="02020603050405020304" pitchFamily="18" charset="0"/>
              </a:rPr>
              <a:t>пропускается</a:t>
            </a:r>
            <a:r>
              <a:rPr lang="en-US" sz="1400" dirty="0">
                <a:latin typeface="Times New Roman" panose="02020603050405020304" pitchFamily="18" charset="0"/>
                <a:ea typeface="Sora Light" pitchFamily="34" charset="-122"/>
                <a:cs typeface="Times New Roman" panose="02020603050405020304" pitchFamily="18" charset="0"/>
              </a:rPr>
              <a:t> </a:t>
            </a:r>
            <a:r>
              <a:rPr lang="ru-RU" sz="1400" dirty="0">
                <a:latin typeface="Times New Roman" panose="02020603050405020304" pitchFamily="18" charset="0"/>
                <a:ea typeface="Sora Light" pitchFamily="34" charset="-122"/>
                <a:cs typeface="Times New Roman" panose="02020603050405020304" pitchFamily="18" charset="0"/>
              </a:rPr>
              <a:t>-</a:t>
            </a:r>
            <a:r>
              <a:rPr lang="en-US" sz="1400" dirty="0">
                <a:latin typeface="Times New Roman" panose="02020603050405020304" pitchFamily="18" charset="0"/>
                <a:ea typeface="Sora Light" pitchFamily="34" charset="-122"/>
                <a:cs typeface="Times New Roman" panose="02020603050405020304" pitchFamily="18" charset="0"/>
              </a:rPr>
              <a:t> программа не сообщает об ошибке. Для этого нужна конструкция </a:t>
            </a:r>
            <a:r>
              <a:rPr lang="en-US" sz="1400" dirty="0">
                <a:highlight>
                  <a:srgbClr val="F2EDED"/>
                </a:highlight>
                <a:latin typeface="Times New Roman" panose="02020603050405020304" pitchFamily="18" charset="0"/>
                <a:ea typeface="Consolas" pitchFamily="34" charset="-122"/>
                <a:cs typeface="Times New Roman" panose="02020603050405020304" pitchFamily="18" charset="0"/>
              </a:rPr>
              <a:t>if/else</a:t>
            </a:r>
            <a:r>
              <a:rPr lang="en-US" sz="1400" dirty="0">
                <a:latin typeface="Times New Roman" panose="02020603050405020304" pitchFamily="18" charset="0"/>
                <a:ea typeface="Sora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376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3">
            <a:extLst>
              <a:ext uri="{FF2B5EF4-FFF2-40B4-BE49-F238E27FC236}">
                <a16:creationId xmlns:a16="http://schemas.microsoft.com/office/drawing/2014/main" id="{F3DA863C-A6E2-2D9F-7942-F249EF43A7C0}"/>
              </a:ext>
            </a:extLst>
          </p:cNvPr>
          <p:cNvSpPr/>
          <p:nvPr/>
        </p:nvSpPr>
        <p:spPr>
          <a:xfrm>
            <a:off x="7567293" y="3854847"/>
            <a:ext cx="3485928" cy="2805907"/>
          </a:xfrm>
          <a:prstGeom prst="roundRect">
            <a:avLst>
              <a:gd name="adj" fmla="val 2333"/>
            </a:avLst>
          </a:prstGeom>
          <a:solidFill>
            <a:srgbClr val="F2EDED"/>
          </a:solidFill>
          <a:ln/>
        </p:spPr>
      </p:sp>
      <p:sp>
        <p:nvSpPr>
          <p:cNvPr id="15" name="Shape 3">
            <a:extLst>
              <a:ext uri="{FF2B5EF4-FFF2-40B4-BE49-F238E27FC236}">
                <a16:creationId xmlns:a16="http://schemas.microsoft.com/office/drawing/2014/main" id="{F807601D-178F-DE40-9DA2-FD32BE0E4D66}"/>
              </a:ext>
            </a:extLst>
          </p:cNvPr>
          <p:cNvSpPr/>
          <p:nvPr/>
        </p:nvSpPr>
        <p:spPr>
          <a:xfrm>
            <a:off x="3694477" y="1815989"/>
            <a:ext cx="3485928" cy="3904761"/>
          </a:xfrm>
          <a:prstGeom prst="roundRect">
            <a:avLst>
              <a:gd name="adj" fmla="val 2333"/>
            </a:avLst>
          </a:prstGeom>
          <a:solidFill>
            <a:srgbClr val="F2EDED"/>
          </a:solidFill>
          <a:ln/>
        </p:spPr>
      </p:sp>
      <p:sp>
        <p:nvSpPr>
          <p:cNvPr id="14" name="Shape 3">
            <a:extLst>
              <a:ext uri="{FF2B5EF4-FFF2-40B4-BE49-F238E27FC236}">
                <a16:creationId xmlns:a16="http://schemas.microsoft.com/office/drawing/2014/main" id="{BA58DDFB-B2F9-C894-D094-CEED592DDF86}"/>
              </a:ext>
            </a:extLst>
          </p:cNvPr>
          <p:cNvSpPr/>
          <p:nvPr/>
        </p:nvSpPr>
        <p:spPr>
          <a:xfrm>
            <a:off x="422013" y="1826876"/>
            <a:ext cx="3144334" cy="3147895"/>
          </a:xfrm>
          <a:prstGeom prst="roundRect">
            <a:avLst>
              <a:gd name="adj" fmla="val 2333"/>
            </a:avLst>
          </a:prstGeom>
          <a:solidFill>
            <a:srgbClr val="F2EDED"/>
          </a:solidFill>
          <a:ln/>
        </p:spPr>
      </p:sp>
      <p:sp>
        <p:nvSpPr>
          <p:cNvPr id="2" name="Text 0">
            <a:extLst>
              <a:ext uri="{FF2B5EF4-FFF2-40B4-BE49-F238E27FC236}">
                <a16:creationId xmlns:a16="http://schemas.microsoft.com/office/drawing/2014/main" id="{C356EF95-DED2-EC77-A7F9-39B529AA2864}"/>
              </a:ext>
            </a:extLst>
          </p:cNvPr>
          <p:cNvSpPr/>
          <p:nvPr/>
        </p:nvSpPr>
        <p:spPr>
          <a:xfrm>
            <a:off x="2422486" y="204809"/>
            <a:ext cx="8196114" cy="261789"/>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Развилка: Конструкция if/else</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E07B0E87-6303-D099-B0F9-6157DD245E4F}"/>
              </a:ext>
            </a:extLst>
          </p:cNvPr>
          <p:cNvSpPr/>
          <p:nvPr/>
        </p:nvSpPr>
        <p:spPr>
          <a:xfrm>
            <a:off x="473942" y="715045"/>
            <a:ext cx="11576543" cy="863384"/>
          </a:xfrm>
          <a:prstGeom prst="rect">
            <a:avLst/>
          </a:prstGeom>
          <a:noFill/>
          <a:ln/>
        </p:spPr>
        <p:txBody>
          <a:bodyPr wrap="square" lIns="0" tIns="0" rIns="0" bIns="0" rtlCol="0" anchor="t">
            <a:noAutofit/>
          </a:bodyPr>
          <a:lstStyle/>
          <a:p>
            <a:pPr marL="0" indent="0" algn="l">
              <a:lnSpc>
                <a:spcPct val="111000"/>
              </a:lnSpc>
              <a:buNone/>
            </a:pP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Конструкция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if/else</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расширяет базовый </a:t>
            </a:r>
            <a:r>
              <a:rPr lang="en-US" sz="16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if</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добавляя </a:t>
            </a:r>
            <a:r>
              <a:rPr lang="en-US" sz="1600" b="1" dirty="0">
                <a:solidFill>
                  <a:srgbClr val="3B3535"/>
                </a:solidFill>
                <a:latin typeface="Times New Roman" panose="02020603050405020304" pitchFamily="18" charset="0"/>
                <a:ea typeface="Sora Bold" pitchFamily="34" charset="-122"/>
                <a:cs typeface="Times New Roman" panose="02020603050405020304" pitchFamily="18" charset="0"/>
              </a:rPr>
              <a:t>альтернативный путь выполнения</a:t>
            </a:r>
            <a:r>
              <a:rPr lang="en-US" sz="1600" dirty="0">
                <a:solidFill>
                  <a:srgbClr val="3B3535"/>
                </a:solidFill>
                <a:latin typeface="Times New Roman" panose="02020603050405020304" pitchFamily="18" charset="0"/>
                <a:ea typeface="Sora Light" pitchFamily="34" charset="-122"/>
                <a:cs typeface="Times New Roman" panose="02020603050405020304" pitchFamily="18" charset="0"/>
              </a:rPr>
              <a:t>. Теперь программа явно обрабатывает оба сценария: когда условие истинно и когда оно ложно. Это делает логику более предсказуемой и защищает от «молчаливого» пропуска действий.</a:t>
            </a:r>
            <a:endParaRPr lang="en-US" sz="16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3D3FF2FA-7935-F1E5-E12F-C92BC97E6EF3}"/>
              </a:ext>
            </a:extLst>
          </p:cNvPr>
          <p:cNvSpPr/>
          <p:nvPr/>
        </p:nvSpPr>
        <p:spPr>
          <a:xfrm>
            <a:off x="550143" y="1587135"/>
            <a:ext cx="4000946" cy="130969"/>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Синтаксис if/else</a:t>
            </a:r>
            <a:endParaRPr lang="en-US" sz="1400" b="1" dirty="0">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0FEF6308-9430-BAE3-4D69-5EB1B94162EC}"/>
              </a:ext>
            </a:extLst>
          </p:cNvPr>
          <p:cNvSpPr/>
          <p:nvPr/>
        </p:nvSpPr>
        <p:spPr>
          <a:xfrm>
            <a:off x="550143" y="1826876"/>
            <a:ext cx="4228686" cy="1905234"/>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(условие)</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Ветка "истина"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Выполняется, если условие = true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else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Ветка "ложь"</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Выполняется, если условие = false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F1405138-CAAA-DA7B-4502-BAC0356B985E}"/>
              </a:ext>
            </a:extLst>
          </p:cNvPr>
          <p:cNvSpPr/>
          <p:nvPr/>
        </p:nvSpPr>
        <p:spPr>
          <a:xfrm>
            <a:off x="3761429" y="1587135"/>
            <a:ext cx="4000946" cy="130969"/>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Пример: проверка пароля</a:t>
            </a:r>
            <a:endParaRPr lang="en-US" sz="1400" b="1" dirty="0">
              <a:latin typeface="Times New Roman" panose="02020603050405020304" pitchFamily="18" charset="0"/>
              <a:cs typeface="Times New Roman" panose="02020603050405020304" pitchFamily="18" charset="0"/>
            </a:endParaRPr>
          </a:p>
        </p:txBody>
      </p:sp>
      <p:sp>
        <p:nvSpPr>
          <p:cNvPr id="7" name="Text 7">
            <a:extLst>
              <a:ext uri="{FF2B5EF4-FFF2-40B4-BE49-F238E27FC236}">
                <a16:creationId xmlns:a16="http://schemas.microsoft.com/office/drawing/2014/main" id="{EA519746-1205-DFEE-8226-B198FE8E99D8}"/>
              </a:ext>
            </a:extLst>
          </p:cNvPr>
          <p:cNvSpPr/>
          <p:nvPr/>
        </p:nvSpPr>
        <p:spPr>
          <a:xfrm>
            <a:off x="3761429" y="1826876"/>
            <a:ext cx="3810000" cy="3893875"/>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string input = Console.ReadLine();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string correct = "Secret123";</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(input == correct)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Console.WriteLine("Добро пожаловать!");</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Запуск основного интерфейса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else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Console.WriteLine("Неверный пароль");</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Предложить повторить ввод</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55C8B52A-F416-E6C1-5CFE-E3334FFAC417}"/>
              </a:ext>
            </a:extLst>
          </p:cNvPr>
          <p:cNvSpPr/>
          <p:nvPr/>
        </p:nvSpPr>
        <p:spPr>
          <a:xfrm>
            <a:off x="7571429" y="1637168"/>
            <a:ext cx="4000946" cy="130969"/>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Важность фигурных скобок</a:t>
            </a:r>
            <a:endParaRPr lang="en-US" sz="1400" b="1" dirty="0">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9ADACC5D-C8A4-1615-27F9-ECAA0D054CF1}"/>
              </a:ext>
            </a:extLst>
          </p:cNvPr>
          <p:cNvSpPr/>
          <p:nvPr/>
        </p:nvSpPr>
        <p:spPr>
          <a:xfrm>
            <a:off x="7134278" y="1881475"/>
            <a:ext cx="5024203" cy="1252600"/>
          </a:xfrm>
          <a:prstGeom prst="rect">
            <a:avLst/>
          </a:prstGeom>
          <a:noFill/>
          <a:ln/>
        </p:spPr>
        <p:txBody>
          <a:bodyPr wrap="square" lIns="0" tIns="0" rIns="0" bIns="0" rtlCol="0" anchor="t">
            <a:noAutofit/>
          </a:bodyPr>
          <a:lstStyle/>
          <a:p>
            <a:pPr marL="0" indent="0" algn="l">
              <a:lnSpc>
                <a:spcPct val="111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Фигурные скобки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 }</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определяют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блок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кода</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4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группу операторов, которые выполняются как единое целое. Без них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if</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управляет только </a:t>
            </a:r>
            <a:r>
              <a:rPr lang="en-US" sz="1400" i="1" dirty="0">
                <a:solidFill>
                  <a:srgbClr val="3B3535"/>
                </a:solidFill>
                <a:latin typeface="Times New Roman" panose="02020603050405020304" pitchFamily="18" charset="0"/>
                <a:ea typeface="Sora Light" pitchFamily="34" charset="-122"/>
                <a:cs typeface="Times New Roman" panose="02020603050405020304" pitchFamily="18" charset="0"/>
              </a:rPr>
              <a:t>первым</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оператором после условия, что часто приводит к трудноуловимым ошибкам.</a:t>
            </a:r>
            <a:endParaRPr lang="en-US" sz="1400" dirty="0">
              <a:latin typeface="Times New Roman" panose="02020603050405020304" pitchFamily="18" charset="0"/>
              <a:cs typeface="Times New Roman" panose="02020603050405020304" pitchFamily="18" charset="0"/>
            </a:endParaRPr>
          </a:p>
        </p:txBody>
      </p:sp>
      <p:sp>
        <p:nvSpPr>
          <p:cNvPr id="11" name="Text 12">
            <a:extLst>
              <a:ext uri="{FF2B5EF4-FFF2-40B4-BE49-F238E27FC236}">
                <a16:creationId xmlns:a16="http://schemas.microsoft.com/office/drawing/2014/main" id="{70C2C58F-4B05-AEC7-BAFE-79DC3F0B2847}"/>
              </a:ext>
            </a:extLst>
          </p:cNvPr>
          <p:cNvSpPr/>
          <p:nvPr/>
        </p:nvSpPr>
        <p:spPr>
          <a:xfrm>
            <a:off x="7571429" y="2865021"/>
            <a:ext cx="4000946" cy="130969"/>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Alexandria SemiBold" pitchFamily="34" charset="-122"/>
                <a:cs typeface="Times New Roman" panose="02020603050405020304" pitchFamily="18" charset="0"/>
              </a:rPr>
              <a:t>Цепочка if/else if/else</a:t>
            </a:r>
            <a:endParaRPr lang="en-US" sz="1400" b="1" dirty="0">
              <a:latin typeface="Times New Roman" panose="02020603050405020304" pitchFamily="18" charset="0"/>
              <a:cs typeface="Times New Roman" panose="02020603050405020304" pitchFamily="18" charset="0"/>
            </a:endParaRPr>
          </a:p>
        </p:txBody>
      </p:sp>
      <p:sp>
        <p:nvSpPr>
          <p:cNvPr id="12" name="Text 13">
            <a:extLst>
              <a:ext uri="{FF2B5EF4-FFF2-40B4-BE49-F238E27FC236}">
                <a16:creationId xmlns:a16="http://schemas.microsoft.com/office/drawing/2014/main" id="{FC0DA9F7-0B70-3BEC-4A06-8BBFA4B2B756}"/>
              </a:ext>
            </a:extLst>
          </p:cNvPr>
          <p:cNvSpPr/>
          <p:nvPr/>
        </p:nvSpPr>
        <p:spPr>
          <a:xfrm>
            <a:off x="7413172" y="3079805"/>
            <a:ext cx="4550227" cy="906845"/>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Sora Light" pitchFamily="34" charset="-122"/>
                <a:cs typeface="Times New Roman" panose="02020603050405020304" pitchFamily="18" charset="0"/>
              </a:rPr>
              <a:t>Для проверки нескольких условий подряд используется цепочка </a:t>
            </a:r>
            <a:r>
              <a:rPr lang="en-US" sz="1400" dirty="0">
                <a:highlight>
                  <a:srgbClr val="F2EDED"/>
                </a:highlight>
                <a:latin typeface="Times New Roman" panose="02020603050405020304" pitchFamily="18" charset="0"/>
                <a:ea typeface="Consolas" pitchFamily="34" charset="-122"/>
                <a:cs typeface="Times New Roman" panose="02020603050405020304" pitchFamily="18" charset="0"/>
              </a:rPr>
              <a:t>else if</a:t>
            </a:r>
            <a:r>
              <a:rPr lang="en-US" sz="1400" dirty="0">
                <a:latin typeface="Times New Roman" panose="02020603050405020304" pitchFamily="18" charset="0"/>
                <a:ea typeface="Sora Light" pitchFamily="34" charset="-122"/>
                <a:cs typeface="Times New Roman" panose="02020603050405020304" pitchFamily="18" charset="0"/>
              </a:rPr>
              <a:t>. Программа проверяет условия сверху вниз и выполняет </a:t>
            </a:r>
            <a:r>
              <a:rPr lang="en-US" sz="1400" b="1" dirty="0">
                <a:latin typeface="Times New Roman" panose="02020603050405020304" pitchFamily="18" charset="0"/>
                <a:ea typeface="Sora Bold" pitchFamily="34" charset="-122"/>
                <a:cs typeface="Times New Roman" panose="02020603050405020304" pitchFamily="18" charset="0"/>
              </a:rPr>
              <a:t>первый подходящий блок</a:t>
            </a:r>
            <a:r>
              <a:rPr lang="en-US" sz="1400" dirty="0">
                <a:latin typeface="Times New Roman" panose="02020603050405020304" pitchFamily="18" charset="0"/>
                <a:ea typeface="Sora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3" name="Text 15">
            <a:extLst>
              <a:ext uri="{FF2B5EF4-FFF2-40B4-BE49-F238E27FC236}">
                <a16:creationId xmlns:a16="http://schemas.microsoft.com/office/drawing/2014/main" id="{38778A76-9A45-55AF-0D58-BEC9BFB4A5B7}"/>
              </a:ext>
            </a:extLst>
          </p:cNvPr>
          <p:cNvSpPr/>
          <p:nvPr/>
        </p:nvSpPr>
        <p:spPr>
          <a:xfrm>
            <a:off x="7762375" y="3885504"/>
            <a:ext cx="3810000" cy="2949035"/>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int score = 85;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(score &gt;= 90)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Console.WriteLine("Отлично");</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else if (score &gt;= 75)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Console.WriteLine("Хорошо");</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else if (score &gt;= 60)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Console.WriteLine("Удовл.");</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else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Console.WriteLine("Не сдал");</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315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2F8A89C-6C25-A25F-F424-78B733435972}"/>
              </a:ext>
            </a:extLst>
          </p:cNvPr>
          <p:cNvSpPr/>
          <p:nvPr/>
        </p:nvSpPr>
        <p:spPr>
          <a:xfrm>
            <a:off x="2346286" y="88329"/>
            <a:ext cx="8196114" cy="292298"/>
          </a:xfrm>
          <a:prstGeom prst="rect">
            <a:avLst/>
          </a:prstGeom>
          <a:noFill/>
          <a:ln/>
        </p:spPr>
        <p:txBody>
          <a:bodyPr wrap="none" lIns="0" tIns="0" rIns="0" bIns="0" rtlCol="0" anchor="t"/>
          <a:lstStyle/>
          <a:p>
            <a:pPr marL="0" indent="0" algn="ctr">
              <a:lnSpc>
                <a:spcPct val="104000"/>
              </a:lnSpc>
              <a:buNone/>
            </a:pPr>
            <a:r>
              <a:rPr lang="en-US" sz="2800" dirty="0">
                <a:latin typeface="Times New Roman" panose="02020603050405020304" pitchFamily="18" charset="0"/>
                <a:ea typeface="Alexandria SemiBold" pitchFamily="34" charset="-122"/>
                <a:cs typeface="Times New Roman" panose="02020603050405020304" pitchFamily="18" charset="0"/>
              </a:rPr>
              <a:t>Короткий путь: Тернарный оператор</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FFE5FF93-2059-8208-3944-4C80B1D36AB8}"/>
              </a:ext>
            </a:extLst>
          </p:cNvPr>
          <p:cNvSpPr/>
          <p:nvPr/>
        </p:nvSpPr>
        <p:spPr>
          <a:xfrm>
            <a:off x="506599" y="633646"/>
            <a:ext cx="11402371" cy="759725"/>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Sora Light" pitchFamily="34" charset="-122"/>
                <a:cs typeface="Times New Roman" panose="02020603050405020304" pitchFamily="18" charset="0"/>
              </a:rPr>
              <a:t>Тернарный оператор </a:t>
            </a:r>
            <a:r>
              <a:rPr lang="en-US" sz="1400" dirty="0">
                <a:highlight>
                  <a:srgbClr val="F2EDED"/>
                </a:highlight>
                <a:latin typeface="Times New Roman" panose="02020603050405020304" pitchFamily="18" charset="0"/>
                <a:ea typeface="Consolas" pitchFamily="34" charset="-122"/>
                <a:cs typeface="Times New Roman" panose="02020603050405020304" pitchFamily="18" charset="0"/>
              </a:rPr>
              <a:t>? :</a:t>
            </a:r>
            <a:r>
              <a:rPr lang="en-US" sz="1400" dirty="0">
                <a:latin typeface="Times New Roman" panose="02020603050405020304" pitchFamily="18" charset="0"/>
                <a:ea typeface="Sora Light" pitchFamily="34" charset="-122"/>
                <a:cs typeface="Times New Roman" panose="02020603050405020304" pitchFamily="18" charset="0"/>
              </a:rPr>
              <a:t> </a:t>
            </a:r>
            <a:r>
              <a:rPr lang="ru-RU" sz="1400" dirty="0">
                <a:latin typeface="Times New Roman" panose="02020603050405020304" pitchFamily="18" charset="0"/>
                <a:ea typeface="Sora Light" pitchFamily="34" charset="-122"/>
                <a:cs typeface="Times New Roman" panose="02020603050405020304" pitchFamily="18" charset="0"/>
              </a:rPr>
              <a:t>-</a:t>
            </a:r>
            <a:r>
              <a:rPr lang="en-US" sz="1400" dirty="0">
                <a:latin typeface="Times New Roman" panose="02020603050405020304" pitchFamily="18" charset="0"/>
                <a:ea typeface="Sora Light" pitchFamily="34" charset="-122"/>
                <a:cs typeface="Times New Roman" panose="02020603050405020304" pitchFamily="18" charset="0"/>
              </a:rPr>
              <a:t> это компактная альтернатива простому </a:t>
            </a:r>
            <a:r>
              <a:rPr lang="en-US" sz="1400" dirty="0">
                <a:highlight>
                  <a:srgbClr val="F2EDED"/>
                </a:highlight>
                <a:latin typeface="Times New Roman" panose="02020603050405020304" pitchFamily="18" charset="0"/>
                <a:ea typeface="Consolas" pitchFamily="34" charset="-122"/>
                <a:cs typeface="Times New Roman" panose="02020603050405020304" pitchFamily="18" charset="0"/>
              </a:rPr>
              <a:t>if/else</a:t>
            </a:r>
            <a:r>
              <a:rPr lang="en-US" sz="1400" dirty="0">
                <a:latin typeface="Times New Roman" panose="02020603050405020304" pitchFamily="18" charset="0"/>
                <a:ea typeface="Sora Light" pitchFamily="34" charset="-122"/>
                <a:cs typeface="Times New Roman" panose="02020603050405020304" pitchFamily="18" charset="0"/>
              </a:rPr>
              <a:t>, которая возвращает значение. Он получил название «тернарный», потому что принимает </a:t>
            </a:r>
            <a:r>
              <a:rPr lang="en-US" sz="1400" b="1" dirty="0">
                <a:latin typeface="Times New Roman" panose="02020603050405020304" pitchFamily="18" charset="0"/>
                <a:ea typeface="Sora Bold" pitchFamily="34" charset="-122"/>
                <a:cs typeface="Times New Roman" panose="02020603050405020304" pitchFamily="18" charset="0"/>
              </a:rPr>
              <a:t>три операнда</a:t>
            </a:r>
            <a:r>
              <a:rPr lang="en-US" sz="1400" dirty="0">
                <a:latin typeface="Times New Roman" panose="02020603050405020304" pitchFamily="18" charset="0"/>
                <a:ea typeface="Sora Light" pitchFamily="34" charset="-122"/>
                <a:cs typeface="Times New Roman" panose="02020603050405020304" pitchFamily="18" charset="0"/>
              </a:rPr>
              <a:t>: условие, значение при истине и значение при лжи. Это единственный оператор в C# с тремя аргументами.</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15257042-C7BD-BD0F-8B35-30E96449B686}"/>
              </a:ext>
            </a:extLst>
          </p:cNvPr>
          <p:cNvSpPr/>
          <p:nvPr/>
        </p:nvSpPr>
        <p:spPr>
          <a:xfrm>
            <a:off x="506599" y="1289983"/>
            <a:ext cx="4410298" cy="146075"/>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Alexandria SemiBold" pitchFamily="34" charset="-122"/>
                <a:cs typeface="Times New Roman" panose="02020603050405020304" pitchFamily="18" charset="0"/>
              </a:rPr>
              <a:t>Синтаксис и принцип работы</a:t>
            </a:r>
            <a:endParaRPr lang="en-US" sz="1400" dirty="0">
              <a:latin typeface="Times New Roman" panose="02020603050405020304" pitchFamily="18" charset="0"/>
              <a:cs typeface="Times New Roman" panose="02020603050405020304" pitchFamily="18" charset="0"/>
            </a:endParaRPr>
          </a:p>
        </p:txBody>
      </p:sp>
      <p:sp>
        <p:nvSpPr>
          <p:cNvPr id="5" name="Shape 3">
            <a:extLst>
              <a:ext uri="{FF2B5EF4-FFF2-40B4-BE49-F238E27FC236}">
                <a16:creationId xmlns:a16="http://schemas.microsoft.com/office/drawing/2014/main" id="{B77418B1-9285-3524-C0FF-8444211E4442}"/>
              </a:ext>
            </a:extLst>
          </p:cNvPr>
          <p:cNvSpPr/>
          <p:nvPr/>
        </p:nvSpPr>
        <p:spPr>
          <a:xfrm>
            <a:off x="506598" y="1601401"/>
            <a:ext cx="5426115" cy="490993"/>
          </a:xfrm>
          <a:prstGeom prst="roundRect">
            <a:avLst>
              <a:gd name="adj" fmla="val 11670"/>
            </a:avLst>
          </a:prstGeom>
          <a:solidFill>
            <a:srgbClr val="F2EDED"/>
          </a:solidFill>
          <a:ln/>
        </p:spPr>
      </p:sp>
      <p:sp>
        <p:nvSpPr>
          <p:cNvPr id="6" name="Text 4">
            <a:extLst>
              <a:ext uri="{FF2B5EF4-FFF2-40B4-BE49-F238E27FC236}">
                <a16:creationId xmlns:a16="http://schemas.microsoft.com/office/drawing/2014/main" id="{BBED9979-C4D9-BCBE-A134-3026C33A89B1}"/>
              </a:ext>
            </a:extLst>
          </p:cNvPr>
          <p:cNvSpPr/>
          <p:nvPr/>
        </p:nvSpPr>
        <p:spPr>
          <a:xfrm>
            <a:off x="613235" y="1690253"/>
            <a:ext cx="4654228" cy="142131"/>
          </a:xfrm>
          <a:prstGeom prst="rect">
            <a:avLst/>
          </a:prstGeom>
          <a:noFill/>
          <a:ln/>
        </p:spPr>
        <p:txBody>
          <a:bodyPr wrap="none" lIns="0" tIns="0" rIns="0" bIns="0" rtlCol="0" anchor="t"/>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переменная = условие ? значение_если_true : значение_если_false;</a:t>
            </a:r>
            <a:endParaRPr lang="en-US" sz="140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494CE235-C9C5-70CE-6CD7-A7EEC11F19D5}"/>
              </a:ext>
            </a:extLst>
          </p:cNvPr>
          <p:cNvSpPr/>
          <p:nvPr/>
        </p:nvSpPr>
        <p:spPr>
          <a:xfrm>
            <a:off x="506598" y="2181246"/>
            <a:ext cx="5589401" cy="759724"/>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Sora Light" pitchFamily="34" charset="-122"/>
                <a:cs typeface="Times New Roman" panose="02020603050405020304" pitchFamily="18" charset="0"/>
              </a:rPr>
              <a:t>Оператор вычисляет условие и </a:t>
            </a:r>
            <a:r>
              <a:rPr lang="en-US" sz="1400" b="1" dirty="0">
                <a:latin typeface="Times New Roman" panose="02020603050405020304" pitchFamily="18" charset="0"/>
                <a:ea typeface="Sora Bold" pitchFamily="34" charset="-122"/>
                <a:cs typeface="Times New Roman" panose="02020603050405020304" pitchFamily="18" charset="0"/>
              </a:rPr>
              <a:t>возвращает одно из двух значений</a:t>
            </a:r>
            <a:r>
              <a:rPr lang="en-US" sz="1400" dirty="0">
                <a:latin typeface="Times New Roman" panose="02020603050405020304" pitchFamily="18" charset="0"/>
                <a:ea typeface="Sora Light" pitchFamily="34" charset="-122"/>
                <a:cs typeface="Times New Roman" panose="02020603050405020304" pitchFamily="18" charset="0"/>
              </a:rPr>
              <a:t>, которое сразу присваивается переменной или используется в выражении. Это делает код лаконичным и выразительным.</a:t>
            </a:r>
            <a:endParaRPr lang="en-US" sz="140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0F006694-2C7D-34B1-DCBF-E435DF71E594}"/>
              </a:ext>
            </a:extLst>
          </p:cNvPr>
          <p:cNvSpPr/>
          <p:nvPr/>
        </p:nvSpPr>
        <p:spPr>
          <a:xfrm>
            <a:off x="506598" y="2984910"/>
            <a:ext cx="4410298" cy="146075"/>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Сравнение: if/else vs тернарный</a:t>
            </a:r>
            <a:endParaRPr lang="en-US" sz="1400" b="1"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4BFEA487-D587-CBEF-6101-8C02CB11D611}"/>
              </a:ext>
            </a:extLst>
          </p:cNvPr>
          <p:cNvSpPr/>
          <p:nvPr/>
        </p:nvSpPr>
        <p:spPr>
          <a:xfrm>
            <a:off x="506599" y="3276599"/>
            <a:ext cx="4410298" cy="3493071"/>
          </a:xfrm>
          <a:prstGeom prst="roundRect">
            <a:avLst>
              <a:gd name="adj" fmla="val 1616"/>
            </a:avLst>
          </a:prstGeom>
          <a:solidFill>
            <a:srgbClr val="F2EDED"/>
          </a:solidFill>
          <a:ln/>
        </p:spPr>
      </p:sp>
      <p:sp>
        <p:nvSpPr>
          <p:cNvPr id="10" name="Text 8">
            <a:extLst>
              <a:ext uri="{FF2B5EF4-FFF2-40B4-BE49-F238E27FC236}">
                <a16:creationId xmlns:a16="http://schemas.microsoft.com/office/drawing/2014/main" id="{C9D1D094-2255-6027-F5B4-6D6DD8049D58}"/>
              </a:ext>
            </a:extLst>
          </p:cNvPr>
          <p:cNvSpPr/>
          <p:nvPr/>
        </p:nvSpPr>
        <p:spPr>
          <a:xfrm>
            <a:off x="613235" y="3276599"/>
            <a:ext cx="4197028" cy="349307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Классический if/else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string status;</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if (age &gt;= 18)</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status = "Совершеннолетний";</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status = "Несовершеннолетний";</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То же самое через тернарный оператор</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string status = age &gt;= 18</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 "Совершеннолетний"</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 "Несовершеннолетний";</a:t>
            </a:r>
            <a:endParaRPr lang="en-US" sz="1200" dirty="0">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6001105D-302C-8FA0-D806-5B8925E29C9A}"/>
              </a:ext>
            </a:extLst>
          </p:cNvPr>
          <p:cNvSpPr/>
          <p:nvPr/>
        </p:nvSpPr>
        <p:spPr>
          <a:xfrm>
            <a:off x="7275105" y="1253615"/>
            <a:ext cx="3519190" cy="146075"/>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Когда использовать тернарный оператор</a:t>
            </a:r>
            <a:endParaRPr lang="en-US" sz="1400" b="1" dirty="0">
              <a:latin typeface="Times New Roman" panose="02020603050405020304" pitchFamily="18" charset="0"/>
              <a:cs typeface="Times New Roman" panose="02020603050405020304" pitchFamily="18" charset="0"/>
            </a:endParaRPr>
          </a:p>
        </p:txBody>
      </p:sp>
      <p:sp>
        <p:nvSpPr>
          <p:cNvPr id="12" name="Text 11">
            <a:extLst>
              <a:ext uri="{FF2B5EF4-FFF2-40B4-BE49-F238E27FC236}">
                <a16:creationId xmlns:a16="http://schemas.microsoft.com/office/drawing/2014/main" id="{8E79CE09-3416-17C1-0F5C-1FBA89590FA3}"/>
              </a:ext>
            </a:extLst>
          </p:cNvPr>
          <p:cNvSpPr/>
          <p:nvPr/>
        </p:nvSpPr>
        <p:spPr>
          <a:xfrm>
            <a:off x="7275104" y="1504912"/>
            <a:ext cx="4013381" cy="1479998"/>
          </a:xfrm>
          <a:prstGeom prst="rect">
            <a:avLst/>
          </a:prstGeom>
          <a:noFill/>
          <a:ln/>
        </p:spPr>
        <p:txBody>
          <a:bodyPr wrap="square" lIns="0" tIns="35546" rIns="0" bIns="0" rtlCol="0" anchor="t">
            <a:noAutofit/>
          </a:bodyPr>
          <a:lstStyle/>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Присваивание переменной на основе условия</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Возврат значения из метода в одну строку</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Формирование строки или сообщения</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Инициализация объекта с разными параметрами</a:t>
            </a:r>
            <a:endParaRPr lang="en-US" sz="1400" dirty="0">
              <a:latin typeface="Times New Roman" panose="02020603050405020304" pitchFamily="18" charset="0"/>
              <a:cs typeface="Times New Roman" panose="02020603050405020304" pitchFamily="18" charset="0"/>
            </a:endParaRPr>
          </a:p>
        </p:txBody>
      </p:sp>
      <p:sp>
        <p:nvSpPr>
          <p:cNvPr id="13" name="Text 12">
            <a:extLst>
              <a:ext uri="{FF2B5EF4-FFF2-40B4-BE49-F238E27FC236}">
                <a16:creationId xmlns:a16="http://schemas.microsoft.com/office/drawing/2014/main" id="{B5320841-9CA3-F8C5-CB95-877E7B884460}"/>
              </a:ext>
            </a:extLst>
          </p:cNvPr>
          <p:cNvSpPr/>
          <p:nvPr/>
        </p:nvSpPr>
        <p:spPr>
          <a:xfrm>
            <a:off x="7275105" y="2568678"/>
            <a:ext cx="3519190" cy="146075"/>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Когда НЕ использовать</a:t>
            </a:r>
            <a:endParaRPr lang="en-US" sz="1400" b="1" dirty="0">
              <a:latin typeface="Times New Roman" panose="02020603050405020304" pitchFamily="18" charset="0"/>
              <a:cs typeface="Times New Roman" panose="02020603050405020304" pitchFamily="18" charset="0"/>
            </a:endParaRPr>
          </a:p>
        </p:txBody>
      </p:sp>
      <p:sp>
        <p:nvSpPr>
          <p:cNvPr id="14" name="Text 13">
            <a:extLst>
              <a:ext uri="{FF2B5EF4-FFF2-40B4-BE49-F238E27FC236}">
                <a16:creationId xmlns:a16="http://schemas.microsoft.com/office/drawing/2014/main" id="{0A00A017-1339-6EB8-E0F9-22F25228A778}"/>
              </a:ext>
            </a:extLst>
          </p:cNvPr>
          <p:cNvSpPr/>
          <p:nvPr/>
        </p:nvSpPr>
        <p:spPr>
          <a:xfrm>
            <a:off x="7275103" y="2836359"/>
            <a:ext cx="4410298" cy="1713869"/>
          </a:xfrm>
          <a:prstGeom prst="rect">
            <a:avLst/>
          </a:prstGeom>
          <a:noFill/>
          <a:ln/>
        </p:spPr>
        <p:txBody>
          <a:bodyPr wrap="square" lIns="0" tIns="35546" rIns="0" bIns="0" rtlCol="0" anchor="t">
            <a:noAutofit/>
          </a:bodyPr>
          <a:lstStyle/>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Сложные условия с несколькими операторами</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Когда ветки содержат побочные эффекты</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Вложенные тернарные операторы (снижают читаемость)</a:t>
            </a:r>
            <a:endParaRPr lang="en-US" sz="1400" dirty="0">
              <a:latin typeface="Times New Roman" panose="02020603050405020304" pitchFamily="18" charset="0"/>
              <a:cs typeface="Times New Roman" panose="02020603050405020304" pitchFamily="18" charset="0"/>
            </a:endParaRPr>
          </a:p>
          <a:p>
            <a:pPr marL="132080" indent="-132080" algn="l">
              <a:lnSpc>
                <a:spcPct val="117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Когда код становится трудно читаемым</a:t>
            </a:r>
            <a:endParaRPr lang="en-US" sz="1400" dirty="0">
              <a:latin typeface="Times New Roman" panose="02020603050405020304" pitchFamily="18" charset="0"/>
              <a:cs typeface="Times New Roman" panose="02020603050405020304" pitchFamily="18" charset="0"/>
            </a:endParaRPr>
          </a:p>
        </p:txBody>
      </p:sp>
      <p:sp>
        <p:nvSpPr>
          <p:cNvPr id="15" name="Shape 14">
            <a:extLst>
              <a:ext uri="{FF2B5EF4-FFF2-40B4-BE49-F238E27FC236}">
                <a16:creationId xmlns:a16="http://schemas.microsoft.com/office/drawing/2014/main" id="{D8196BE0-D6D7-C48E-CEDB-B72610047777}"/>
              </a:ext>
            </a:extLst>
          </p:cNvPr>
          <p:cNvSpPr/>
          <p:nvPr/>
        </p:nvSpPr>
        <p:spPr>
          <a:xfrm>
            <a:off x="6947011" y="4550228"/>
            <a:ext cx="4738390" cy="1054157"/>
          </a:xfrm>
          <a:prstGeom prst="roundRect">
            <a:avLst>
              <a:gd name="adj" fmla="val 8934"/>
            </a:avLst>
          </a:prstGeom>
          <a:solidFill>
            <a:srgbClr val="D5DCF6"/>
          </a:solidFill>
          <a:ln/>
        </p:spPr>
      </p:sp>
      <p:pic>
        <p:nvPicPr>
          <p:cNvPr id="16" name="Image 0" descr="preencoded.png">
            <a:extLst>
              <a:ext uri="{FF2B5EF4-FFF2-40B4-BE49-F238E27FC236}">
                <a16:creationId xmlns:a16="http://schemas.microsoft.com/office/drawing/2014/main" id="{C02645B8-340B-1356-4AD4-EC87BB6834B7}"/>
              </a:ext>
            </a:extLst>
          </p:cNvPr>
          <p:cNvPicPr>
            <a:picLocks noChangeAspect="1"/>
          </p:cNvPicPr>
          <p:nvPr/>
        </p:nvPicPr>
        <p:blipFill>
          <a:blip r:embed="rId3"/>
          <a:stretch>
            <a:fillRect/>
          </a:stretch>
        </p:blipFill>
        <p:spPr>
          <a:xfrm>
            <a:off x="7035861" y="4651728"/>
            <a:ext cx="280157" cy="224199"/>
          </a:xfrm>
          <a:prstGeom prst="rect">
            <a:avLst/>
          </a:prstGeom>
        </p:spPr>
      </p:pic>
      <p:sp>
        <p:nvSpPr>
          <p:cNvPr id="17" name="Text 15">
            <a:extLst>
              <a:ext uri="{FF2B5EF4-FFF2-40B4-BE49-F238E27FC236}">
                <a16:creationId xmlns:a16="http://schemas.microsoft.com/office/drawing/2014/main" id="{85B411E0-1810-469F-34B7-30B11B4DBE9B}"/>
              </a:ext>
            </a:extLst>
          </p:cNvPr>
          <p:cNvSpPr/>
          <p:nvPr/>
        </p:nvSpPr>
        <p:spPr>
          <a:xfrm>
            <a:off x="7455397" y="4671834"/>
            <a:ext cx="4230004" cy="639552"/>
          </a:xfrm>
          <a:prstGeom prst="rect">
            <a:avLst/>
          </a:prstGeom>
          <a:noFill/>
          <a:ln/>
        </p:spPr>
        <p:txBody>
          <a:bodyPr wrap="square" lIns="0" tIns="0" rIns="0" bIns="0" rtlCol="0" anchor="t">
            <a:noAutofit/>
          </a:bodyPr>
          <a:lstStyle/>
          <a:p>
            <a:pPr marL="0" indent="0" algn="l">
              <a:lnSpc>
                <a:spcPct val="117000"/>
              </a:lnSpc>
              <a:buNone/>
            </a:pP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Тернарный </a:t>
            </a:r>
            <a:r>
              <a:rPr lang="en-US" sz="1400" dirty="0" err="1">
                <a:solidFill>
                  <a:srgbClr val="000000"/>
                </a:solidFill>
                <a:latin typeface="Times New Roman" panose="02020603050405020304" pitchFamily="18" charset="0"/>
                <a:ea typeface="Sora Light" pitchFamily="34" charset="-122"/>
                <a:cs typeface="Times New Roman" panose="02020603050405020304" pitchFamily="18" charset="0"/>
              </a:rPr>
              <a:t>оператор</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a:t>
            </a:r>
            <a:r>
              <a:rPr lang="ru-RU" sz="1400" dirty="0">
                <a:solidFill>
                  <a:srgbClr val="000000"/>
                </a:solidFill>
                <a:latin typeface="Times New Roman" panose="02020603050405020304" pitchFamily="18" charset="0"/>
                <a:ea typeface="Sora Light" pitchFamily="34" charset="-122"/>
                <a:cs typeface="Times New Roman" panose="02020603050405020304" pitchFamily="18" charset="0"/>
              </a:rPr>
              <a:t>-</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инструмент для </a:t>
            </a:r>
            <a:r>
              <a:rPr lang="en-US" sz="1400" b="1" dirty="0">
                <a:solidFill>
                  <a:srgbClr val="000000"/>
                </a:solidFill>
                <a:latin typeface="Times New Roman" panose="02020603050405020304" pitchFamily="18" charset="0"/>
                <a:ea typeface="Sora Bold" pitchFamily="34" charset="-122"/>
                <a:cs typeface="Times New Roman" panose="02020603050405020304" pitchFamily="18" charset="0"/>
              </a:rPr>
              <a:t>простых</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 условий. Если логика усложняется, вернитесь к классическому </a:t>
            </a:r>
            <a:r>
              <a:rPr lang="en-US" sz="1400" dirty="0">
                <a:solidFill>
                  <a:srgbClr val="000000"/>
                </a:solidFill>
                <a:highlight>
                  <a:srgbClr val="DAE1EC"/>
                </a:highlight>
                <a:latin typeface="Times New Roman" panose="02020603050405020304" pitchFamily="18" charset="0"/>
                <a:ea typeface="Consolas" pitchFamily="34" charset="-122"/>
                <a:cs typeface="Times New Roman" panose="02020603050405020304" pitchFamily="18" charset="0"/>
              </a:rPr>
              <a:t>if/else</a:t>
            </a:r>
            <a:r>
              <a:rPr lang="en-US" sz="1400" dirty="0">
                <a:solidFill>
                  <a:srgbClr val="000000"/>
                </a:solidFill>
                <a:latin typeface="Times New Roman" panose="02020603050405020304" pitchFamily="18" charset="0"/>
                <a:ea typeface="Sora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5504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76558BF-75A3-A8B6-1EC6-2391DC509F22}"/>
              </a:ext>
            </a:extLst>
          </p:cNvPr>
          <p:cNvSpPr/>
          <p:nvPr/>
        </p:nvSpPr>
        <p:spPr>
          <a:xfrm>
            <a:off x="2280972" y="128555"/>
            <a:ext cx="8196114" cy="213196"/>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Когда вариантов много: Множественный выбор switch</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42193425-6540-2472-9ED0-FCDD4CF2A076}"/>
              </a:ext>
            </a:extLst>
          </p:cNvPr>
          <p:cNvSpPr/>
          <p:nvPr/>
        </p:nvSpPr>
        <p:spPr>
          <a:xfrm>
            <a:off x="473942" y="619423"/>
            <a:ext cx="11249971" cy="850148"/>
          </a:xfrm>
          <a:prstGeom prst="rect">
            <a:avLst/>
          </a:prstGeom>
          <a:noFill/>
          <a:ln/>
        </p:spPr>
        <p:txBody>
          <a:bodyPr wrap="square" lIns="0" tIns="0" rIns="0" bIns="0" rtlCol="0" anchor="t">
            <a:noAutofit/>
          </a:bodyPr>
          <a:lstStyle/>
          <a:p>
            <a:pPr marL="0" indent="0" algn="l">
              <a:lnSpc>
                <a:spcPct val="103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Конструкция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switch</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предназначена для ситуаций, когда нужно выбрать один вариант из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множества возможных значений</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одной переменной. Она значительно чище и читабельнее, чем длинная цепочка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else if</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особенно при большом количестве вариантов.</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77459FA-4106-E929-7D8F-C76B07573C19}"/>
              </a:ext>
            </a:extLst>
          </p:cNvPr>
          <p:cNvSpPr/>
          <p:nvPr/>
        </p:nvSpPr>
        <p:spPr>
          <a:xfrm>
            <a:off x="611548" y="1115157"/>
            <a:ext cx="4363223" cy="299805"/>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Alexandria SemiBold" pitchFamily="34" charset="-122"/>
                <a:cs typeface="Times New Roman" panose="02020603050405020304" pitchFamily="18" charset="0"/>
              </a:rPr>
              <a:t>Синтаксис switch</a:t>
            </a:r>
            <a:endParaRPr lang="en-US" sz="1400" b="1" dirty="0">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B77E2E87-08FC-D383-D78B-BDEA9CFDC0A5}"/>
              </a:ext>
            </a:extLst>
          </p:cNvPr>
          <p:cNvSpPr/>
          <p:nvPr/>
        </p:nvSpPr>
        <p:spPr>
          <a:xfrm>
            <a:off x="468087" y="1414962"/>
            <a:ext cx="4194540" cy="3499671"/>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switch (выражение)</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case значение1: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Код для варианта 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case значение2: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Код для варианта 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default: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Код, если ни один case не подошёл</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6" name="Text 8">
            <a:extLst>
              <a:ext uri="{FF2B5EF4-FFF2-40B4-BE49-F238E27FC236}">
                <a16:creationId xmlns:a16="http://schemas.microsoft.com/office/drawing/2014/main" id="{8C0AAEC7-16EF-57B7-E6F1-5868E7EE28DC}"/>
              </a:ext>
            </a:extLst>
          </p:cNvPr>
          <p:cNvSpPr/>
          <p:nvPr/>
        </p:nvSpPr>
        <p:spPr>
          <a:xfrm>
            <a:off x="955742" y="4966420"/>
            <a:ext cx="4019029" cy="106561"/>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Ключевые правила switch</a:t>
            </a:r>
            <a:endParaRPr lang="en-US" sz="1400" b="1" dirty="0">
              <a:latin typeface="Times New Roman" panose="02020603050405020304" pitchFamily="18" charset="0"/>
              <a:cs typeface="Times New Roman" panose="02020603050405020304" pitchFamily="18" charset="0"/>
            </a:endParaRPr>
          </a:p>
        </p:txBody>
      </p:sp>
      <p:sp>
        <p:nvSpPr>
          <p:cNvPr id="7" name="Text 9">
            <a:extLst>
              <a:ext uri="{FF2B5EF4-FFF2-40B4-BE49-F238E27FC236}">
                <a16:creationId xmlns:a16="http://schemas.microsoft.com/office/drawing/2014/main" id="{0585644D-79F9-7CF9-56A5-9904C5A0570D}"/>
              </a:ext>
            </a:extLst>
          </p:cNvPr>
          <p:cNvSpPr/>
          <p:nvPr/>
        </p:nvSpPr>
        <p:spPr>
          <a:xfrm>
            <a:off x="190913" y="5313543"/>
            <a:ext cx="6019799" cy="1478214"/>
          </a:xfrm>
          <a:prstGeom prst="rect">
            <a:avLst/>
          </a:prstGeom>
          <a:noFill/>
          <a:ln/>
        </p:spPr>
        <p:txBody>
          <a:bodyPr wrap="square" lIns="0" tIns="25919" rIns="0" bIns="0" rtlCol="0" anchor="t">
            <a:noAutofit/>
          </a:bodyPr>
          <a:lstStyle/>
          <a:p>
            <a:pPr marL="101600" indent="-101600" algn="l">
              <a:lnSpc>
                <a:spcPct val="103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Выражение switch</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может быть типа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int</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string</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char</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enum</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или nullable-типов</a:t>
            </a:r>
            <a:endParaRPr lang="en-US" sz="1400" dirty="0">
              <a:latin typeface="Times New Roman" panose="02020603050405020304" pitchFamily="18" charset="0"/>
              <a:cs typeface="Times New Roman" panose="02020603050405020304" pitchFamily="18" charset="0"/>
            </a:endParaRPr>
          </a:p>
          <a:p>
            <a:pPr marL="101600" indent="-101600" algn="l">
              <a:lnSpc>
                <a:spcPct val="103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Оператор break</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обязателен в каждом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case</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ru-RU" sz="1400" dirty="0">
                <a:solidFill>
                  <a:srgbClr val="3B3535"/>
                </a:solidFill>
                <a:latin typeface="Times New Roman" panose="02020603050405020304" pitchFamily="18" charset="0"/>
                <a:ea typeface="Sora Light" pitchFamily="34" charset="-122"/>
                <a:cs typeface="Times New Roman" panose="02020603050405020304" pitchFamily="18" charset="0"/>
              </a:rPr>
              <a:t>-</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без него выполнение «провалится» в следующий блок</a:t>
            </a:r>
            <a:endParaRPr lang="en-US" sz="1400" dirty="0">
              <a:latin typeface="Times New Roman" panose="02020603050405020304" pitchFamily="18" charset="0"/>
              <a:cs typeface="Times New Roman" panose="02020603050405020304" pitchFamily="18" charset="0"/>
            </a:endParaRPr>
          </a:p>
          <a:p>
            <a:pPr marL="101600" indent="-101600" algn="l">
              <a:lnSpc>
                <a:spcPct val="103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Метка default</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обрабатывает все значения, не совпавшие с указанными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case</a:t>
            </a:r>
            <a:endParaRPr lang="en-US" sz="1400" dirty="0">
              <a:latin typeface="Times New Roman" panose="02020603050405020304" pitchFamily="18" charset="0"/>
              <a:cs typeface="Times New Roman" panose="02020603050405020304" pitchFamily="18" charset="0"/>
            </a:endParaRPr>
          </a:p>
          <a:p>
            <a:pPr marL="101600" indent="-101600" algn="l">
              <a:lnSpc>
                <a:spcPct val="103000"/>
              </a:lnSpc>
              <a:buSzPct val="100000"/>
              <a:buChar char="•"/>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Несколько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case</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могут указывать на один блок кода (группировка)</a:t>
            </a:r>
            <a:endParaRPr lang="en-US" sz="1400" dirty="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3B323654-F722-C3B6-7A75-1F71527F8051}"/>
              </a:ext>
            </a:extLst>
          </p:cNvPr>
          <p:cNvSpPr/>
          <p:nvPr/>
        </p:nvSpPr>
        <p:spPr>
          <a:xfrm>
            <a:off x="8172971" y="1308401"/>
            <a:ext cx="4019029" cy="106561"/>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Alexandria SemiBold" pitchFamily="34" charset="-122"/>
                <a:cs typeface="Times New Roman" panose="02020603050405020304" pitchFamily="18" charset="0"/>
              </a:rPr>
              <a:t>Пример: выбор размера кофе</a:t>
            </a:r>
            <a:endParaRPr lang="en-US" sz="1400" b="1" dirty="0">
              <a:latin typeface="Times New Roman" panose="02020603050405020304" pitchFamily="18" charset="0"/>
              <a:cs typeface="Times New Roman" panose="02020603050405020304" pitchFamily="18" charset="0"/>
            </a:endParaRPr>
          </a:p>
        </p:txBody>
      </p:sp>
      <p:sp>
        <p:nvSpPr>
          <p:cNvPr id="11" name="Text 12">
            <a:extLst>
              <a:ext uri="{FF2B5EF4-FFF2-40B4-BE49-F238E27FC236}">
                <a16:creationId xmlns:a16="http://schemas.microsoft.com/office/drawing/2014/main" id="{CD8254A2-BDDE-6ACD-47E1-97BBC538DAE9}"/>
              </a:ext>
            </a:extLst>
          </p:cNvPr>
          <p:cNvSpPr/>
          <p:nvPr/>
        </p:nvSpPr>
        <p:spPr>
          <a:xfrm>
            <a:off x="7174428" y="1747243"/>
            <a:ext cx="4549485" cy="4491334"/>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string size = "L";</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decimal price;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switch (size)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case "S":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price = 150;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case "M":</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price = 200;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case "L":</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price = 250;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default: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price = 200; // По умолчанию — M</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break;</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9339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2">
            <a:extLst>
              <a:ext uri="{FF2B5EF4-FFF2-40B4-BE49-F238E27FC236}">
                <a16:creationId xmlns:a16="http://schemas.microsoft.com/office/drawing/2014/main" id="{A5E12F8C-4123-7200-A61A-4FD6D5D18768}"/>
              </a:ext>
            </a:extLst>
          </p:cNvPr>
          <p:cNvSpPr/>
          <p:nvPr/>
        </p:nvSpPr>
        <p:spPr>
          <a:xfrm>
            <a:off x="6443154" y="4999187"/>
            <a:ext cx="4025801" cy="1500837"/>
          </a:xfrm>
          <a:prstGeom prst="roundRect">
            <a:avLst>
              <a:gd name="adj" fmla="val 4202"/>
            </a:avLst>
          </a:prstGeom>
          <a:solidFill>
            <a:srgbClr val="F2EDED"/>
          </a:solidFill>
          <a:ln/>
        </p:spPr>
      </p:sp>
      <p:sp>
        <p:nvSpPr>
          <p:cNvPr id="8" name="Shape 4">
            <a:extLst>
              <a:ext uri="{FF2B5EF4-FFF2-40B4-BE49-F238E27FC236}">
                <a16:creationId xmlns:a16="http://schemas.microsoft.com/office/drawing/2014/main" id="{E0AFA799-02C5-21DB-E18F-CA449C16A925}"/>
              </a:ext>
            </a:extLst>
          </p:cNvPr>
          <p:cNvSpPr/>
          <p:nvPr/>
        </p:nvSpPr>
        <p:spPr>
          <a:xfrm>
            <a:off x="241589" y="1132493"/>
            <a:ext cx="5733184" cy="5672706"/>
          </a:xfrm>
          <a:prstGeom prst="roundRect">
            <a:avLst>
              <a:gd name="adj" fmla="val 1083"/>
            </a:avLst>
          </a:prstGeom>
          <a:solidFill>
            <a:srgbClr val="DAE1EC"/>
          </a:solidFill>
          <a:ln/>
        </p:spPr>
      </p:sp>
      <p:sp>
        <p:nvSpPr>
          <p:cNvPr id="2" name="Text 0">
            <a:extLst>
              <a:ext uri="{FF2B5EF4-FFF2-40B4-BE49-F238E27FC236}">
                <a16:creationId xmlns:a16="http://schemas.microsoft.com/office/drawing/2014/main" id="{3E4E1786-94E2-3E25-F3F4-E0CC0C3BBBBA}"/>
              </a:ext>
            </a:extLst>
          </p:cNvPr>
          <p:cNvSpPr/>
          <p:nvPr/>
        </p:nvSpPr>
        <p:spPr>
          <a:xfrm>
            <a:off x="2862140" y="99874"/>
            <a:ext cx="8196114" cy="194816"/>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Углубляемся: Вложенные условия</a:t>
            </a:r>
            <a:endParaRPr lang="en-US"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2C8E08-4B15-672B-4BEC-2FB88ACFF2DD}"/>
              </a:ext>
            </a:extLst>
          </p:cNvPr>
          <p:cNvSpPr txBox="1"/>
          <p:nvPr/>
        </p:nvSpPr>
        <p:spPr>
          <a:xfrm>
            <a:off x="241589" y="549808"/>
            <a:ext cx="11500138" cy="523220"/>
          </a:xfrm>
          <a:prstGeom prst="rect">
            <a:avLst/>
          </a:prstGeom>
          <a:noFill/>
        </p:spPr>
        <p:txBody>
          <a:bodyPr wrap="square">
            <a:spAutoFit/>
          </a:bodyPr>
          <a:lstStyle/>
          <a:p>
            <a:pPr marL="0" indent="0" algn="l">
              <a:lnSpc>
                <a:spcPct val="100000"/>
              </a:lnSpc>
              <a:buNone/>
            </a:pP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Вложенные</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условия</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возникают</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когда</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одно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условие</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должно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проверяться</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только</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после</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того</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как</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выполнено</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 </a:t>
            </a:r>
            <a:r>
              <a:rPr lang="en-US" sz="1400" b="1" dirty="0" err="1">
                <a:solidFill>
                  <a:srgbClr val="3B3535"/>
                </a:solidFill>
                <a:latin typeface="Times New Roman" panose="02020603050405020304" pitchFamily="18" charset="0"/>
                <a:ea typeface="Sora Bold" pitchFamily="34" charset="-122"/>
                <a:cs typeface="Times New Roman" panose="02020603050405020304" pitchFamily="18" charset="0"/>
              </a:rPr>
              <a:t>другое</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Это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мощный</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инструмент</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но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с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ним</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нужно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обращаться</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осторожно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чрезмерная</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вложенность</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быстро</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превращает</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код</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в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нечитаемую</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Sora Light" pitchFamily="34" charset="-122"/>
                <a:cs typeface="Times New Roman" panose="02020603050405020304" pitchFamily="18" charset="0"/>
              </a:rPr>
              <a:t>структуру</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1476F8CC-D9FD-8F24-2991-EE697EF91E22}"/>
              </a:ext>
            </a:extLst>
          </p:cNvPr>
          <p:cNvSpPr/>
          <p:nvPr/>
        </p:nvSpPr>
        <p:spPr>
          <a:xfrm>
            <a:off x="241589" y="1486630"/>
            <a:ext cx="2471324" cy="633116"/>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Пример вложенных условий</a:t>
            </a:r>
            <a:endParaRPr lang="en-US" sz="1400" b="1"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2A75E051-5835-5BF0-4925-598CD4085BF6}"/>
              </a:ext>
            </a:extLst>
          </p:cNvPr>
          <p:cNvSpPr/>
          <p:nvPr/>
        </p:nvSpPr>
        <p:spPr>
          <a:xfrm>
            <a:off x="2712913" y="1132493"/>
            <a:ext cx="3261860" cy="572550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tIns="0" rIns="0" bIns="0" rtlCol="0" anchor="t">
            <a:noAutofit/>
          </a:bodyPr>
          <a:lstStyle/>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if (user.IsLoggedIn)</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if (user.HasSubscription)</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if (user.Subscription.IsActive)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 Предоставить доступ к контенту</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ShowPremiumContent();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Console.WriteLine("Подписка истекла");</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Console.WriteLine("Нет подписки");</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    Console.WriteLine("Войдите в систему");</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47AFE9AD-9682-9AD1-DB9D-DA7BB72F0F7B}"/>
              </a:ext>
            </a:extLst>
          </p:cNvPr>
          <p:cNvSpPr/>
          <p:nvPr/>
        </p:nvSpPr>
        <p:spPr>
          <a:xfrm>
            <a:off x="7796647" y="1132493"/>
            <a:ext cx="4025801" cy="97482"/>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Проблема «спагетти-кода»</a:t>
            </a:r>
            <a:endParaRPr lang="en-US" sz="1400" b="1" dirty="0">
              <a:latin typeface="Times New Roman" panose="02020603050405020304" pitchFamily="18" charset="0"/>
              <a:cs typeface="Times New Roman" panose="02020603050405020304" pitchFamily="18" charset="0"/>
            </a:endParaRPr>
          </a:p>
        </p:txBody>
      </p:sp>
      <p:sp>
        <p:nvSpPr>
          <p:cNvPr id="10" name="Text 7">
            <a:extLst>
              <a:ext uri="{FF2B5EF4-FFF2-40B4-BE49-F238E27FC236}">
                <a16:creationId xmlns:a16="http://schemas.microsoft.com/office/drawing/2014/main" id="{5C7B3706-8AD0-0CEF-01D3-6307B7B5143E}"/>
              </a:ext>
            </a:extLst>
          </p:cNvPr>
          <p:cNvSpPr/>
          <p:nvPr/>
        </p:nvSpPr>
        <p:spPr>
          <a:xfrm>
            <a:off x="6217229" y="1466366"/>
            <a:ext cx="5733182" cy="835777"/>
          </a:xfrm>
          <a:prstGeom prst="rect">
            <a:avLst/>
          </a:prstGeom>
          <a:noFill/>
          <a:ln/>
        </p:spPr>
        <p:txBody>
          <a:bodyPr wrap="square" lIns="0" tIns="0" rIns="0" bIns="0" rtlCol="0" anchor="t">
            <a:noAutofit/>
          </a:bodyPr>
          <a:lstStyle/>
          <a:p>
            <a:pPr marL="0" indent="0" algn="l">
              <a:lnSpc>
                <a:spcPct val="100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Когда уровень вложенности превышает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2–3 уровня</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код становится крайне трудным для понимания, тестирования и поддержки. Каждое дополнительное вложение экспоненциально увеличивает когнитивную нагрузку на разработчика.</a:t>
            </a:r>
            <a:endParaRPr lang="en-US" sz="1400" dirty="0">
              <a:latin typeface="Times New Roman" panose="02020603050405020304" pitchFamily="18" charset="0"/>
              <a:cs typeface="Times New Roman" panose="02020603050405020304" pitchFamily="18" charset="0"/>
            </a:endParaRPr>
          </a:p>
        </p:txBody>
      </p:sp>
      <p:sp>
        <p:nvSpPr>
          <p:cNvPr id="11" name="Text 8">
            <a:extLst>
              <a:ext uri="{FF2B5EF4-FFF2-40B4-BE49-F238E27FC236}">
                <a16:creationId xmlns:a16="http://schemas.microsoft.com/office/drawing/2014/main" id="{A015FBB1-D372-7F6E-1286-5DAE00E07B87}"/>
              </a:ext>
            </a:extLst>
          </p:cNvPr>
          <p:cNvSpPr/>
          <p:nvPr/>
        </p:nvSpPr>
        <p:spPr>
          <a:xfrm>
            <a:off x="8166199" y="2302143"/>
            <a:ext cx="4025801" cy="97482"/>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Стратегии упрощения</a:t>
            </a:r>
            <a:endParaRPr lang="en-US" sz="1400" b="1" dirty="0">
              <a:latin typeface="Times New Roman" panose="02020603050405020304" pitchFamily="18" charset="0"/>
              <a:cs typeface="Times New Roman" panose="02020603050405020304" pitchFamily="18" charset="0"/>
            </a:endParaRPr>
          </a:p>
        </p:txBody>
      </p:sp>
      <p:sp>
        <p:nvSpPr>
          <p:cNvPr id="12" name="Text 9">
            <a:extLst>
              <a:ext uri="{FF2B5EF4-FFF2-40B4-BE49-F238E27FC236}">
                <a16:creationId xmlns:a16="http://schemas.microsoft.com/office/drawing/2014/main" id="{1FBDB654-EC9A-4CCF-EC37-CCA45D5D626F}"/>
              </a:ext>
            </a:extLst>
          </p:cNvPr>
          <p:cNvSpPr/>
          <p:nvPr/>
        </p:nvSpPr>
        <p:spPr>
          <a:xfrm>
            <a:off x="6185001" y="2541866"/>
            <a:ext cx="5733182" cy="1653937"/>
          </a:xfrm>
          <a:prstGeom prst="rect">
            <a:avLst/>
          </a:prstGeom>
          <a:noFill/>
          <a:ln/>
        </p:spPr>
        <p:txBody>
          <a:bodyPr wrap="square" lIns="0" tIns="23697" rIns="0" bIns="0" rtlCol="0" anchor="t">
            <a:noAutofit/>
          </a:bodyPr>
          <a:lstStyle/>
          <a:p>
            <a:pPr marL="91440" indent="-91440" algn="l">
              <a:lnSpc>
                <a:spcPct val="100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Ранний выход (Early Return)</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проверяйте негативные условия первыми и выходите из метода</a:t>
            </a:r>
            <a:endParaRPr lang="en-US" sz="1400" dirty="0">
              <a:latin typeface="Times New Roman" panose="02020603050405020304" pitchFamily="18" charset="0"/>
              <a:cs typeface="Times New Roman" panose="02020603050405020304" pitchFamily="18" charset="0"/>
            </a:endParaRPr>
          </a:p>
          <a:p>
            <a:pPr marL="91440" indent="-91440" algn="l">
              <a:lnSpc>
                <a:spcPct val="100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Объединение условий</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используйте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&amp;&amp;</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вместо вложенных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if</a:t>
            </a:r>
            <a:endParaRPr lang="en-US" sz="1400" dirty="0">
              <a:latin typeface="Times New Roman" panose="02020603050405020304" pitchFamily="18" charset="0"/>
              <a:cs typeface="Times New Roman" panose="02020603050405020304" pitchFamily="18" charset="0"/>
            </a:endParaRPr>
          </a:p>
          <a:p>
            <a:pPr marL="91440" indent="-91440" algn="l">
              <a:lnSpc>
                <a:spcPct val="100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Выделение методов</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вынесите вложенную логику в отдельный метод с понятным именем</a:t>
            </a:r>
            <a:endParaRPr lang="en-US" sz="1400" dirty="0">
              <a:latin typeface="Times New Roman" panose="02020603050405020304" pitchFamily="18" charset="0"/>
              <a:cs typeface="Times New Roman" panose="02020603050405020304" pitchFamily="18" charset="0"/>
            </a:endParaRPr>
          </a:p>
          <a:p>
            <a:pPr marL="91440" indent="-91440" algn="l">
              <a:lnSpc>
                <a:spcPct val="100000"/>
              </a:lnSpc>
              <a:buSzPct val="100000"/>
              <a:buChar char="•"/>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Использование guard-условий</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отбрасывайте недопустимые состояния в начале</a:t>
            </a:r>
            <a:endParaRPr lang="en-US" sz="1400" dirty="0">
              <a:latin typeface="Times New Roman" panose="02020603050405020304" pitchFamily="18" charset="0"/>
              <a:cs typeface="Times New Roman" panose="02020603050405020304" pitchFamily="18" charset="0"/>
            </a:endParaRPr>
          </a:p>
        </p:txBody>
      </p:sp>
      <p:sp>
        <p:nvSpPr>
          <p:cNvPr id="13" name="Text 10">
            <a:extLst>
              <a:ext uri="{FF2B5EF4-FFF2-40B4-BE49-F238E27FC236}">
                <a16:creationId xmlns:a16="http://schemas.microsoft.com/office/drawing/2014/main" id="{A51521A5-604E-A69D-5B49-632D20C3F9BF}"/>
              </a:ext>
            </a:extLst>
          </p:cNvPr>
          <p:cNvSpPr/>
          <p:nvPr/>
        </p:nvSpPr>
        <p:spPr>
          <a:xfrm>
            <a:off x="7466186" y="4062663"/>
            <a:ext cx="4025801" cy="97482"/>
          </a:xfrm>
          <a:prstGeom prst="rect">
            <a:avLst/>
          </a:prstGeom>
          <a:noFill/>
          <a:ln/>
        </p:spPr>
        <p:txBody>
          <a:bodyPr wrap="none" lIns="0" tIns="0" rIns="0" bIns="0" rtlCol="0" anchor="t"/>
          <a:lstStyle/>
          <a:p>
            <a:pPr marL="0" indent="0" algn="l">
              <a:lnSpc>
                <a:spcPct val="104000"/>
              </a:lnSpc>
              <a:buNone/>
            </a:pPr>
            <a:r>
              <a:rPr lang="en-US" sz="1400" b="1" dirty="0">
                <a:solidFill>
                  <a:srgbClr val="1F1E1E"/>
                </a:solidFill>
                <a:latin typeface="Times New Roman" panose="02020603050405020304" pitchFamily="18" charset="0"/>
                <a:ea typeface="Alexandria SemiBold" pitchFamily="34" charset="-122"/>
                <a:cs typeface="Times New Roman" panose="02020603050405020304" pitchFamily="18" charset="0"/>
              </a:rPr>
              <a:t>Проблема dangling else</a:t>
            </a:r>
            <a:endParaRPr lang="en-US" sz="1400" b="1" dirty="0">
              <a:latin typeface="Times New Roman" panose="02020603050405020304" pitchFamily="18" charset="0"/>
              <a:cs typeface="Times New Roman" panose="02020603050405020304" pitchFamily="18" charset="0"/>
            </a:endParaRPr>
          </a:p>
        </p:txBody>
      </p:sp>
      <p:sp>
        <p:nvSpPr>
          <p:cNvPr id="14" name="Text 11">
            <a:extLst>
              <a:ext uri="{FF2B5EF4-FFF2-40B4-BE49-F238E27FC236}">
                <a16:creationId xmlns:a16="http://schemas.microsoft.com/office/drawing/2014/main" id="{2C775A0C-53F2-E664-A7F6-70540F4A498E}"/>
              </a:ext>
            </a:extLst>
          </p:cNvPr>
          <p:cNvSpPr/>
          <p:nvPr/>
        </p:nvSpPr>
        <p:spPr>
          <a:xfrm>
            <a:off x="6429422" y="4320222"/>
            <a:ext cx="5733182" cy="798733"/>
          </a:xfrm>
          <a:prstGeom prst="rect">
            <a:avLst/>
          </a:prstGeom>
          <a:noFill/>
          <a:ln/>
        </p:spPr>
        <p:txBody>
          <a:bodyPr wrap="square" lIns="0" tIns="0" rIns="0" bIns="0" rtlCol="0" anchor="t">
            <a:noAutofit/>
          </a:bodyPr>
          <a:lstStyle/>
          <a:p>
            <a:pPr marL="0" indent="0" algn="l">
              <a:lnSpc>
                <a:spcPct val="100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В C# каждый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else</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относится к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ближайшему предшествующему if</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у которого ещё нет своего </a:t>
            </a:r>
            <a:r>
              <a:rPr lang="en-US" sz="1400" dirty="0">
                <a:solidFill>
                  <a:srgbClr val="3B3535"/>
                </a:solidFill>
                <a:highlight>
                  <a:srgbClr val="F2EDED"/>
                </a:highlight>
                <a:latin typeface="Times New Roman" panose="02020603050405020304" pitchFamily="18" charset="0"/>
                <a:ea typeface="Consolas" pitchFamily="34" charset="-122"/>
                <a:cs typeface="Times New Roman" panose="02020603050405020304" pitchFamily="18" charset="0"/>
              </a:rPr>
              <a:t>else</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Это может привести к неожиданному поведению:</a:t>
            </a:r>
            <a:endParaRPr lang="en-US" sz="1400"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5B02B42E-BB13-131D-59C8-884B8F930393}"/>
              </a:ext>
            </a:extLst>
          </p:cNvPr>
          <p:cNvSpPr/>
          <p:nvPr/>
        </p:nvSpPr>
        <p:spPr>
          <a:xfrm>
            <a:off x="6585285" y="4999187"/>
            <a:ext cx="3883670" cy="1441372"/>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if (condition1)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if (condition2)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DoSomething();</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else // Относится к condition2, а не condition1!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DoOther();</a:t>
            </a:r>
            <a:endParaRPr lang="en-US" sz="1400" dirty="0">
              <a:latin typeface="Times New Roman" panose="02020603050405020304" pitchFamily="18" charset="0"/>
              <a:cs typeface="Times New Roman" panose="02020603050405020304" pitchFamily="18" charset="0"/>
            </a:endParaRPr>
          </a:p>
        </p:txBody>
      </p:sp>
      <p:sp>
        <p:nvSpPr>
          <p:cNvPr id="16" name="Text 14">
            <a:extLst>
              <a:ext uri="{FF2B5EF4-FFF2-40B4-BE49-F238E27FC236}">
                <a16:creationId xmlns:a16="http://schemas.microsoft.com/office/drawing/2014/main" id="{06F25B88-66C1-9498-6090-6839EEFE79C9}"/>
              </a:ext>
            </a:extLst>
          </p:cNvPr>
          <p:cNvSpPr/>
          <p:nvPr/>
        </p:nvSpPr>
        <p:spPr>
          <a:xfrm>
            <a:off x="5805493" y="6500024"/>
            <a:ext cx="4483001" cy="71065"/>
          </a:xfrm>
          <a:prstGeom prst="rect">
            <a:avLst/>
          </a:prstGeom>
          <a:noFill/>
          <a:ln/>
        </p:spPr>
        <p:txBody>
          <a:bodyPr wrap="none" lIns="0" tIns="0" rIns="0" bIns="0" rtlCol="0" anchor="t"/>
          <a:lstStyle/>
          <a:p>
            <a:pPr marL="0" indent="0" algn="l">
              <a:lnSpc>
                <a:spcPct val="100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Решение: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всегда используйте фигурные скобки</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и правильное форматирование.</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675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18">
            <a:extLst>
              <a:ext uri="{FF2B5EF4-FFF2-40B4-BE49-F238E27FC236}">
                <a16:creationId xmlns:a16="http://schemas.microsoft.com/office/drawing/2014/main" id="{342626F9-5B08-27E1-5C10-88AADE0680D1}"/>
              </a:ext>
            </a:extLst>
          </p:cNvPr>
          <p:cNvSpPr/>
          <p:nvPr/>
        </p:nvSpPr>
        <p:spPr>
          <a:xfrm>
            <a:off x="419023" y="4116328"/>
            <a:ext cx="4777714" cy="2683198"/>
          </a:xfrm>
          <a:prstGeom prst="roundRect">
            <a:avLst>
              <a:gd name="adj" fmla="val 1843"/>
            </a:avLst>
          </a:prstGeom>
          <a:solidFill>
            <a:srgbClr val="F2EDED"/>
          </a:solidFill>
          <a:ln/>
        </p:spPr>
      </p:sp>
      <p:sp>
        <p:nvSpPr>
          <p:cNvPr id="2" name="Text 0">
            <a:extLst>
              <a:ext uri="{FF2B5EF4-FFF2-40B4-BE49-F238E27FC236}">
                <a16:creationId xmlns:a16="http://schemas.microsoft.com/office/drawing/2014/main" id="{FAAC61C8-FEFF-A749-CB15-03186B8A30CD}"/>
              </a:ext>
            </a:extLst>
          </p:cNvPr>
          <p:cNvSpPr/>
          <p:nvPr/>
        </p:nvSpPr>
        <p:spPr>
          <a:xfrm>
            <a:off x="2816310" y="106418"/>
            <a:ext cx="8196114" cy="237455"/>
          </a:xfrm>
          <a:prstGeom prst="rect">
            <a:avLst/>
          </a:prstGeom>
          <a:noFill/>
          <a:ln/>
        </p:spPr>
        <p:txBody>
          <a:bodyPr wrap="none" lIns="0" tIns="0" rIns="0" bIns="0" rtlCol="0" anchor="t"/>
          <a:lstStyle/>
          <a:p>
            <a:pPr marL="0" indent="0" algn="ctr">
              <a:lnSpc>
                <a:spcPct val="104000"/>
              </a:lnSpc>
              <a:buNone/>
            </a:pPr>
            <a:r>
              <a:rPr lang="en-US" sz="2800" dirty="0">
                <a:solidFill>
                  <a:srgbClr val="1F1E1E"/>
                </a:solidFill>
                <a:latin typeface="Times New Roman" panose="02020603050405020304" pitchFamily="18" charset="0"/>
                <a:ea typeface="Alexandria SemiBold" pitchFamily="34" charset="-122"/>
                <a:cs typeface="Times New Roman" panose="02020603050405020304" pitchFamily="18" charset="0"/>
              </a:rPr>
              <a:t>Сложные логические связки</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84F5D4BD-FCC8-EE58-8AD9-391051A24009}"/>
              </a:ext>
            </a:extLst>
          </p:cNvPr>
          <p:cNvSpPr/>
          <p:nvPr/>
        </p:nvSpPr>
        <p:spPr>
          <a:xfrm>
            <a:off x="473942" y="657299"/>
            <a:ext cx="11363153" cy="733090"/>
          </a:xfrm>
          <a:prstGeom prst="rect">
            <a:avLst/>
          </a:prstGeom>
          <a:noFill/>
          <a:ln/>
        </p:spPr>
        <p:txBody>
          <a:bodyPr wrap="square" lIns="0" tIns="0" rIns="0" bIns="0" rtlCol="0" anchor="t">
            <a:noAutofit/>
          </a:bodyPr>
          <a:lstStyle/>
          <a:p>
            <a:pPr marL="0" indent="0" algn="l">
              <a:lnSpc>
                <a:spcPct val="107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Реальные задачи редко укладываются в одно простое условие. C# предоставляет три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логических оператора</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которые позволяют комбинировать Boolean-выражения в сложные конструкции для точного контроля потока выполнения.</a:t>
            </a:r>
            <a:endParaRPr lang="en-US" sz="1400" dirty="0">
              <a:latin typeface="Times New Roman" panose="02020603050405020304" pitchFamily="18" charset="0"/>
              <a:cs typeface="Times New Roman" panose="02020603050405020304" pitchFamily="18" charset="0"/>
            </a:endParaRPr>
          </a:p>
        </p:txBody>
      </p:sp>
      <p:sp>
        <p:nvSpPr>
          <p:cNvPr id="4" name="Shape 2">
            <a:extLst>
              <a:ext uri="{FF2B5EF4-FFF2-40B4-BE49-F238E27FC236}">
                <a16:creationId xmlns:a16="http://schemas.microsoft.com/office/drawing/2014/main" id="{2D6A6C6C-C4C4-0A73-4688-E5D934DEA5A1}"/>
              </a:ext>
            </a:extLst>
          </p:cNvPr>
          <p:cNvSpPr/>
          <p:nvPr/>
        </p:nvSpPr>
        <p:spPr>
          <a:xfrm>
            <a:off x="473942" y="1112187"/>
            <a:ext cx="3900189" cy="2642991"/>
          </a:xfrm>
          <a:prstGeom prst="roundRect">
            <a:avLst>
              <a:gd name="adj" fmla="val 2659"/>
            </a:avLst>
          </a:prstGeom>
          <a:solidFill>
            <a:srgbClr val="D5DCF6"/>
          </a:solidFill>
          <a:ln w="4763">
            <a:solidFill>
              <a:srgbClr val="BBC2DC"/>
            </a:solidFill>
            <a:prstDash val="solid"/>
          </a:ln>
        </p:spPr>
      </p:sp>
      <p:sp>
        <p:nvSpPr>
          <p:cNvPr id="5" name="Text 3">
            <a:extLst>
              <a:ext uri="{FF2B5EF4-FFF2-40B4-BE49-F238E27FC236}">
                <a16:creationId xmlns:a16="http://schemas.microsoft.com/office/drawing/2014/main" id="{405C1198-EF99-E531-9A3C-3E645046A3B0}"/>
              </a:ext>
            </a:extLst>
          </p:cNvPr>
          <p:cNvSpPr/>
          <p:nvPr/>
        </p:nvSpPr>
        <p:spPr>
          <a:xfrm>
            <a:off x="1756829" y="1222792"/>
            <a:ext cx="2548830" cy="118765"/>
          </a:xfrm>
          <a:prstGeom prst="rect">
            <a:avLst/>
          </a:prstGeom>
          <a:noFill/>
          <a:ln/>
        </p:spPr>
        <p:txBody>
          <a:bodyPr wrap="none" lIns="0" tIns="0" rIns="0" bIns="0" rtlCol="0" anchor="t"/>
          <a:lstStyle/>
          <a:p>
            <a:pPr marL="0" indent="0" algn="l">
              <a:lnSpc>
                <a:spcPct val="104000"/>
              </a:lnSpc>
              <a:buNone/>
            </a:pPr>
            <a:r>
              <a:rPr lang="en-US" sz="1400" b="1" dirty="0">
                <a:solidFill>
                  <a:srgbClr val="3B3535"/>
                </a:solidFill>
                <a:latin typeface="Times New Roman" panose="02020603050405020304" pitchFamily="18" charset="0"/>
                <a:ea typeface="Alexandria SemiBold" pitchFamily="34" charset="-122"/>
                <a:cs typeface="Times New Roman" panose="02020603050405020304" pitchFamily="18" charset="0"/>
              </a:rPr>
              <a:t>Оператор И (&amp;&amp;)</a:t>
            </a:r>
            <a:endParaRPr lang="en-US" sz="1400" b="1"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3DD95BBE-365D-A507-0C66-EEAB4444B93A}"/>
              </a:ext>
            </a:extLst>
          </p:cNvPr>
          <p:cNvSpPr/>
          <p:nvPr/>
        </p:nvSpPr>
        <p:spPr>
          <a:xfrm>
            <a:off x="550886" y="1509618"/>
            <a:ext cx="3933432" cy="635166"/>
          </a:xfrm>
          <a:prstGeom prst="rect">
            <a:avLst/>
          </a:prstGeom>
          <a:noFill/>
          <a:ln/>
        </p:spPr>
        <p:txBody>
          <a:bodyPr wrap="square" lIns="0" tIns="0" rIns="0" bIns="0" rtlCol="0" anchor="t">
            <a:noAutofit/>
          </a:bodyPr>
          <a:lstStyle/>
          <a:p>
            <a:pPr marL="0" indent="0" algn="l">
              <a:lnSpc>
                <a:spcPct val="107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Истинен, только если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оба</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операнда истинны. Использует «ленивое» вычисление: если первый операнд ложен, второй не проверяется.</a:t>
            </a:r>
            <a:endParaRPr lang="en-US" sz="1400" dirty="0">
              <a:latin typeface="Times New Roman" panose="02020603050405020304" pitchFamily="18" charset="0"/>
              <a:cs typeface="Times New Roman" panose="02020603050405020304" pitchFamily="18" charset="0"/>
            </a:endParaRPr>
          </a:p>
        </p:txBody>
      </p:sp>
      <p:sp>
        <p:nvSpPr>
          <p:cNvPr id="7" name="Shape 5">
            <a:extLst>
              <a:ext uri="{FF2B5EF4-FFF2-40B4-BE49-F238E27FC236}">
                <a16:creationId xmlns:a16="http://schemas.microsoft.com/office/drawing/2014/main" id="{A6B2E14E-52B2-C2F1-AAA1-C06199564DEA}"/>
              </a:ext>
            </a:extLst>
          </p:cNvPr>
          <p:cNvSpPr/>
          <p:nvPr/>
        </p:nvSpPr>
        <p:spPr>
          <a:xfrm>
            <a:off x="550885" y="2289248"/>
            <a:ext cx="2831141" cy="1355825"/>
          </a:xfrm>
          <a:prstGeom prst="roundRect">
            <a:avLst>
              <a:gd name="adj" fmla="val 5001"/>
            </a:avLst>
          </a:prstGeom>
          <a:solidFill>
            <a:srgbClr val="F2EDED"/>
          </a:solidFill>
          <a:ln/>
        </p:spPr>
      </p:sp>
      <p:sp>
        <p:nvSpPr>
          <p:cNvPr id="8" name="Text 6">
            <a:extLst>
              <a:ext uri="{FF2B5EF4-FFF2-40B4-BE49-F238E27FC236}">
                <a16:creationId xmlns:a16="http://schemas.microsoft.com/office/drawing/2014/main" id="{37CDD405-E6A7-02B4-0279-26BD358FE26A}"/>
              </a:ext>
            </a:extLst>
          </p:cNvPr>
          <p:cNvSpPr/>
          <p:nvPr/>
        </p:nvSpPr>
        <p:spPr>
          <a:xfrm>
            <a:off x="637504" y="2361430"/>
            <a:ext cx="2375595" cy="461962"/>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if (age &gt;= 18 &amp;&amp; hasID)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EnterClub();</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C478E8B0-A183-5644-9F92-9B18B602132A}"/>
              </a:ext>
            </a:extLst>
          </p:cNvPr>
          <p:cNvSpPr/>
          <p:nvPr/>
        </p:nvSpPr>
        <p:spPr>
          <a:xfrm>
            <a:off x="4570937" y="1071980"/>
            <a:ext cx="3422328" cy="2683198"/>
          </a:xfrm>
          <a:prstGeom prst="roundRect">
            <a:avLst>
              <a:gd name="adj" fmla="val 2659"/>
            </a:avLst>
          </a:prstGeom>
          <a:solidFill>
            <a:srgbClr val="D5DCF6"/>
          </a:solidFill>
          <a:ln w="4763">
            <a:solidFill>
              <a:srgbClr val="BBC2DC"/>
            </a:solidFill>
            <a:prstDash val="solid"/>
          </a:ln>
        </p:spPr>
      </p:sp>
      <p:sp>
        <p:nvSpPr>
          <p:cNvPr id="10" name="Text 8">
            <a:extLst>
              <a:ext uri="{FF2B5EF4-FFF2-40B4-BE49-F238E27FC236}">
                <a16:creationId xmlns:a16="http://schemas.microsoft.com/office/drawing/2014/main" id="{015B239B-E4B8-F559-692F-5A825C3612BB}"/>
              </a:ext>
            </a:extLst>
          </p:cNvPr>
          <p:cNvSpPr/>
          <p:nvPr/>
        </p:nvSpPr>
        <p:spPr>
          <a:xfrm>
            <a:off x="5438745" y="1182251"/>
            <a:ext cx="2548830" cy="118765"/>
          </a:xfrm>
          <a:prstGeom prst="rect">
            <a:avLst/>
          </a:prstGeom>
          <a:noFill/>
          <a:ln/>
        </p:spPr>
        <p:txBody>
          <a:bodyPr wrap="none" lIns="0" tIns="0" rIns="0" bIns="0" rtlCol="0" anchor="t"/>
          <a:lstStyle/>
          <a:p>
            <a:pPr marL="0" indent="0" algn="l">
              <a:lnSpc>
                <a:spcPct val="104000"/>
              </a:lnSpc>
              <a:buNone/>
            </a:pPr>
            <a:r>
              <a:rPr lang="en-US" sz="1400" b="1" dirty="0">
                <a:solidFill>
                  <a:srgbClr val="3B3535"/>
                </a:solidFill>
                <a:latin typeface="Times New Roman" panose="02020603050405020304" pitchFamily="18" charset="0"/>
                <a:ea typeface="Alexandria SemiBold" pitchFamily="34" charset="-122"/>
                <a:cs typeface="Times New Roman" panose="02020603050405020304" pitchFamily="18" charset="0"/>
              </a:rPr>
              <a:t>Оператор ИЛИ (||)</a:t>
            </a:r>
            <a:endParaRPr lang="en-US" sz="1400" b="1" dirty="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2A6B1BA5-C084-98E8-85BC-559D2244EEFB}"/>
              </a:ext>
            </a:extLst>
          </p:cNvPr>
          <p:cNvSpPr/>
          <p:nvPr/>
        </p:nvSpPr>
        <p:spPr>
          <a:xfrm>
            <a:off x="4707398" y="1448974"/>
            <a:ext cx="3285867" cy="872247"/>
          </a:xfrm>
          <a:prstGeom prst="rect">
            <a:avLst/>
          </a:prstGeom>
          <a:noFill/>
          <a:ln/>
        </p:spPr>
        <p:txBody>
          <a:bodyPr wrap="square" lIns="0" tIns="0" rIns="0" bIns="0" rtlCol="0" anchor="t">
            <a:noAutofit/>
          </a:bodyPr>
          <a:lstStyle/>
          <a:p>
            <a:pPr marL="0" indent="0" algn="l">
              <a:lnSpc>
                <a:spcPct val="1070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Истинен, если </a:t>
            </a: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хотя бы один</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операнд истинен. Также ленивый: если первый операнд истинен, второй не проверяется.</a:t>
            </a:r>
            <a:endParaRPr lang="en-US" sz="1400" dirty="0">
              <a:latin typeface="Times New Roman" panose="02020603050405020304" pitchFamily="18" charset="0"/>
              <a:cs typeface="Times New Roman" panose="02020603050405020304" pitchFamily="18" charset="0"/>
            </a:endParaRPr>
          </a:p>
        </p:txBody>
      </p:sp>
      <p:sp>
        <p:nvSpPr>
          <p:cNvPr id="12" name="Shape 10">
            <a:extLst>
              <a:ext uri="{FF2B5EF4-FFF2-40B4-BE49-F238E27FC236}">
                <a16:creationId xmlns:a16="http://schemas.microsoft.com/office/drawing/2014/main" id="{11303A30-9955-58AD-FFD7-AEAC8BD78A22}"/>
              </a:ext>
            </a:extLst>
          </p:cNvPr>
          <p:cNvSpPr/>
          <p:nvPr/>
        </p:nvSpPr>
        <p:spPr>
          <a:xfrm>
            <a:off x="4647881" y="2289248"/>
            <a:ext cx="2548830" cy="1355824"/>
          </a:xfrm>
          <a:prstGeom prst="roundRect">
            <a:avLst>
              <a:gd name="adj" fmla="val 5001"/>
            </a:avLst>
          </a:prstGeom>
          <a:solidFill>
            <a:srgbClr val="F2EDED"/>
          </a:solidFill>
          <a:ln/>
        </p:spPr>
      </p:sp>
      <p:sp>
        <p:nvSpPr>
          <p:cNvPr id="13" name="Text 11">
            <a:extLst>
              <a:ext uri="{FF2B5EF4-FFF2-40B4-BE49-F238E27FC236}">
                <a16:creationId xmlns:a16="http://schemas.microsoft.com/office/drawing/2014/main" id="{370FD902-FBC6-3B6A-7C6F-1567CCD7A8D4}"/>
              </a:ext>
            </a:extLst>
          </p:cNvPr>
          <p:cNvSpPr/>
          <p:nvPr/>
        </p:nvSpPr>
        <p:spPr>
          <a:xfrm>
            <a:off x="4770276" y="2433682"/>
            <a:ext cx="2375595" cy="1241540"/>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if (isAdmin || hasToken)</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GrantAccess();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4" name="Shape 12">
            <a:extLst>
              <a:ext uri="{FF2B5EF4-FFF2-40B4-BE49-F238E27FC236}">
                <a16:creationId xmlns:a16="http://schemas.microsoft.com/office/drawing/2014/main" id="{B42C680B-8ACC-A8A0-02FF-AA565D187834}"/>
              </a:ext>
            </a:extLst>
          </p:cNvPr>
          <p:cNvSpPr/>
          <p:nvPr/>
        </p:nvSpPr>
        <p:spPr>
          <a:xfrm>
            <a:off x="8224603" y="1133542"/>
            <a:ext cx="3748953" cy="2621635"/>
          </a:xfrm>
          <a:prstGeom prst="roundRect">
            <a:avLst>
              <a:gd name="adj" fmla="val 2659"/>
            </a:avLst>
          </a:prstGeom>
          <a:solidFill>
            <a:srgbClr val="D5DCF6"/>
          </a:solidFill>
          <a:ln w="4763">
            <a:solidFill>
              <a:srgbClr val="BBC2DC"/>
            </a:solidFill>
            <a:prstDash val="solid"/>
          </a:ln>
        </p:spPr>
      </p:sp>
      <p:sp>
        <p:nvSpPr>
          <p:cNvPr id="15" name="Text 13">
            <a:extLst>
              <a:ext uri="{FF2B5EF4-FFF2-40B4-BE49-F238E27FC236}">
                <a16:creationId xmlns:a16="http://schemas.microsoft.com/office/drawing/2014/main" id="{065A237B-CB88-42A3-9E4B-28377F89FCA7}"/>
              </a:ext>
            </a:extLst>
          </p:cNvPr>
          <p:cNvSpPr/>
          <p:nvPr/>
        </p:nvSpPr>
        <p:spPr>
          <a:xfrm>
            <a:off x="9485071" y="1227917"/>
            <a:ext cx="2548830" cy="148058"/>
          </a:xfrm>
          <a:prstGeom prst="rect">
            <a:avLst/>
          </a:prstGeom>
          <a:noFill/>
          <a:ln/>
        </p:spPr>
        <p:txBody>
          <a:bodyPr wrap="none" lIns="0" tIns="0" rIns="0" bIns="0" rtlCol="0" anchor="t"/>
          <a:lstStyle/>
          <a:p>
            <a:pPr marL="0" indent="0" algn="l">
              <a:lnSpc>
                <a:spcPct val="104000"/>
              </a:lnSpc>
              <a:buNone/>
            </a:pPr>
            <a:r>
              <a:rPr lang="en-US" sz="1400" b="1" dirty="0">
                <a:solidFill>
                  <a:srgbClr val="3B3535"/>
                </a:solidFill>
                <a:latin typeface="Times New Roman" panose="02020603050405020304" pitchFamily="18" charset="0"/>
                <a:ea typeface="Alexandria SemiBold" pitchFamily="34" charset="-122"/>
                <a:cs typeface="Times New Roman" panose="02020603050405020304" pitchFamily="18" charset="0"/>
              </a:rPr>
              <a:t>Оператор НЕ (!)</a:t>
            </a:r>
            <a:endParaRPr lang="en-US" sz="1400" b="1" dirty="0">
              <a:latin typeface="Times New Roman" panose="02020603050405020304" pitchFamily="18" charset="0"/>
              <a:cs typeface="Times New Roman" panose="02020603050405020304" pitchFamily="18" charset="0"/>
            </a:endParaRPr>
          </a:p>
        </p:txBody>
      </p:sp>
      <p:sp>
        <p:nvSpPr>
          <p:cNvPr id="16" name="Text 14">
            <a:extLst>
              <a:ext uri="{FF2B5EF4-FFF2-40B4-BE49-F238E27FC236}">
                <a16:creationId xmlns:a16="http://schemas.microsoft.com/office/drawing/2014/main" id="{687FFB0C-2ED7-2CBA-1BAB-02B4FE74C47A}"/>
              </a:ext>
            </a:extLst>
          </p:cNvPr>
          <p:cNvSpPr/>
          <p:nvPr/>
        </p:nvSpPr>
        <p:spPr>
          <a:xfrm>
            <a:off x="8376977" y="1562554"/>
            <a:ext cx="3460118" cy="798875"/>
          </a:xfrm>
          <a:prstGeom prst="rect">
            <a:avLst/>
          </a:prstGeom>
          <a:noFill/>
          <a:ln/>
        </p:spPr>
        <p:txBody>
          <a:bodyPr wrap="square" lIns="0" tIns="0" rIns="0" bIns="0" rtlCol="0" anchor="t">
            <a:noAutofit/>
          </a:bodyPr>
          <a:lstStyle/>
          <a:p>
            <a:pPr marL="0" indent="0" algn="l">
              <a:lnSpc>
                <a:spcPct val="107000"/>
              </a:lnSpc>
              <a:buNone/>
            </a:pPr>
            <a:r>
              <a:rPr lang="en-US" sz="1400" b="1" dirty="0">
                <a:solidFill>
                  <a:srgbClr val="3B3535"/>
                </a:solidFill>
                <a:latin typeface="Times New Roman" panose="02020603050405020304" pitchFamily="18" charset="0"/>
                <a:ea typeface="Sora Bold" pitchFamily="34" charset="-122"/>
                <a:cs typeface="Times New Roman" panose="02020603050405020304" pitchFamily="18" charset="0"/>
              </a:rPr>
              <a:t>Инвертирует</a:t>
            </a: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 значение: true становится false и наоборот. Полезен для проверки отрицательных условий.</a:t>
            </a:r>
            <a:endParaRPr lang="en-US" sz="1400" dirty="0">
              <a:latin typeface="Times New Roman" panose="02020603050405020304" pitchFamily="18" charset="0"/>
              <a:cs typeface="Times New Roman" panose="02020603050405020304" pitchFamily="18" charset="0"/>
            </a:endParaRPr>
          </a:p>
        </p:txBody>
      </p:sp>
      <p:sp>
        <p:nvSpPr>
          <p:cNvPr id="17" name="Shape 15">
            <a:extLst>
              <a:ext uri="{FF2B5EF4-FFF2-40B4-BE49-F238E27FC236}">
                <a16:creationId xmlns:a16="http://schemas.microsoft.com/office/drawing/2014/main" id="{CFCBF971-4337-AEE2-D5D6-2413A33171E1}"/>
              </a:ext>
            </a:extLst>
          </p:cNvPr>
          <p:cNvSpPr/>
          <p:nvPr/>
        </p:nvSpPr>
        <p:spPr>
          <a:xfrm>
            <a:off x="8463594" y="2321220"/>
            <a:ext cx="2548830" cy="1323851"/>
          </a:xfrm>
          <a:prstGeom prst="roundRect">
            <a:avLst>
              <a:gd name="adj" fmla="val 5001"/>
            </a:avLst>
          </a:prstGeom>
          <a:solidFill>
            <a:srgbClr val="F2EDED"/>
          </a:solidFill>
          <a:ln/>
        </p:spPr>
      </p:sp>
      <p:sp>
        <p:nvSpPr>
          <p:cNvPr id="18" name="Text 16">
            <a:extLst>
              <a:ext uri="{FF2B5EF4-FFF2-40B4-BE49-F238E27FC236}">
                <a16:creationId xmlns:a16="http://schemas.microsoft.com/office/drawing/2014/main" id="{CB605573-6D8B-29C1-B05A-0DD202E6B547}"/>
              </a:ext>
            </a:extLst>
          </p:cNvPr>
          <p:cNvSpPr/>
          <p:nvPr/>
        </p:nvSpPr>
        <p:spPr>
          <a:xfrm>
            <a:off x="8550211" y="2410447"/>
            <a:ext cx="2375595" cy="1109130"/>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if (!isBlocked)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ProcessRequest();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06D15317-59BD-6FAE-D245-0D4506C4C4AE}"/>
              </a:ext>
            </a:extLst>
          </p:cNvPr>
          <p:cNvSpPr/>
          <p:nvPr/>
        </p:nvSpPr>
        <p:spPr>
          <a:xfrm>
            <a:off x="697373" y="3877765"/>
            <a:ext cx="4010025" cy="118765"/>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Alexandria SemiBold" pitchFamily="34" charset="-122"/>
                <a:cs typeface="Times New Roman" panose="02020603050405020304" pitchFamily="18" charset="0"/>
              </a:rPr>
              <a:t>Пример: комплексная проверка доступа</a:t>
            </a:r>
            <a:endParaRPr lang="en-US" sz="1400" b="1" dirty="0">
              <a:latin typeface="Times New Roman" panose="02020603050405020304" pitchFamily="18" charset="0"/>
              <a:cs typeface="Times New Roman" panose="02020603050405020304" pitchFamily="18" charset="0"/>
            </a:endParaRPr>
          </a:p>
        </p:txBody>
      </p:sp>
      <p:sp>
        <p:nvSpPr>
          <p:cNvPr id="20" name="Text 19">
            <a:extLst>
              <a:ext uri="{FF2B5EF4-FFF2-40B4-BE49-F238E27FC236}">
                <a16:creationId xmlns:a16="http://schemas.microsoft.com/office/drawing/2014/main" id="{A77C1E59-FD4A-8A85-7EC0-6A36173A0450}"/>
              </a:ext>
            </a:extLst>
          </p:cNvPr>
          <p:cNvSpPr/>
          <p:nvPr/>
        </p:nvSpPr>
        <p:spPr>
          <a:xfrm>
            <a:off x="697373" y="4116328"/>
            <a:ext cx="4777714" cy="2523449"/>
          </a:xfrm>
          <a:prstGeom prst="rect">
            <a:avLst/>
          </a:prstGeom>
          <a:noFill/>
          <a:ln/>
        </p:spPr>
        <p:txBody>
          <a:bodyPr wrap="square" lIns="0" tIns="0" rIns="0" bIns="0" rtlCol="0" anchor="t">
            <a:noAutofit/>
          </a:bodyPr>
          <a:lstStyle/>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bool hasRights = user.Role == "Admin" ||   user.Role == "Manager";</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bool hasSubscription = user.Subscription.IsActive;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bool isNotBlocked = !</a:t>
            </a:r>
            <a:r>
              <a:rPr lang="en-US" sz="1200" dirty="0" err="1">
                <a:latin typeface="Times New Roman" panose="02020603050405020304" pitchFamily="18" charset="0"/>
                <a:ea typeface="Consolas" pitchFamily="34" charset="-122"/>
                <a:cs typeface="Times New Roman" panose="02020603050405020304" pitchFamily="18" charset="0"/>
              </a:rPr>
              <a:t>user.IsBanned</a:t>
            </a:r>
            <a:r>
              <a:rPr lang="en-US" sz="1200" dirty="0">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if (hasRights &amp;&amp; hasSubscription &amp;&amp; isNotBlocked)</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    AccessDashboard();</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else</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    ShowAccessDenied();</a:t>
            </a:r>
            <a:endParaRPr lang="en-US" sz="1200" dirty="0">
              <a:latin typeface="Times New Roman" panose="02020603050405020304" pitchFamily="18" charset="0"/>
              <a:cs typeface="Times New Roman" panose="02020603050405020304" pitchFamily="18" charset="0"/>
            </a:endParaRPr>
          </a:p>
          <a:p>
            <a:pPr marL="0" indent="0" algn="l">
              <a:lnSpc>
                <a:spcPct val="133000"/>
              </a:lnSpc>
              <a:buNone/>
            </a:pPr>
            <a:r>
              <a:rPr lang="en-US" sz="1200" dirty="0">
                <a:latin typeface="Times New Roman" panose="02020603050405020304" pitchFamily="18" charset="0"/>
                <a:ea typeface="Consola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76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0">
            <a:extLst>
              <a:ext uri="{FF2B5EF4-FFF2-40B4-BE49-F238E27FC236}">
                <a16:creationId xmlns:a16="http://schemas.microsoft.com/office/drawing/2014/main" id="{194878C2-7985-CE4D-5A58-2C234EA638C6}"/>
              </a:ext>
            </a:extLst>
          </p:cNvPr>
          <p:cNvSpPr/>
          <p:nvPr/>
        </p:nvSpPr>
        <p:spPr>
          <a:xfrm>
            <a:off x="3696606" y="147124"/>
            <a:ext cx="4010025" cy="118765"/>
          </a:xfrm>
          <a:prstGeom prst="rect">
            <a:avLst/>
          </a:prstGeom>
          <a:noFill/>
          <a:ln/>
        </p:spPr>
        <p:txBody>
          <a:bodyPr wrap="none" lIns="0" tIns="0" rIns="0" bIns="0" rtlCol="0" anchor="t"/>
          <a:lstStyle/>
          <a:p>
            <a:pPr marL="0" indent="0" algn="l">
              <a:lnSpc>
                <a:spcPct val="104000"/>
              </a:lnSpc>
              <a:buNone/>
            </a:pPr>
            <a:r>
              <a:rPr lang="en-US" sz="2800" dirty="0">
                <a:latin typeface="Times New Roman" panose="02020603050405020304" pitchFamily="18" charset="0"/>
                <a:ea typeface="Alexandria SemiBold" pitchFamily="34" charset="-122"/>
                <a:cs typeface="Times New Roman" panose="02020603050405020304" pitchFamily="18" charset="0"/>
              </a:rPr>
              <a:t>Приоритет операторов и скобки</a:t>
            </a:r>
            <a:endParaRPr lang="en-US" sz="2800" dirty="0">
              <a:latin typeface="Times New Roman" panose="02020603050405020304" pitchFamily="18" charset="0"/>
              <a:cs typeface="Times New Roman" panose="02020603050405020304" pitchFamily="18" charset="0"/>
            </a:endParaRPr>
          </a:p>
        </p:txBody>
      </p:sp>
      <p:sp>
        <p:nvSpPr>
          <p:cNvPr id="3" name="Text 21">
            <a:extLst>
              <a:ext uri="{FF2B5EF4-FFF2-40B4-BE49-F238E27FC236}">
                <a16:creationId xmlns:a16="http://schemas.microsoft.com/office/drawing/2014/main" id="{1C382146-8476-6BEF-4536-4581B7873B82}"/>
              </a:ext>
            </a:extLst>
          </p:cNvPr>
          <p:cNvSpPr/>
          <p:nvPr/>
        </p:nvSpPr>
        <p:spPr>
          <a:xfrm>
            <a:off x="867344" y="726556"/>
            <a:ext cx="10202275" cy="432411"/>
          </a:xfrm>
          <a:prstGeom prst="rect">
            <a:avLst/>
          </a:prstGeom>
          <a:noFill/>
          <a:ln/>
        </p:spPr>
        <p:txBody>
          <a:bodyPr wrap="square" lIns="0" tIns="0" rIns="0" bIns="0" rtlCol="0" anchor="t">
            <a:noAutofit/>
          </a:bodyPr>
          <a:lstStyle/>
          <a:p>
            <a:pPr marL="0" indent="0" algn="l">
              <a:lnSpc>
                <a:spcPct val="107000"/>
              </a:lnSpc>
              <a:buNone/>
            </a:pPr>
            <a:r>
              <a:rPr lang="en-US" sz="1400" dirty="0">
                <a:latin typeface="Times New Roman" panose="02020603050405020304" pitchFamily="18" charset="0"/>
                <a:ea typeface="Sora Light" pitchFamily="34" charset="-122"/>
                <a:cs typeface="Times New Roman" panose="02020603050405020304" pitchFamily="18" charset="0"/>
              </a:rPr>
              <a:t>Операторы имеют следующий приоритет (от высшего к низшему): </a:t>
            </a:r>
            <a:r>
              <a:rPr lang="en-US" sz="1400" b="1" dirty="0">
                <a:latin typeface="Times New Roman" panose="02020603050405020304" pitchFamily="18" charset="0"/>
                <a:ea typeface="Sora Bold" pitchFamily="34" charset="-122"/>
                <a:cs typeface="Times New Roman" panose="02020603050405020304" pitchFamily="18" charset="0"/>
              </a:rPr>
              <a:t>!</a:t>
            </a:r>
            <a:r>
              <a:rPr lang="en-US" sz="1400" dirty="0">
                <a:latin typeface="Times New Roman" panose="02020603050405020304" pitchFamily="18" charset="0"/>
                <a:ea typeface="Sora Light" pitchFamily="34" charset="-122"/>
                <a:cs typeface="Times New Roman" panose="02020603050405020304" pitchFamily="18" charset="0"/>
              </a:rPr>
              <a:t> → </a:t>
            </a:r>
            <a:r>
              <a:rPr lang="en-US" sz="1400" b="1" dirty="0">
                <a:latin typeface="Times New Roman" panose="02020603050405020304" pitchFamily="18" charset="0"/>
                <a:ea typeface="Sora Bold" pitchFamily="34" charset="-122"/>
                <a:cs typeface="Times New Roman" panose="02020603050405020304" pitchFamily="18" charset="0"/>
              </a:rPr>
              <a:t>&amp;&amp;</a:t>
            </a:r>
            <a:r>
              <a:rPr lang="en-US" sz="1400" dirty="0">
                <a:latin typeface="Times New Roman" panose="02020603050405020304" pitchFamily="18" charset="0"/>
                <a:ea typeface="Sora Light" pitchFamily="34" charset="-122"/>
                <a:cs typeface="Times New Roman" panose="02020603050405020304" pitchFamily="18" charset="0"/>
              </a:rPr>
              <a:t> → </a:t>
            </a:r>
            <a:r>
              <a:rPr lang="en-US" sz="1400" b="1" dirty="0">
                <a:latin typeface="Times New Roman" panose="02020603050405020304" pitchFamily="18" charset="0"/>
                <a:ea typeface="Sora Bold" pitchFamily="34" charset="-122"/>
                <a:cs typeface="Times New Roman" panose="02020603050405020304" pitchFamily="18" charset="0"/>
              </a:rPr>
              <a:t>||</a:t>
            </a:r>
            <a:r>
              <a:rPr lang="en-US" sz="1400" dirty="0">
                <a:latin typeface="Times New Roman" panose="02020603050405020304" pitchFamily="18" charset="0"/>
                <a:ea typeface="Sora Light" pitchFamily="34" charset="-122"/>
                <a:cs typeface="Times New Roman" panose="02020603050405020304" pitchFamily="18" charset="0"/>
              </a:rPr>
              <a:t>. Используйте скобки для явного указания порядка:</a:t>
            </a:r>
            <a:endParaRPr lang="en-US" sz="1400" dirty="0">
              <a:latin typeface="Times New Roman" panose="02020603050405020304" pitchFamily="18" charset="0"/>
              <a:cs typeface="Times New Roman" panose="02020603050405020304" pitchFamily="18" charset="0"/>
            </a:endParaRPr>
          </a:p>
        </p:txBody>
      </p:sp>
      <p:sp>
        <p:nvSpPr>
          <p:cNvPr id="4" name="Shape 22">
            <a:extLst>
              <a:ext uri="{FF2B5EF4-FFF2-40B4-BE49-F238E27FC236}">
                <a16:creationId xmlns:a16="http://schemas.microsoft.com/office/drawing/2014/main" id="{7D6690DF-530F-8AD0-9ED2-D6B009F27434}"/>
              </a:ext>
            </a:extLst>
          </p:cNvPr>
          <p:cNvSpPr/>
          <p:nvPr/>
        </p:nvSpPr>
        <p:spPr>
          <a:xfrm>
            <a:off x="867344" y="1231148"/>
            <a:ext cx="4010025" cy="2361637"/>
          </a:xfrm>
          <a:prstGeom prst="roundRect">
            <a:avLst>
              <a:gd name="adj" fmla="val 2839"/>
            </a:avLst>
          </a:prstGeom>
          <a:solidFill>
            <a:srgbClr val="F2EDED"/>
          </a:solidFill>
          <a:ln/>
        </p:spPr>
      </p:sp>
      <p:sp>
        <p:nvSpPr>
          <p:cNvPr id="5" name="Text 23">
            <a:extLst>
              <a:ext uri="{FF2B5EF4-FFF2-40B4-BE49-F238E27FC236}">
                <a16:creationId xmlns:a16="http://schemas.microsoft.com/office/drawing/2014/main" id="{8C705592-A520-2375-A226-C0F0FAC30D09}"/>
              </a:ext>
            </a:extLst>
          </p:cNvPr>
          <p:cNvSpPr/>
          <p:nvPr/>
        </p:nvSpPr>
        <p:spPr>
          <a:xfrm>
            <a:off x="953962" y="1303331"/>
            <a:ext cx="3836789" cy="923925"/>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Без скобок: &amp;&amp; вычисляется раньше ||</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(isAdmin || isMod &amp;&amp; isActive)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Эквивалентно:</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(isAdmin || (isMod &amp;&amp; isActive))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С явными скобками — читаемее:</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(isAdmin || (isMod &amp;&amp; isActive))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GrantAccess();</a:t>
            </a:r>
            <a:endParaRPr lang="en-US" sz="1400" dirty="0">
              <a:latin typeface="Times New Roman" panose="02020603050405020304" pitchFamily="18" charset="0"/>
              <a:cs typeface="Times New Roman" panose="02020603050405020304" pitchFamily="18" charset="0"/>
            </a:endParaRPr>
          </a:p>
        </p:txBody>
      </p:sp>
      <p:sp>
        <p:nvSpPr>
          <p:cNvPr id="6" name="Text 24">
            <a:extLst>
              <a:ext uri="{FF2B5EF4-FFF2-40B4-BE49-F238E27FC236}">
                <a16:creationId xmlns:a16="http://schemas.microsoft.com/office/drawing/2014/main" id="{2A851F71-1EA1-B900-AC4F-9C23428A943F}"/>
              </a:ext>
            </a:extLst>
          </p:cNvPr>
          <p:cNvSpPr/>
          <p:nvPr/>
        </p:nvSpPr>
        <p:spPr>
          <a:xfrm>
            <a:off x="6859354" y="1320274"/>
            <a:ext cx="4010025" cy="118765"/>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Alexandria SemiBold" pitchFamily="34" charset="-122"/>
                <a:cs typeface="Times New Roman" panose="02020603050405020304" pitchFamily="18" charset="0"/>
              </a:rPr>
              <a:t>Ленивое вычисление (Short-circuit)</a:t>
            </a:r>
            <a:endParaRPr lang="en-US" sz="1400" b="1" dirty="0">
              <a:latin typeface="Times New Roman" panose="02020603050405020304" pitchFamily="18" charset="0"/>
              <a:cs typeface="Times New Roman" panose="02020603050405020304" pitchFamily="18" charset="0"/>
            </a:endParaRPr>
          </a:p>
        </p:txBody>
      </p:sp>
      <p:sp>
        <p:nvSpPr>
          <p:cNvPr id="7" name="Text 25">
            <a:extLst>
              <a:ext uri="{FF2B5EF4-FFF2-40B4-BE49-F238E27FC236}">
                <a16:creationId xmlns:a16="http://schemas.microsoft.com/office/drawing/2014/main" id="{B5C76206-2284-96E8-4A27-F87EB7898E40}"/>
              </a:ext>
            </a:extLst>
          </p:cNvPr>
          <p:cNvSpPr/>
          <p:nvPr/>
        </p:nvSpPr>
        <p:spPr>
          <a:xfrm>
            <a:off x="5957506" y="1600346"/>
            <a:ext cx="5434625" cy="895790"/>
          </a:xfrm>
          <a:prstGeom prst="rect">
            <a:avLst/>
          </a:prstGeom>
          <a:noFill/>
          <a:ln/>
        </p:spPr>
        <p:txBody>
          <a:bodyPr wrap="square" lIns="0" tIns="0" rIns="0" bIns="0" rtlCol="0" anchor="t">
            <a:noAutofit/>
          </a:bodyPr>
          <a:lstStyle/>
          <a:p>
            <a:pPr marL="0" indent="0" algn="l">
              <a:lnSpc>
                <a:spcPct val="107000"/>
              </a:lnSpc>
              <a:buNone/>
            </a:pPr>
            <a:r>
              <a:rPr lang="en-US" sz="1400" dirty="0">
                <a:latin typeface="Times New Roman" panose="02020603050405020304" pitchFamily="18" charset="0"/>
                <a:ea typeface="Sora Light" pitchFamily="34" charset="-122"/>
                <a:cs typeface="Times New Roman" panose="02020603050405020304" pitchFamily="18" charset="0"/>
              </a:rPr>
              <a:t>Это важная особенность: если результат уже определён первым операндом, второй </a:t>
            </a:r>
            <a:r>
              <a:rPr lang="en-US" sz="1400" b="1" dirty="0">
                <a:latin typeface="Times New Roman" panose="02020603050405020304" pitchFamily="18" charset="0"/>
                <a:ea typeface="Sora Bold" pitchFamily="34" charset="-122"/>
                <a:cs typeface="Times New Roman" panose="02020603050405020304" pitchFamily="18" charset="0"/>
              </a:rPr>
              <a:t>не вычисляется</a:t>
            </a:r>
            <a:r>
              <a:rPr lang="en-US" sz="1400" dirty="0">
                <a:latin typeface="Times New Roman" panose="02020603050405020304" pitchFamily="18" charset="0"/>
                <a:ea typeface="Sora Light" pitchFamily="34" charset="-122"/>
                <a:cs typeface="Times New Roman" panose="02020603050405020304" pitchFamily="18" charset="0"/>
              </a:rPr>
              <a:t>. Это можно использовать для безопасной проверки:</a:t>
            </a:r>
            <a:endParaRPr lang="en-US" sz="1400" dirty="0">
              <a:latin typeface="Times New Roman" panose="02020603050405020304" pitchFamily="18" charset="0"/>
              <a:cs typeface="Times New Roman" panose="02020603050405020304" pitchFamily="18" charset="0"/>
            </a:endParaRPr>
          </a:p>
        </p:txBody>
      </p:sp>
      <p:sp>
        <p:nvSpPr>
          <p:cNvPr id="8" name="Shape 26">
            <a:extLst>
              <a:ext uri="{FF2B5EF4-FFF2-40B4-BE49-F238E27FC236}">
                <a16:creationId xmlns:a16="http://schemas.microsoft.com/office/drawing/2014/main" id="{1519A186-B792-5E8C-E42E-205DE80DCD72}"/>
              </a:ext>
            </a:extLst>
          </p:cNvPr>
          <p:cNvSpPr/>
          <p:nvPr/>
        </p:nvSpPr>
        <p:spPr>
          <a:xfrm>
            <a:off x="5957506" y="2423953"/>
            <a:ext cx="4010025" cy="1937911"/>
          </a:xfrm>
          <a:prstGeom prst="roundRect">
            <a:avLst>
              <a:gd name="adj" fmla="val 4201"/>
            </a:avLst>
          </a:prstGeom>
          <a:solidFill>
            <a:srgbClr val="F2EDED"/>
          </a:solidFill>
          <a:ln/>
        </p:spPr>
      </p:sp>
      <p:sp>
        <p:nvSpPr>
          <p:cNvPr id="9" name="Text 27">
            <a:extLst>
              <a:ext uri="{FF2B5EF4-FFF2-40B4-BE49-F238E27FC236}">
                <a16:creationId xmlns:a16="http://schemas.microsoft.com/office/drawing/2014/main" id="{6EAB4D64-885C-B12F-3B78-E5195CC97C57}"/>
              </a:ext>
            </a:extLst>
          </p:cNvPr>
          <p:cNvSpPr/>
          <p:nvPr/>
        </p:nvSpPr>
        <p:spPr>
          <a:xfrm>
            <a:off x="6044124" y="2496136"/>
            <a:ext cx="3836789" cy="1550329"/>
          </a:xfrm>
          <a:prstGeom prst="rect">
            <a:avLst/>
          </a:prstGeom>
          <a:noFill/>
          <a:ln/>
        </p:spPr>
        <p:txBody>
          <a:bodyPr wrap="square" lIns="0" tIns="0" rIns="0" bIns="0" rtlCol="0" anchor="t">
            <a:norm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Если obj null, второй операнд не выполнится</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if (obj != null &amp;&amp; obj.IsValid)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Process(obj);</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3316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DF56BD-41E3-856F-CB33-1EB821774EF2}"/>
              </a:ext>
            </a:extLst>
          </p:cNvPr>
          <p:cNvSpPr txBox="1"/>
          <p:nvPr/>
        </p:nvSpPr>
        <p:spPr>
          <a:xfrm>
            <a:off x="1714500" y="239067"/>
            <a:ext cx="9196515"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Задача 1. «Баллов уже достаточно, но программа пишет, что зачёта нет»</a:t>
            </a:r>
          </a:p>
        </p:txBody>
      </p:sp>
      <p:sp>
        <p:nvSpPr>
          <p:cNvPr id="5" name="TextBox 4">
            <a:extLst>
              <a:ext uri="{FF2B5EF4-FFF2-40B4-BE49-F238E27FC236}">
                <a16:creationId xmlns:a16="http://schemas.microsoft.com/office/drawing/2014/main" id="{CAF7D0E2-7466-7506-E579-182F0536F00A}"/>
              </a:ext>
            </a:extLst>
          </p:cNvPr>
          <p:cNvSpPr txBox="1"/>
          <p:nvPr/>
        </p:nvSpPr>
        <p:spPr>
          <a:xfrm>
            <a:off x="355323" y="801253"/>
            <a:ext cx="10555691" cy="1323439"/>
          </a:xfrm>
          <a:prstGeom prst="rect">
            <a:avLst/>
          </a:prstGeom>
          <a:noFill/>
        </p:spPr>
        <p:txBody>
          <a:bodyPr wrap="square">
            <a:spAutoFit/>
          </a:bodyPr>
          <a:lstStyle/>
          <a:p>
            <a:r>
              <a:rPr lang="ru-RU" sz="1600" dirty="0">
                <a:latin typeface="Times New Roman" panose="02020603050405020304" pitchFamily="18" charset="0"/>
                <a:cs typeface="Times New Roman" panose="02020603050405020304" pitchFamily="18" charset="0"/>
              </a:rPr>
              <a:t>Программист хочет сначала добавить студенту </a:t>
            </a:r>
            <a:r>
              <a:rPr lang="ru-RU" sz="1600" b="1" dirty="0">
                <a:latin typeface="Times New Roman" panose="02020603050405020304" pitchFamily="18" charset="0"/>
                <a:cs typeface="Times New Roman" panose="02020603050405020304" pitchFamily="18" charset="0"/>
              </a:rPr>
              <a:t>1 бонусный балл</a:t>
            </a:r>
            <a:r>
              <a:rPr lang="ru-RU" sz="1600" dirty="0">
                <a:latin typeface="Times New Roman" panose="02020603050405020304" pitchFamily="18" charset="0"/>
                <a:cs typeface="Times New Roman" panose="02020603050405020304" pitchFamily="18" charset="0"/>
              </a:rPr>
              <a:t>, а затем проверить, достиг ли он 10 баллов.</a:t>
            </a:r>
          </a:p>
          <a:p>
            <a:r>
              <a:rPr lang="ru-RU" sz="1600" dirty="0">
                <a:latin typeface="Times New Roman" panose="02020603050405020304" pitchFamily="18" charset="0"/>
                <a:cs typeface="Times New Roman" panose="02020603050405020304" pitchFamily="18" charset="0"/>
              </a:rPr>
              <a:t>Он ожидает:</a:t>
            </a:r>
          </a:p>
          <a:p>
            <a:endParaRPr lang="ru-RU" sz="1600" dirty="0">
              <a:latin typeface="Times New Roman" panose="02020603050405020304" pitchFamily="18" charset="0"/>
              <a:cs typeface="Times New Roman" panose="02020603050405020304" pitchFamily="18" charset="0"/>
            </a:endParaRPr>
          </a:p>
          <a:p>
            <a:endParaRPr lang="ru-RU" sz="1600" dirty="0">
              <a:latin typeface="Times New Roman" panose="02020603050405020304" pitchFamily="18" charset="0"/>
              <a:cs typeface="Times New Roman" panose="02020603050405020304" pitchFamily="18" charset="0"/>
            </a:endParaRPr>
          </a:p>
          <a:p>
            <a:r>
              <a:rPr lang="ru-RU" sz="1600" dirty="0">
                <a:latin typeface="Times New Roman" panose="02020603050405020304" pitchFamily="18" charset="0"/>
                <a:cs typeface="Times New Roman" panose="02020603050405020304" pitchFamily="18" charset="0"/>
              </a:rPr>
              <a:t>Но программа выводит другой результат.</a:t>
            </a:r>
          </a:p>
        </p:txBody>
      </p:sp>
      <p:sp>
        <p:nvSpPr>
          <p:cNvPr id="6" name="Rectangle 1">
            <a:extLst>
              <a:ext uri="{FF2B5EF4-FFF2-40B4-BE49-F238E27FC236}">
                <a16:creationId xmlns:a16="http://schemas.microsoft.com/office/drawing/2014/main" id="{7230951C-7348-42B0-F716-049B2D758FDA}"/>
              </a:ext>
            </a:extLst>
          </p:cNvPr>
          <p:cNvSpPr>
            <a:spLocks noChangeArrowheads="1"/>
          </p:cNvSpPr>
          <p:nvPr/>
        </p:nvSpPr>
        <p:spPr bwMode="auto">
          <a:xfrm>
            <a:off x="4528186" y="1129245"/>
            <a:ext cx="1104982" cy="58477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Зачёт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Баллы: 10 </a:t>
            </a:r>
          </a:p>
        </p:txBody>
      </p:sp>
      <p:sp>
        <p:nvSpPr>
          <p:cNvPr id="11" name="TextBox 10">
            <a:extLst>
              <a:ext uri="{FF2B5EF4-FFF2-40B4-BE49-F238E27FC236}">
                <a16:creationId xmlns:a16="http://schemas.microsoft.com/office/drawing/2014/main" id="{68421AE1-B889-9786-2FA2-7B138364B220}"/>
              </a:ext>
            </a:extLst>
          </p:cNvPr>
          <p:cNvSpPr txBox="1"/>
          <p:nvPr/>
        </p:nvSpPr>
        <p:spPr>
          <a:xfrm>
            <a:off x="355323" y="2521059"/>
            <a:ext cx="4087468" cy="1815882"/>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points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9</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points</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10</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Зачёт"</a:t>
            </a:r>
            <a:endParaRPr lang="ru-RU" sz="1400" b="0" dirty="0">
              <a:solidFill>
                <a:srgbClr val="000000"/>
              </a:solidFill>
              <a:effectLst/>
              <a:latin typeface="Consolas" panose="020B0609020204030204" pitchFamily="49" charset="0"/>
            </a:endParaRPr>
          </a:p>
          <a:p>
            <a:r>
              <a:rPr lang="ru-RU" sz="1400" b="0" dirty="0">
                <a:solidFill>
                  <a:srgbClr val="000000"/>
                </a:solidFill>
                <a:effectLst/>
                <a:latin typeface="Consolas" panose="020B0609020204030204" pitchFamily="49" charset="0"/>
              </a:rPr>
              <a:t>    : </a:t>
            </a:r>
            <a:r>
              <a:rPr lang="ru-RU" sz="1400" b="0" dirty="0">
                <a:solidFill>
                  <a:srgbClr val="A31515"/>
                </a:solidFill>
                <a:effectLst/>
                <a:latin typeface="Consolas" panose="020B0609020204030204" pitchFamily="49" charset="0"/>
              </a:rPr>
              <a:t>"Незачёт"</a:t>
            </a:r>
            <a:r>
              <a:rPr lang="ru-RU" sz="1400" b="0" dirty="0">
                <a:solidFill>
                  <a:srgbClr val="000000"/>
                </a:solidFill>
                <a:effectLst/>
                <a:latin typeface="Consolas" panose="020B0609020204030204" pitchFamily="49" charset="0"/>
              </a:rPr>
              <a:t>;</a:t>
            </a:r>
          </a:p>
          <a:p>
            <a:br>
              <a:rPr lang="ru-RU"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a:t>
            </a:r>
          </a:p>
          <a:p>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Баллы: {</a:t>
            </a:r>
            <a:r>
              <a:rPr lang="en-US" sz="1400" b="0" dirty="0">
                <a:solidFill>
                  <a:srgbClr val="A31515"/>
                </a:solidFill>
                <a:effectLst/>
                <a:latin typeface="Consolas" panose="020B0609020204030204" pitchFamily="49" charset="0"/>
              </a:rPr>
              <a:t>points}"</a:t>
            </a:r>
            <a:r>
              <a:rPr lang="en-US"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ADF1B263-5DC1-0C60-7C21-BEB7102AF952}"/>
              </a:ext>
            </a:extLst>
          </p:cNvPr>
          <p:cNvSpPr txBox="1"/>
          <p:nvPr/>
        </p:nvSpPr>
        <p:spPr>
          <a:xfrm>
            <a:off x="355323" y="2160751"/>
            <a:ext cx="6097656"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Найдите ошибку</a:t>
            </a:r>
          </a:p>
        </p:txBody>
      </p:sp>
      <p:sp>
        <p:nvSpPr>
          <p:cNvPr id="15" name="TextBox 14">
            <a:extLst>
              <a:ext uri="{FF2B5EF4-FFF2-40B4-BE49-F238E27FC236}">
                <a16:creationId xmlns:a16="http://schemas.microsoft.com/office/drawing/2014/main" id="{0692122F-A77B-F55B-2B5F-800F564C1A99}"/>
              </a:ext>
            </a:extLst>
          </p:cNvPr>
          <p:cNvSpPr txBox="1"/>
          <p:nvPr/>
        </p:nvSpPr>
        <p:spPr>
          <a:xfrm>
            <a:off x="4070241" y="2196810"/>
            <a:ext cx="4485032"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Что выводит исходная программа</a:t>
            </a:r>
          </a:p>
        </p:txBody>
      </p:sp>
      <p:sp>
        <p:nvSpPr>
          <p:cNvPr id="17" name="TextBox 16">
            <a:extLst>
              <a:ext uri="{FF2B5EF4-FFF2-40B4-BE49-F238E27FC236}">
                <a16:creationId xmlns:a16="http://schemas.microsoft.com/office/drawing/2014/main" id="{7046FDD8-06DE-0FE3-05A2-B19FAE97FDAC}"/>
              </a:ext>
            </a:extLst>
          </p:cNvPr>
          <p:cNvSpPr txBox="1"/>
          <p:nvPr/>
        </p:nvSpPr>
        <p:spPr>
          <a:xfrm>
            <a:off x="4808054" y="2607482"/>
            <a:ext cx="1393963"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ru-RU" sz="1600" dirty="0">
                <a:latin typeface="Times New Roman" panose="02020603050405020304" pitchFamily="18" charset="0"/>
                <a:cs typeface="Times New Roman" panose="02020603050405020304" pitchFamily="18" charset="0"/>
              </a:rPr>
              <a:t>Незачёт</a:t>
            </a:r>
          </a:p>
          <a:p>
            <a:r>
              <a:rPr lang="ru-RU" sz="1600" dirty="0">
                <a:latin typeface="Times New Roman" panose="02020603050405020304" pitchFamily="18" charset="0"/>
                <a:cs typeface="Times New Roman" panose="02020603050405020304" pitchFamily="18" charset="0"/>
              </a:rPr>
              <a:t>Баллы: 10</a:t>
            </a:r>
          </a:p>
        </p:txBody>
      </p:sp>
      <p:sp>
        <p:nvSpPr>
          <p:cNvPr id="19" name="TextBox 18">
            <a:extLst>
              <a:ext uri="{FF2B5EF4-FFF2-40B4-BE49-F238E27FC236}">
                <a16:creationId xmlns:a16="http://schemas.microsoft.com/office/drawing/2014/main" id="{5E51627C-7EA6-40D2-86B6-90D83DD5A1DD}"/>
              </a:ext>
            </a:extLst>
          </p:cNvPr>
          <p:cNvSpPr txBox="1"/>
          <p:nvPr/>
        </p:nvSpPr>
        <p:spPr>
          <a:xfrm>
            <a:off x="5742765" y="4305729"/>
            <a:ext cx="6093912" cy="2092881"/>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9</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result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10</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Зачёт"</a:t>
            </a:r>
            <a:endParaRPr lang="ru-RU" sz="1600" b="0" dirty="0">
              <a:solidFill>
                <a:srgbClr val="000000"/>
              </a:solidFill>
              <a:effectLst/>
              <a:latin typeface="Consolas" panose="020B0609020204030204" pitchFamily="49" charset="0"/>
            </a:endParaRPr>
          </a:p>
          <a:p>
            <a:r>
              <a:rPr lang="ru-RU" sz="1600" b="0" dirty="0">
                <a:solidFill>
                  <a:srgbClr val="000000"/>
                </a:solidFill>
                <a:effectLst/>
                <a:latin typeface="Consolas" panose="020B0609020204030204" pitchFamily="49" charset="0"/>
              </a:rPr>
              <a:t>    : </a:t>
            </a:r>
            <a:r>
              <a:rPr lang="ru-RU" sz="1600" b="0" dirty="0">
                <a:solidFill>
                  <a:srgbClr val="A31515"/>
                </a:solidFill>
                <a:effectLst/>
                <a:latin typeface="Consolas" panose="020B0609020204030204" pitchFamily="49" charset="0"/>
              </a:rPr>
              <a:t>"Незачёт"</a:t>
            </a:r>
            <a:r>
              <a:rPr lang="ru-RU" sz="1600" b="0" dirty="0">
                <a:solidFill>
                  <a:srgbClr val="000000"/>
                </a:solidFill>
                <a:effectLst/>
                <a:latin typeface="Consolas" panose="020B0609020204030204" pitchFamily="49" charset="0"/>
              </a:rPr>
              <a:t>;</a:t>
            </a:r>
          </a:p>
          <a:p>
            <a:br>
              <a:rPr lang="ru-RU" sz="1600" b="0" dirty="0">
                <a:solidFill>
                  <a:srgbClr val="000000"/>
                </a:solidFill>
                <a:effectLst/>
                <a:latin typeface="Consolas" panose="020B0609020204030204" pitchFamily="49" charset="0"/>
              </a:rPr>
            </a:b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result</a:t>
            </a:r>
            <a:r>
              <a:rPr lang="en-US" sz="1600" b="0" dirty="0">
                <a:solidFill>
                  <a:srgbClr val="000000"/>
                </a:solidFill>
                <a:effectLst/>
                <a:latin typeface="Consolas" panose="020B0609020204030204" pitchFamily="49" charset="0"/>
              </a:rPr>
              <a:t>);</a:t>
            </a:r>
          </a:p>
          <a:p>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Баллы: {</a:t>
            </a:r>
            <a:r>
              <a:rPr lang="en-US" sz="1600" b="0" dirty="0">
                <a:solidFill>
                  <a:srgbClr val="A31515"/>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a:t>
            </a:r>
          </a:p>
        </p:txBody>
      </p:sp>
      <p:sp>
        <p:nvSpPr>
          <p:cNvPr id="21" name="TextBox 20">
            <a:extLst>
              <a:ext uri="{FF2B5EF4-FFF2-40B4-BE49-F238E27FC236}">
                <a16:creationId xmlns:a16="http://schemas.microsoft.com/office/drawing/2014/main" id="{2C61954E-3BCC-8245-8980-5B57095AC2E5}"/>
              </a:ext>
            </a:extLst>
          </p:cNvPr>
          <p:cNvSpPr txBox="1"/>
          <p:nvPr/>
        </p:nvSpPr>
        <p:spPr>
          <a:xfrm>
            <a:off x="5742765" y="3900338"/>
            <a:ext cx="6093912"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Tree>
    <p:extLst>
      <p:ext uri="{BB962C8B-B14F-4D97-AF65-F5344CB8AC3E}">
        <p14:creationId xmlns:p14="http://schemas.microsoft.com/office/powerpoint/2010/main" val="364729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71D6A0-3603-141A-9955-DEE73578064E}"/>
              </a:ext>
            </a:extLst>
          </p:cNvPr>
          <p:cNvSpPr txBox="1"/>
          <p:nvPr/>
        </p:nvSpPr>
        <p:spPr>
          <a:xfrm>
            <a:off x="3372633" y="191114"/>
            <a:ext cx="6093912" cy="369332"/>
          </a:xfrm>
          <a:prstGeom prst="rect">
            <a:avLst/>
          </a:prstGeom>
          <a:noFill/>
        </p:spPr>
        <p:txBody>
          <a:bodyPr wrap="square">
            <a:spAutoFit/>
          </a:bodyPr>
          <a:lstStyle/>
          <a:p>
            <a:r>
              <a:rPr lang="ru-RU" b="1" dirty="0">
                <a:latin typeface="Times New Roman" panose="02020603050405020304" pitchFamily="18" charset="0"/>
                <a:cs typeface="Times New Roman" panose="02020603050405020304" pitchFamily="18" charset="0"/>
              </a:rPr>
              <a:t>Задача 2. «Почему скидку дали не тому покупателю?»</a:t>
            </a:r>
          </a:p>
        </p:txBody>
      </p:sp>
      <p:sp>
        <p:nvSpPr>
          <p:cNvPr id="4" name="Rectangle 1">
            <a:extLst>
              <a:ext uri="{FF2B5EF4-FFF2-40B4-BE49-F238E27FC236}">
                <a16:creationId xmlns:a16="http://schemas.microsoft.com/office/drawing/2014/main" id="{30E2F74A-5CFE-8C82-45C8-C899A40BCB14}"/>
              </a:ext>
            </a:extLst>
          </p:cNvPr>
          <p:cNvSpPr>
            <a:spLocks noChangeArrowheads="1"/>
          </p:cNvSpPr>
          <p:nvPr/>
        </p:nvSpPr>
        <p:spPr bwMode="auto">
          <a:xfrm>
            <a:off x="300625" y="733588"/>
            <a:ext cx="5795375"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 правилам магазина скидка предоставляется, если покупатель:</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совершеннолетний;</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a:t>
            </a:r>
            <a:r>
              <a:rPr kumimoji="0" lang="ru-RU" altLang="ru-RU"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либо имеет карту клиента, либо сумма покупки не меньше 5000;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и при этом не заблокирован.</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Программист написал:</a:t>
            </a:r>
          </a:p>
        </p:txBody>
      </p:sp>
      <p:sp>
        <p:nvSpPr>
          <p:cNvPr id="6" name="TextBox 5">
            <a:extLst>
              <a:ext uri="{FF2B5EF4-FFF2-40B4-BE49-F238E27FC236}">
                <a16:creationId xmlns:a16="http://schemas.microsoft.com/office/drawing/2014/main" id="{F1FDC34D-6C2F-04A3-B880-D5219667D16C}"/>
              </a:ext>
            </a:extLst>
          </p:cNvPr>
          <p:cNvSpPr txBox="1"/>
          <p:nvPr/>
        </p:nvSpPr>
        <p:spPr>
          <a:xfrm>
            <a:off x="325677" y="2076281"/>
            <a:ext cx="6425852" cy="3293209"/>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16</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bool</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hasCard</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false</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6000</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bool</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isBlocked</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false</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18</a:t>
            </a:r>
            <a:r>
              <a:rPr lang="en-US" sz="1600" b="0" dirty="0">
                <a:solidFill>
                  <a:srgbClr val="000000"/>
                </a:solidFill>
                <a:effectLst/>
                <a:latin typeface="Consolas" panose="020B0609020204030204" pitchFamily="49" charset="0"/>
              </a:rPr>
              <a:t> &amp;&amp; </a:t>
            </a:r>
            <a:r>
              <a:rPr lang="en-US" sz="1600" b="0" dirty="0" err="1">
                <a:solidFill>
                  <a:srgbClr val="001080"/>
                </a:solidFill>
                <a:effectLst/>
                <a:latin typeface="Consolas" panose="020B0609020204030204" pitchFamily="49" charset="0"/>
              </a:rPr>
              <a:t>hasCard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5000</a:t>
            </a:r>
            <a:r>
              <a:rPr lang="en-US" sz="1600" b="0" dirty="0">
                <a:solidFill>
                  <a:srgbClr val="000000"/>
                </a:solidFill>
                <a:effectLst/>
                <a:latin typeface="Consolas" panose="020B0609020204030204" pitchFamily="49" charset="0"/>
              </a:rPr>
              <a:t> &amp;&amp; !</a:t>
            </a:r>
            <a:r>
              <a:rPr lang="en-US" sz="1600" b="0" dirty="0" err="1">
                <a:solidFill>
                  <a:srgbClr val="001080"/>
                </a:solidFill>
                <a:effectLst/>
                <a:latin typeface="Consolas" panose="020B0609020204030204" pitchFamily="49" charset="0"/>
              </a:rPr>
              <a:t>isBlocked</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Скидка предоставлена"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Скидка недоступна"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639C89C3-EDA8-EFE6-B827-AFF92F01EAE5}"/>
              </a:ext>
            </a:extLst>
          </p:cNvPr>
          <p:cNvSpPr txBox="1"/>
          <p:nvPr/>
        </p:nvSpPr>
        <p:spPr>
          <a:xfrm>
            <a:off x="325677" y="5677267"/>
            <a:ext cx="6093912" cy="338554"/>
          </a:xfrm>
          <a:prstGeom prst="rect">
            <a:avLst/>
          </a:prstGeom>
          <a:noFill/>
        </p:spPr>
        <p:txBody>
          <a:bodyPr wrap="square">
            <a:spAutoFit/>
          </a:bodyPr>
          <a:lstStyle/>
          <a:p>
            <a:r>
              <a:rPr lang="ru-RU" sz="1600" dirty="0">
                <a:latin typeface="Times New Roman" panose="02020603050405020304" pitchFamily="18" charset="0"/>
                <a:cs typeface="Times New Roman" panose="02020603050405020304" pitchFamily="18" charset="0"/>
              </a:rPr>
              <a:t>Почему программа предоставляет скидку 16-летнему покупателю?</a:t>
            </a:r>
          </a:p>
        </p:txBody>
      </p:sp>
      <p:sp>
        <p:nvSpPr>
          <p:cNvPr id="9" name="TextBox 8">
            <a:extLst>
              <a:ext uri="{FF2B5EF4-FFF2-40B4-BE49-F238E27FC236}">
                <a16:creationId xmlns:a16="http://schemas.microsoft.com/office/drawing/2014/main" id="{10A0A76C-BC63-978C-EEC8-FA2AD3879DA7}"/>
              </a:ext>
            </a:extLst>
          </p:cNvPr>
          <p:cNvSpPr txBox="1"/>
          <p:nvPr/>
        </p:nvSpPr>
        <p:spPr>
          <a:xfrm>
            <a:off x="7847138" y="1903139"/>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
        <p:nvSpPr>
          <p:cNvPr id="11" name="TextBox 10">
            <a:extLst>
              <a:ext uri="{FF2B5EF4-FFF2-40B4-BE49-F238E27FC236}">
                <a16:creationId xmlns:a16="http://schemas.microsoft.com/office/drawing/2014/main" id="{9FBA127F-D08E-2D80-8616-9E98E9D1968E}"/>
              </a:ext>
            </a:extLst>
          </p:cNvPr>
          <p:cNvSpPr txBox="1"/>
          <p:nvPr/>
        </p:nvSpPr>
        <p:spPr>
          <a:xfrm>
            <a:off x="6917499" y="2410763"/>
            <a:ext cx="6093912" cy="3877985"/>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16</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bool</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hasCard</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false</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6000</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bool</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isBlocked</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false</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age</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18</a:t>
            </a:r>
            <a:r>
              <a:rPr lang="en-US" sz="1600" b="0" dirty="0">
                <a:solidFill>
                  <a:srgbClr val="000000"/>
                </a:solidFill>
                <a:effectLst/>
                <a:latin typeface="Consolas" panose="020B0609020204030204" pitchFamily="49" charset="0"/>
              </a:rPr>
              <a:t> &amp;&amp;</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hasCard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5000</a:t>
            </a:r>
            <a:r>
              <a:rPr lang="en-US" sz="1600" b="0" dirty="0">
                <a:solidFill>
                  <a:srgbClr val="000000"/>
                </a:solidFill>
                <a:effectLst/>
                <a:latin typeface="Consolas" panose="020B0609020204030204" pitchFamily="49" charset="0"/>
              </a:rPr>
              <a:t>) &amp;&amp;</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isBlocked</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Скидка предоставлена"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Скидка недоступна"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8282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EE3EB6-1ABD-3CBF-3E5F-C722DF6425C9}"/>
              </a:ext>
            </a:extLst>
          </p:cNvPr>
          <p:cNvSpPr txBox="1"/>
          <p:nvPr/>
        </p:nvSpPr>
        <p:spPr>
          <a:xfrm>
            <a:off x="2596018" y="140297"/>
            <a:ext cx="7512485"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Задача 3. «Цена одна и та же, а результат округления разный»</a:t>
            </a:r>
          </a:p>
        </p:txBody>
      </p:sp>
      <p:sp>
        <p:nvSpPr>
          <p:cNvPr id="4" name="Rectangle 1">
            <a:extLst>
              <a:ext uri="{FF2B5EF4-FFF2-40B4-BE49-F238E27FC236}">
                <a16:creationId xmlns:a16="http://schemas.microsoft.com/office/drawing/2014/main" id="{1B533D32-7428-2442-F200-037787D4E61F}"/>
              </a:ext>
            </a:extLst>
          </p:cNvPr>
          <p:cNvSpPr>
            <a:spLocks noChangeArrowheads="1"/>
          </p:cNvSpPr>
          <p:nvPr/>
        </p:nvSpPr>
        <p:spPr bwMode="auto">
          <a:xfrm>
            <a:off x="425885" y="658795"/>
            <a:ext cx="642585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Покупатель приобретает 3 товара стоимостью 99.9 рубля каждый.</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Программисту необходимо:</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вычислить реальную стоимость;</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преобразовать </a:t>
            </a: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итоговую сумму</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в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отбросив дробную часть;</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если итоговая сумма не меньше 299, написать "Достаточная сумма".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Он пишет:</a:t>
            </a:r>
          </a:p>
        </p:txBody>
      </p:sp>
      <p:sp>
        <p:nvSpPr>
          <p:cNvPr id="6" name="TextBox 5">
            <a:extLst>
              <a:ext uri="{FF2B5EF4-FFF2-40B4-BE49-F238E27FC236}">
                <a16:creationId xmlns:a16="http://schemas.microsoft.com/office/drawing/2014/main" id="{1F8CAB7B-4F8E-C0A5-6ED2-A603CC470327}"/>
              </a:ext>
            </a:extLst>
          </p:cNvPr>
          <p:cNvSpPr txBox="1"/>
          <p:nvPr/>
        </p:nvSpPr>
        <p:spPr>
          <a:xfrm>
            <a:off x="425885" y="2228455"/>
            <a:ext cx="6093912" cy="3046988"/>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price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99.9</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count</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3</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price</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count</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299</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Достаточная сумма"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Сумма слишком мала"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br>
              <a:rPr lang="ru-RU" sz="1600" b="0" dirty="0">
                <a:solidFill>
                  <a:srgbClr val="000000"/>
                </a:solidFill>
                <a:effectLst/>
                <a:latin typeface="Consolas" panose="020B0609020204030204" pitchFamily="49" charset="0"/>
              </a:rPr>
            </a:b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Итого: {</a:t>
            </a:r>
            <a:r>
              <a:rPr lang="en-US" sz="1600" b="0" dirty="0">
                <a:solidFill>
                  <a:srgbClr val="A31515"/>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A345CA1-0D71-CD49-1F1D-09BE5DCA2FCC}"/>
              </a:ext>
            </a:extLst>
          </p:cNvPr>
          <p:cNvSpPr txBox="1"/>
          <p:nvPr/>
        </p:nvSpPr>
        <p:spPr>
          <a:xfrm>
            <a:off x="425885" y="5364364"/>
            <a:ext cx="6093912"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Что выведет программа?</a:t>
            </a:r>
          </a:p>
        </p:txBody>
      </p:sp>
      <p:sp>
        <p:nvSpPr>
          <p:cNvPr id="9" name="Rectangle 2">
            <a:extLst>
              <a:ext uri="{FF2B5EF4-FFF2-40B4-BE49-F238E27FC236}">
                <a16:creationId xmlns:a16="http://schemas.microsoft.com/office/drawing/2014/main" id="{08EE34B9-09F0-20D7-6864-AD1F536BD4A4}"/>
              </a:ext>
            </a:extLst>
          </p:cNvPr>
          <p:cNvSpPr>
            <a:spLocks noChangeArrowheads="1"/>
          </p:cNvSpPr>
          <p:nvPr/>
        </p:nvSpPr>
        <p:spPr bwMode="auto">
          <a:xfrm>
            <a:off x="726510" y="5791839"/>
            <a:ext cx="2115516" cy="58477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Сумма слишком мала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Итого: 297 </a:t>
            </a:r>
          </a:p>
        </p:txBody>
      </p:sp>
      <p:sp>
        <p:nvSpPr>
          <p:cNvPr id="10" name="TextBox 9">
            <a:extLst>
              <a:ext uri="{FF2B5EF4-FFF2-40B4-BE49-F238E27FC236}">
                <a16:creationId xmlns:a16="http://schemas.microsoft.com/office/drawing/2014/main" id="{1ED6773E-1C89-01C2-C9A7-E32FCA1C53AA}"/>
              </a:ext>
            </a:extLst>
          </p:cNvPr>
          <p:cNvSpPr txBox="1"/>
          <p:nvPr/>
        </p:nvSpPr>
        <p:spPr>
          <a:xfrm>
            <a:off x="7847138" y="1903139"/>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
        <p:nvSpPr>
          <p:cNvPr id="12" name="TextBox 11">
            <a:extLst>
              <a:ext uri="{FF2B5EF4-FFF2-40B4-BE49-F238E27FC236}">
                <a16:creationId xmlns:a16="http://schemas.microsoft.com/office/drawing/2014/main" id="{C4A54E31-B737-F13A-36C3-8065778FEBBD}"/>
              </a:ext>
            </a:extLst>
          </p:cNvPr>
          <p:cNvSpPr txBox="1"/>
          <p:nvPr/>
        </p:nvSpPr>
        <p:spPr>
          <a:xfrm>
            <a:off x="6352260" y="2377621"/>
            <a:ext cx="5697778" cy="3293209"/>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price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99.9</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count</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3</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price</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count</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299</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Достаточная сумма"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Сумма слишком мала"</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br>
              <a:rPr lang="ru-RU" sz="1600" b="0" dirty="0">
                <a:solidFill>
                  <a:srgbClr val="000000"/>
                </a:solidFill>
                <a:effectLst/>
                <a:latin typeface="Consolas" panose="020B0609020204030204" pitchFamily="49" charset="0"/>
              </a:rPr>
            </a:b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Итого: {</a:t>
            </a:r>
            <a:r>
              <a:rPr lang="en-US" sz="1600" b="0" dirty="0">
                <a:solidFill>
                  <a:srgbClr val="A31515"/>
                </a:solidFill>
                <a:effectLst/>
                <a:latin typeface="Consolas" panose="020B0609020204030204" pitchFamily="49" charset="0"/>
              </a:rPr>
              <a:t>total}"</a:t>
            </a:r>
            <a:r>
              <a:rPr lang="en-US" sz="1600" b="0" dirty="0">
                <a:solidFill>
                  <a:srgbClr val="000000"/>
                </a:solidFill>
                <a:effectLst/>
                <a:latin typeface="Consolas" panose="020B0609020204030204" pitchFamily="49" charset="0"/>
              </a:rPr>
              <a:t>);</a:t>
            </a:r>
          </a:p>
        </p:txBody>
      </p:sp>
      <p:sp>
        <p:nvSpPr>
          <p:cNvPr id="13" name="Rectangle 3">
            <a:extLst>
              <a:ext uri="{FF2B5EF4-FFF2-40B4-BE49-F238E27FC236}">
                <a16:creationId xmlns:a16="http://schemas.microsoft.com/office/drawing/2014/main" id="{3D1F9F29-2C3B-FDBE-F936-F7482AD782C1}"/>
              </a:ext>
            </a:extLst>
          </p:cNvPr>
          <p:cNvSpPr>
            <a:spLocks noChangeArrowheads="1"/>
          </p:cNvSpPr>
          <p:nvPr/>
        </p:nvSpPr>
        <p:spPr bwMode="auto">
          <a:xfrm>
            <a:off x="6673021" y="5728738"/>
            <a:ext cx="2362313"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Правильный 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Достаточная сумма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Итого: 299</a:t>
            </a:r>
          </a:p>
        </p:txBody>
      </p:sp>
    </p:spTree>
    <p:extLst>
      <p:ext uri="{BB962C8B-B14F-4D97-AF65-F5344CB8AC3E}">
        <p14:creationId xmlns:p14="http://schemas.microsoft.com/office/powerpoint/2010/main" val="338773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3884ED-120F-6C66-958F-B091A750B1BD}"/>
              </a:ext>
            </a:extLst>
          </p:cNvPr>
          <p:cNvSpPr txBox="1"/>
          <p:nvPr/>
        </p:nvSpPr>
        <p:spPr>
          <a:xfrm>
            <a:off x="2232764" y="190401"/>
            <a:ext cx="7925844"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Задача 4. «После проверки осталось только две попытки. Почему?»</a:t>
            </a:r>
          </a:p>
        </p:txBody>
      </p:sp>
      <p:sp>
        <p:nvSpPr>
          <p:cNvPr id="4" name="Rectangle 1">
            <a:extLst>
              <a:ext uri="{FF2B5EF4-FFF2-40B4-BE49-F238E27FC236}">
                <a16:creationId xmlns:a16="http://schemas.microsoft.com/office/drawing/2014/main" id="{15CFE0C6-03F7-4560-D233-7632794D9D36}"/>
              </a:ext>
            </a:extLst>
          </p:cNvPr>
          <p:cNvSpPr>
            <a:spLocks noChangeArrowheads="1"/>
          </p:cNvSpPr>
          <p:nvPr/>
        </p:nvSpPr>
        <p:spPr bwMode="auto">
          <a:xfrm>
            <a:off x="475987" y="740027"/>
            <a:ext cx="79258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У пользователя есть три попытки ввода пароля.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Программист хочет проверить: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Если пароль правильный </a:t>
            </a: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ИЛИ</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ещё остались попытки, разрешить продолжить работу.</a:t>
            </a:r>
          </a:p>
        </p:txBody>
      </p:sp>
      <p:sp>
        <p:nvSpPr>
          <p:cNvPr id="8" name="TextBox 7">
            <a:extLst>
              <a:ext uri="{FF2B5EF4-FFF2-40B4-BE49-F238E27FC236}">
                <a16:creationId xmlns:a16="http://schemas.microsoft.com/office/drawing/2014/main" id="{584F4EF8-DC02-D024-356A-1DC8234F4875}"/>
              </a:ext>
            </a:extLst>
          </p:cNvPr>
          <p:cNvSpPr txBox="1"/>
          <p:nvPr/>
        </p:nvSpPr>
        <p:spPr>
          <a:xfrm>
            <a:off x="475987" y="1571024"/>
            <a:ext cx="6093912" cy="3785652"/>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password</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"1234"</a:t>
            </a:r>
            <a:r>
              <a:rPr lang="en-US" sz="1600" b="0" dirty="0">
                <a:solidFill>
                  <a:srgbClr val="000000"/>
                </a:solidFill>
                <a:effectLst/>
                <a:latin typeface="Consolas" panose="020B0609020204030204" pitchFamily="49" charset="0"/>
              </a:rPr>
              <a:t>;</a:t>
            </a:r>
          </a:p>
          <a:p>
            <a:r>
              <a:rPr lang="en-US" sz="1600" b="0" dirty="0">
                <a:solidFill>
                  <a:srgbClr val="001080"/>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input</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"1234"</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attempts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3</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input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password</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attempts</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Можно продолжить"</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Доступ заблокирован"</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br>
              <a:rPr lang="ru-RU" sz="1600" b="0" dirty="0">
                <a:solidFill>
                  <a:srgbClr val="000000"/>
                </a:solidFill>
                <a:effectLst/>
                <a:latin typeface="Consolas" panose="020B0609020204030204" pitchFamily="49" charset="0"/>
              </a:rPr>
            </a:b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Осталось попыток: {</a:t>
            </a:r>
            <a:r>
              <a:rPr lang="en-US" sz="1600" b="0" dirty="0">
                <a:solidFill>
                  <a:srgbClr val="A31515"/>
                </a:solidFill>
                <a:effectLst/>
                <a:latin typeface="Consolas" panose="020B0609020204030204" pitchFamily="49" charset="0"/>
              </a:rPr>
              <a:t>attempts}"</a:t>
            </a:r>
            <a:r>
              <a:rPr lang="en-US" sz="1600" b="0" dirty="0">
                <a:solidFill>
                  <a:srgbClr val="000000"/>
                </a:solidFill>
                <a:effectLst/>
                <a:latin typeface="Consolas" panose="020B0609020204030204" pitchFamily="49" charset="0"/>
              </a:rPr>
              <a:t>);</a:t>
            </a:r>
          </a:p>
        </p:txBody>
      </p:sp>
      <p:sp>
        <p:nvSpPr>
          <p:cNvPr id="9" name="Rectangle 2">
            <a:extLst>
              <a:ext uri="{FF2B5EF4-FFF2-40B4-BE49-F238E27FC236}">
                <a16:creationId xmlns:a16="http://schemas.microsoft.com/office/drawing/2014/main" id="{2A6C292A-3DDF-2EEA-97D7-41394C3BC4C0}"/>
              </a:ext>
            </a:extLst>
          </p:cNvPr>
          <p:cNvSpPr>
            <a:spLocks noChangeArrowheads="1"/>
          </p:cNvSpPr>
          <p:nvPr/>
        </p:nvSpPr>
        <p:spPr bwMode="auto">
          <a:xfrm>
            <a:off x="789140" y="5402843"/>
            <a:ext cx="3881512"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Что программа выведет на самом деле?</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Можно продолжить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Осталось попыток: 3</a:t>
            </a:r>
          </a:p>
        </p:txBody>
      </p:sp>
      <p:sp>
        <p:nvSpPr>
          <p:cNvPr id="13" name="TextBox 12">
            <a:extLst>
              <a:ext uri="{FF2B5EF4-FFF2-40B4-BE49-F238E27FC236}">
                <a16:creationId xmlns:a16="http://schemas.microsoft.com/office/drawing/2014/main" id="{3557B0A0-2DD4-2836-3832-B35F33496FB1}"/>
              </a:ext>
            </a:extLst>
          </p:cNvPr>
          <p:cNvSpPr txBox="1"/>
          <p:nvPr/>
        </p:nvSpPr>
        <p:spPr>
          <a:xfrm>
            <a:off x="6569899" y="2183156"/>
            <a:ext cx="6093912" cy="3754874"/>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password</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"1234"</a:t>
            </a:r>
            <a:r>
              <a:rPr lang="en-US" sz="1400" b="0" dirty="0">
                <a:solidFill>
                  <a:srgbClr val="000000"/>
                </a:solidFill>
                <a:effectLst/>
                <a:latin typeface="Consolas" panose="020B0609020204030204" pitchFamily="49" charset="0"/>
              </a:rPr>
              <a:t>;</a:t>
            </a:r>
          </a:p>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"1234"</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attempts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3</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attempts</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password</a:t>
            </a: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attempts</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Можно продолжить"</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Доступ заблокирован"</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br>
              <a:rPr lang="ru-RU"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Осталось попыток: {</a:t>
            </a:r>
            <a:r>
              <a:rPr lang="en-US" sz="1400" b="0" dirty="0">
                <a:solidFill>
                  <a:srgbClr val="A31515"/>
                </a:solidFill>
                <a:effectLst/>
                <a:latin typeface="Consolas" panose="020B0609020204030204" pitchFamily="49" charset="0"/>
              </a:rPr>
              <a:t>attempts}"</a:t>
            </a:r>
            <a:r>
              <a:rPr lang="en-US" sz="1400"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CB67F61E-3ED5-AE85-B95B-ACA810F497EB}"/>
              </a:ext>
            </a:extLst>
          </p:cNvPr>
          <p:cNvSpPr txBox="1"/>
          <p:nvPr/>
        </p:nvSpPr>
        <p:spPr>
          <a:xfrm>
            <a:off x="7797240" y="1844602"/>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
        <p:nvSpPr>
          <p:cNvPr id="15" name="Rectangle 3">
            <a:extLst>
              <a:ext uri="{FF2B5EF4-FFF2-40B4-BE49-F238E27FC236}">
                <a16:creationId xmlns:a16="http://schemas.microsoft.com/office/drawing/2014/main" id="{D810707C-F0CB-A013-DFFC-1008BFABE7EE}"/>
              </a:ext>
            </a:extLst>
          </p:cNvPr>
          <p:cNvSpPr>
            <a:spLocks noChangeArrowheads="1"/>
          </p:cNvSpPr>
          <p:nvPr/>
        </p:nvSpPr>
        <p:spPr bwMode="auto">
          <a:xfrm>
            <a:off x="7254541" y="5938030"/>
            <a:ext cx="2362313"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Правильный 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Можно продолжить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Осталось попыток: 2</a:t>
            </a:r>
          </a:p>
        </p:txBody>
      </p:sp>
    </p:spTree>
    <p:extLst>
      <p:ext uri="{BB962C8B-B14F-4D97-AF65-F5344CB8AC3E}">
        <p14:creationId xmlns:p14="http://schemas.microsoft.com/office/powerpoint/2010/main" val="176972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F588BC-D93E-1715-B977-B4146ED6A3C5}"/>
              </a:ext>
            </a:extLst>
          </p:cNvPr>
          <p:cNvSpPr txBox="1"/>
          <p:nvPr/>
        </p:nvSpPr>
        <p:spPr>
          <a:xfrm>
            <a:off x="3049044" y="203640"/>
            <a:ext cx="6093912"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Задача 5. «85 баллов - удовлетворительно?»</a:t>
            </a:r>
          </a:p>
        </p:txBody>
      </p:sp>
      <p:sp>
        <p:nvSpPr>
          <p:cNvPr id="4" name="Rectangle 1">
            <a:extLst>
              <a:ext uri="{FF2B5EF4-FFF2-40B4-BE49-F238E27FC236}">
                <a16:creationId xmlns:a16="http://schemas.microsoft.com/office/drawing/2014/main" id="{6C034573-DCD9-6514-404E-6D618B21B310}"/>
              </a:ext>
            </a:extLst>
          </p:cNvPr>
          <p:cNvSpPr>
            <a:spLocks noChangeArrowheads="1"/>
          </p:cNvSpPr>
          <p:nvPr/>
        </p:nvSpPr>
        <p:spPr bwMode="auto">
          <a:xfrm>
            <a:off x="438411" y="572972"/>
            <a:ext cx="80477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Баллы студента приходят в программу как строка:</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string input = "80";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Перед выставлением оценки преподаватель решил добавить студенту 5 бонусных баллов.</a:t>
            </a:r>
          </a:p>
        </p:txBody>
      </p:sp>
      <p:sp>
        <p:nvSpPr>
          <p:cNvPr id="6" name="TextBox 5">
            <a:extLst>
              <a:ext uri="{FF2B5EF4-FFF2-40B4-BE49-F238E27FC236}">
                <a16:creationId xmlns:a16="http://schemas.microsoft.com/office/drawing/2014/main" id="{EE844886-2E3B-7561-4075-C406B27A649C}"/>
              </a:ext>
            </a:extLst>
          </p:cNvPr>
          <p:cNvSpPr txBox="1"/>
          <p:nvPr/>
        </p:nvSpPr>
        <p:spPr>
          <a:xfrm>
            <a:off x="438411" y="1452936"/>
            <a:ext cx="6093912" cy="4832092"/>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"80"</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 </a:t>
            </a:r>
            <a:r>
              <a:rPr lang="en-US" sz="1400" b="0" dirty="0" err="1">
                <a:solidFill>
                  <a:srgbClr val="001080"/>
                </a:solidFill>
                <a:effectLst/>
                <a:latin typeface="Consolas" panose="020B0609020204030204" pitchFamily="49" charset="0"/>
              </a:rPr>
              <a:t>int</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Parse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a:t>
            </a:r>
          </a:p>
          <a:p>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5</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60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Удовлетворительно"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75</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Хорошо"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90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Отлично"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Не сдал"</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br>
              <a:rPr lang="ru-RU"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Баллы: {</a:t>
            </a:r>
            <a:r>
              <a:rPr lang="en-US" sz="1400" b="0" dirty="0">
                <a:solidFill>
                  <a:srgbClr val="A31515"/>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a:t>
            </a:r>
          </a:p>
          <a:p>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Результат: {</a:t>
            </a:r>
            <a:r>
              <a:rPr lang="en-US" sz="1400" b="0" dirty="0">
                <a:solidFill>
                  <a:srgbClr val="A31515"/>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a:t>
            </a:r>
          </a:p>
        </p:txBody>
      </p:sp>
      <p:sp>
        <p:nvSpPr>
          <p:cNvPr id="7" name="Rectangle 2">
            <a:extLst>
              <a:ext uri="{FF2B5EF4-FFF2-40B4-BE49-F238E27FC236}">
                <a16:creationId xmlns:a16="http://schemas.microsoft.com/office/drawing/2014/main" id="{BEBC33EB-C739-64B7-917F-1E9D96894F15}"/>
              </a:ext>
            </a:extLst>
          </p:cNvPr>
          <p:cNvSpPr>
            <a:spLocks noChangeArrowheads="1"/>
          </p:cNvSpPr>
          <p:nvPr/>
        </p:nvSpPr>
        <p:spPr bwMode="auto">
          <a:xfrm>
            <a:off x="4682439" y="5869529"/>
            <a:ext cx="2827121"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Но программа выводит: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Баллы: 85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 Удовлетворительно</a:t>
            </a:r>
          </a:p>
        </p:txBody>
      </p:sp>
      <p:sp>
        <p:nvSpPr>
          <p:cNvPr id="8" name="TextBox 7">
            <a:extLst>
              <a:ext uri="{FF2B5EF4-FFF2-40B4-BE49-F238E27FC236}">
                <a16:creationId xmlns:a16="http://schemas.microsoft.com/office/drawing/2014/main" id="{2F63D867-796F-71B9-04A9-79551EE4197D}"/>
              </a:ext>
            </a:extLst>
          </p:cNvPr>
          <p:cNvSpPr txBox="1"/>
          <p:nvPr/>
        </p:nvSpPr>
        <p:spPr>
          <a:xfrm>
            <a:off x="7797240" y="1844602"/>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
        <p:nvSpPr>
          <p:cNvPr id="10" name="TextBox 9">
            <a:extLst>
              <a:ext uri="{FF2B5EF4-FFF2-40B4-BE49-F238E27FC236}">
                <a16:creationId xmlns:a16="http://schemas.microsoft.com/office/drawing/2014/main" id="{4C94E999-7F5B-AA3B-7F3D-774D86BD3587}"/>
              </a:ext>
            </a:extLst>
          </p:cNvPr>
          <p:cNvSpPr txBox="1"/>
          <p:nvPr/>
        </p:nvSpPr>
        <p:spPr>
          <a:xfrm>
            <a:off x="7681586" y="2183156"/>
            <a:ext cx="4072003" cy="3539430"/>
          </a:xfrm>
          <a:prstGeom prst="rect">
            <a:avLst/>
          </a:prstGeom>
          <a:noFill/>
        </p:spPr>
        <p:txBody>
          <a:bodyPr wrap="square">
            <a:spAutoFit/>
          </a:bodyPr>
          <a:lstStyle/>
          <a:p>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90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Отлично"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75</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Хорошо"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score</a:t>
            </a:r>
            <a:r>
              <a:rPr lang="en-US" sz="1400" b="0" dirty="0">
                <a:solidFill>
                  <a:srgbClr val="000000"/>
                </a:solidFill>
                <a:effectLst/>
                <a:latin typeface="Consolas" panose="020B0609020204030204" pitchFamily="49" charset="0"/>
              </a:rPr>
              <a:t> &gt;= </a:t>
            </a:r>
            <a:r>
              <a:rPr lang="en-US" sz="1400" b="0" dirty="0">
                <a:solidFill>
                  <a:srgbClr val="098658"/>
                </a:solidFill>
                <a:effectLst/>
                <a:latin typeface="Consolas" panose="020B0609020204030204" pitchFamily="49" charset="0"/>
              </a:rPr>
              <a:t>60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Удовлетворительно"</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else</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grade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Не сдал"</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a:t>
            </a:r>
          </a:p>
        </p:txBody>
      </p:sp>
      <p:sp>
        <p:nvSpPr>
          <p:cNvPr id="11" name="Rectangle 3">
            <a:extLst>
              <a:ext uri="{FF2B5EF4-FFF2-40B4-BE49-F238E27FC236}">
                <a16:creationId xmlns:a16="http://schemas.microsoft.com/office/drawing/2014/main" id="{9718B5E5-6026-F6DC-3260-693CE8188056}"/>
              </a:ext>
            </a:extLst>
          </p:cNvPr>
          <p:cNvSpPr>
            <a:spLocks noChangeArrowheads="1"/>
          </p:cNvSpPr>
          <p:nvPr/>
        </p:nvSpPr>
        <p:spPr bwMode="auto">
          <a:xfrm>
            <a:off x="8279705" y="5823363"/>
            <a:ext cx="2362313"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Правильный 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Баллы: 85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Результат: Хорошо</a:t>
            </a:r>
          </a:p>
        </p:txBody>
      </p:sp>
    </p:spTree>
    <p:extLst>
      <p:ext uri="{BB962C8B-B14F-4D97-AF65-F5344CB8AC3E}">
        <p14:creationId xmlns:p14="http://schemas.microsoft.com/office/powerpoint/2010/main" val="105301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5ADC20-D2EC-2600-D8C9-7CA29930A818}"/>
              </a:ext>
            </a:extLst>
          </p:cNvPr>
          <p:cNvSpPr txBox="1"/>
          <p:nvPr/>
        </p:nvSpPr>
        <p:spPr>
          <a:xfrm>
            <a:off x="2320968" y="315662"/>
            <a:ext cx="7550063" cy="369332"/>
          </a:xfrm>
          <a:prstGeom prst="rect">
            <a:avLst/>
          </a:prstGeom>
          <a:noFill/>
        </p:spPr>
        <p:txBody>
          <a:bodyPr wrap="square">
            <a:spAutoFit/>
          </a:bodyPr>
          <a:lstStyle/>
          <a:p>
            <a:r>
              <a:rPr lang="ru-RU" b="1" dirty="0">
                <a:latin typeface="Times New Roman" panose="02020603050405020304" pitchFamily="18" charset="0"/>
                <a:cs typeface="Times New Roman" panose="02020603050405020304" pitchFamily="18" charset="0"/>
              </a:rPr>
              <a:t>Задача 6. «Код выглядит почти правильно, но даже не запускается»</a:t>
            </a:r>
          </a:p>
        </p:txBody>
      </p:sp>
      <p:sp>
        <p:nvSpPr>
          <p:cNvPr id="4" name="Rectangle 1">
            <a:extLst>
              <a:ext uri="{FF2B5EF4-FFF2-40B4-BE49-F238E27FC236}">
                <a16:creationId xmlns:a16="http://schemas.microsoft.com/office/drawing/2014/main" id="{26457746-C8AA-A8C6-9A27-BCA667EA75E0}"/>
              </a:ext>
            </a:extLst>
          </p:cNvPr>
          <p:cNvSpPr>
            <a:spLocks noChangeArrowheads="1"/>
          </p:cNvSpPr>
          <p:nvPr/>
        </p:nvSpPr>
        <p:spPr bwMode="auto">
          <a:xfrm>
            <a:off x="144113" y="596165"/>
            <a:ext cx="595188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Пользователь вводит номер действия: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 пополнить счёт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 снять деньги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 показать баланс</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Данные пришли из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Console.ReadLine</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поэтому имеют тип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string</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Программист написал:</a:t>
            </a:r>
          </a:p>
        </p:txBody>
      </p:sp>
      <p:sp>
        <p:nvSpPr>
          <p:cNvPr id="6" name="TextBox 5">
            <a:extLst>
              <a:ext uri="{FF2B5EF4-FFF2-40B4-BE49-F238E27FC236}">
                <a16:creationId xmlns:a16="http://schemas.microsoft.com/office/drawing/2014/main" id="{3CE607A8-B6C4-F9B2-A221-B4419883FA43}"/>
              </a:ext>
            </a:extLst>
          </p:cNvPr>
          <p:cNvSpPr txBox="1"/>
          <p:nvPr/>
        </p:nvSpPr>
        <p:spPr>
          <a:xfrm>
            <a:off x="144113" y="2165825"/>
            <a:ext cx="6093912" cy="4185761"/>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switch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Пополнение"</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Снятие"</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3</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Баланс"</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Неизвестная команда"</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37006EAF-5CE8-9B0F-AAFE-FB687251C1AE}"/>
              </a:ext>
            </a:extLst>
          </p:cNvPr>
          <p:cNvSpPr txBox="1"/>
          <p:nvPr/>
        </p:nvSpPr>
        <p:spPr>
          <a:xfrm>
            <a:off x="7433986" y="1211718"/>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a:t>
            </a:r>
          </a:p>
        </p:txBody>
      </p:sp>
      <p:sp>
        <p:nvSpPr>
          <p:cNvPr id="9" name="TextBox 8">
            <a:extLst>
              <a:ext uri="{FF2B5EF4-FFF2-40B4-BE49-F238E27FC236}">
                <a16:creationId xmlns:a16="http://schemas.microsoft.com/office/drawing/2014/main" id="{95279A7F-2021-0D33-9F59-13C4608C0C95}"/>
              </a:ext>
            </a:extLst>
          </p:cNvPr>
          <p:cNvSpPr txBox="1"/>
          <p:nvPr/>
        </p:nvSpPr>
        <p:spPr>
          <a:xfrm>
            <a:off x="7433986" y="1581049"/>
            <a:ext cx="3870479" cy="1169551"/>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 = </a:t>
            </a:r>
            <a:r>
              <a:rPr lang="en-US" sz="1400" b="0" dirty="0" err="1">
                <a:solidFill>
                  <a:srgbClr val="001080"/>
                </a:solidFill>
                <a:effectLst/>
                <a:latin typeface="Consolas" panose="020B0609020204030204" pitchFamily="49" charset="0"/>
              </a:rPr>
              <a:t>int</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Parse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4EE6A5C7-A3E3-B6AF-8501-CCD2AC00123B}"/>
              </a:ext>
            </a:extLst>
          </p:cNvPr>
          <p:cNvSpPr txBox="1"/>
          <p:nvPr/>
        </p:nvSpPr>
        <p:spPr>
          <a:xfrm>
            <a:off x="7433985" y="2442823"/>
            <a:ext cx="3639229" cy="338554"/>
          </a:xfrm>
          <a:prstGeom prst="rect">
            <a:avLst/>
          </a:prstGeom>
          <a:noFill/>
        </p:spPr>
        <p:txBody>
          <a:bodyPr wrap="square">
            <a:spAutoFit/>
          </a:bodyPr>
          <a:lstStyle/>
          <a:p>
            <a:r>
              <a:rPr lang="ru-RU" sz="1600" b="1" dirty="0">
                <a:latin typeface="Times New Roman" panose="02020603050405020304" pitchFamily="18" charset="0"/>
                <a:cs typeface="Times New Roman" panose="02020603050405020304" pitchFamily="18" charset="0"/>
              </a:rPr>
              <a:t>Правильный вариант 2</a:t>
            </a:r>
          </a:p>
        </p:txBody>
      </p:sp>
      <p:sp>
        <p:nvSpPr>
          <p:cNvPr id="12" name="TextBox 11">
            <a:extLst>
              <a:ext uri="{FF2B5EF4-FFF2-40B4-BE49-F238E27FC236}">
                <a16:creationId xmlns:a16="http://schemas.microsoft.com/office/drawing/2014/main" id="{F144F699-FB63-EDA0-25DC-72AFEFA8AE2F}"/>
              </a:ext>
            </a:extLst>
          </p:cNvPr>
          <p:cNvSpPr txBox="1"/>
          <p:nvPr/>
        </p:nvSpPr>
        <p:spPr>
          <a:xfrm>
            <a:off x="7433985" y="2941135"/>
            <a:ext cx="4453215" cy="2031325"/>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switch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Пополнение"</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p:txBody>
      </p:sp>
      <p:sp>
        <p:nvSpPr>
          <p:cNvPr id="13" name="Rectangle 2">
            <a:extLst>
              <a:ext uri="{FF2B5EF4-FFF2-40B4-BE49-F238E27FC236}">
                <a16:creationId xmlns:a16="http://schemas.microsoft.com/office/drawing/2014/main" id="{0A651347-088A-4A6B-6C7D-91CF9F22AB9A}"/>
              </a:ext>
            </a:extLst>
          </p:cNvPr>
          <p:cNvSpPr>
            <a:spLocks noChangeArrowheads="1"/>
          </p:cNvSpPr>
          <p:nvPr/>
        </p:nvSpPr>
        <p:spPr bwMode="auto">
          <a:xfrm>
            <a:off x="7928975" y="5276951"/>
            <a:ext cx="2362313" cy="58477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Правильный результат</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Снятие</a:t>
            </a:r>
          </a:p>
        </p:txBody>
      </p:sp>
    </p:spTree>
    <p:extLst>
      <p:ext uri="{BB962C8B-B14F-4D97-AF65-F5344CB8AC3E}">
        <p14:creationId xmlns:p14="http://schemas.microsoft.com/office/powerpoint/2010/main" val="127708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E1A093-DA75-AFE3-4F83-4A3A24F98C0A}"/>
              </a:ext>
            </a:extLst>
          </p:cNvPr>
          <p:cNvSpPr txBox="1"/>
          <p:nvPr/>
        </p:nvSpPr>
        <p:spPr>
          <a:xfrm>
            <a:off x="2608544" y="265558"/>
            <a:ext cx="7537537" cy="369332"/>
          </a:xfrm>
          <a:prstGeom prst="rect">
            <a:avLst/>
          </a:prstGeom>
          <a:noFill/>
        </p:spPr>
        <p:txBody>
          <a:bodyPr wrap="square">
            <a:spAutoFit/>
          </a:bodyPr>
          <a:lstStyle/>
          <a:p>
            <a:r>
              <a:rPr lang="ru-RU" b="1" dirty="0">
                <a:latin typeface="Times New Roman" panose="02020603050405020304" pitchFamily="18" charset="0"/>
                <a:cs typeface="Times New Roman" panose="02020603050405020304" pitchFamily="18" charset="0"/>
              </a:rPr>
              <a:t>Теперь программист решил после выбора операции изменить баланс:</a:t>
            </a:r>
          </a:p>
        </p:txBody>
      </p:sp>
      <p:sp>
        <p:nvSpPr>
          <p:cNvPr id="5" name="TextBox 4">
            <a:extLst>
              <a:ext uri="{FF2B5EF4-FFF2-40B4-BE49-F238E27FC236}">
                <a16:creationId xmlns:a16="http://schemas.microsoft.com/office/drawing/2014/main" id="{044CF223-DC62-50A8-F9C5-0F9533495E71}"/>
              </a:ext>
            </a:extLst>
          </p:cNvPr>
          <p:cNvSpPr txBox="1"/>
          <p:nvPr/>
        </p:nvSpPr>
        <p:spPr>
          <a:xfrm>
            <a:off x="563671" y="862930"/>
            <a:ext cx="7537537" cy="5478423"/>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balance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1000</a:t>
            </a:r>
            <a:r>
              <a:rPr lang="en-US" sz="1400" b="0" dirty="0">
                <a:solidFill>
                  <a:srgbClr val="000000"/>
                </a:solidFill>
                <a:effectLst/>
                <a:latin typeface="Consolas" panose="020B0609020204030204" pitchFamily="49" charset="0"/>
              </a:rPr>
              <a:t>;</a:t>
            </a:r>
          </a:p>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amountText</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"250"</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amount</a:t>
            </a:r>
            <a:r>
              <a:rPr lang="en-US" sz="1400" b="0" dirty="0">
                <a:solidFill>
                  <a:srgbClr val="000000"/>
                </a:solidFill>
                <a:effectLst/>
                <a:latin typeface="Consolas" panose="020B0609020204030204" pitchFamily="49" charset="0"/>
              </a:rPr>
              <a:t> = </a:t>
            </a:r>
            <a:r>
              <a:rPr lang="en-US" sz="1400" b="0" dirty="0" err="1">
                <a:solidFill>
                  <a:srgbClr val="001080"/>
                </a:solidFill>
                <a:effectLst/>
                <a:latin typeface="Consolas" panose="020B0609020204030204" pitchFamily="49" charset="0"/>
              </a:rPr>
              <a:t>int</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Parse</a:t>
            </a:r>
            <a:r>
              <a:rPr lang="en-US" sz="1400" b="0" dirty="0">
                <a:solidFill>
                  <a:srgbClr val="000000"/>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amountText</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switch</a:t>
            </a:r>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int</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Parse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input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balance</a:t>
            </a: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amount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balance</a:t>
            </a:r>
            <a:r>
              <a:rPr lang="en-US" sz="1400" b="0" dirty="0">
                <a:solidFill>
                  <a:srgbClr val="000000"/>
                </a:solidFill>
                <a:effectLst/>
                <a:latin typeface="Consolas" panose="020B0609020204030204" pitchFamily="49" charset="0"/>
              </a:rPr>
              <a:t> &gt;= </a:t>
            </a:r>
            <a:r>
              <a:rPr lang="en-US" sz="1400" b="0" dirty="0">
                <a:solidFill>
                  <a:srgbClr val="001080"/>
                </a:solidFill>
                <a:effectLst/>
                <a:latin typeface="Consolas" panose="020B0609020204030204" pitchFamily="49" charset="0"/>
              </a:rPr>
              <a:t>amount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balance</a:t>
            </a:r>
            <a:r>
              <a:rPr lang="en-US" sz="1400" b="0" dirty="0">
                <a:solidFill>
                  <a:srgbClr val="000000"/>
                </a:solidFill>
                <a:effectLst/>
                <a:latin typeface="Consolas" panose="020B0609020204030204" pitchFamily="49" charset="0"/>
              </a:rPr>
              <a:t> -= </a:t>
            </a:r>
            <a:r>
              <a:rPr lang="en-US" sz="1400" b="0" dirty="0">
                <a:solidFill>
                  <a:srgbClr val="001080"/>
                </a:solidFill>
                <a:effectLst/>
                <a:latin typeface="Consolas" panose="020B0609020204030204" pitchFamily="49" charset="0"/>
              </a:rPr>
              <a:t>amount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3</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Баланс: {</a:t>
            </a:r>
            <a:r>
              <a:rPr lang="en-US" sz="1400" b="0" dirty="0">
                <a:solidFill>
                  <a:srgbClr val="A31515"/>
                </a:solidFill>
                <a:effectLst/>
                <a:latin typeface="Consolas" panose="020B0609020204030204" pitchFamily="49" charset="0"/>
              </a:rPr>
              <a:t>balance}"</a:t>
            </a:r>
            <a:r>
              <a:rPr lang="en-US" sz="1400" b="0" dirty="0">
                <a:solidFill>
                  <a:srgbClr val="000000"/>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A5B34EF3-EA59-241A-BF3C-0D0180BFAFAC}"/>
              </a:ext>
            </a:extLst>
          </p:cNvPr>
          <p:cNvSpPr>
            <a:spLocks noChangeArrowheads="1"/>
          </p:cNvSpPr>
          <p:nvPr/>
        </p:nvSpPr>
        <p:spPr bwMode="auto">
          <a:xfrm>
            <a:off x="6580422" y="1546650"/>
            <a:ext cx="126047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Баланс: 750 </a:t>
            </a:r>
          </a:p>
        </p:txBody>
      </p:sp>
      <p:sp>
        <p:nvSpPr>
          <p:cNvPr id="7" name="Rectangle 1">
            <a:extLst>
              <a:ext uri="{FF2B5EF4-FFF2-40B4-BE49-F238E27FC236}">
                <a16:creationId xmlns:a16="http://schemas.microsoft.com/office/drawing/2014/main" id="{2AF005F3-FC0B-DD98-8B8E-F069A001C5EA}"/>
              </a:ext>
            </a:extLst>
          </p:cNvPr>
          <p:cNvSpPr>
            <a:spLocks noChangeArrowheads="1"/>
          </p:cNvSpPr>
          <p:nvPr/>
        </p:nvSpPr>
        <p:spPr bwMode="auto">
          <a:xfrm>
            <a:off x="5944319" y="1149333"/>
            <a:ext cx="253268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Что выведет программа?</a:t>
            </a:r>
          </a:p>
        </p:txBody>
      </p:sp>
    </p:spTree>
    <p:extLst>
      <p:ext uri="{BB962C8B-B14F-4D97-AF65-F5344CB8AC3E}">
        <p14:creationId xmlns:p14="http://schemas.microsoft.com/office/powerpoint/2010/main" val="6102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5BE471-01CE-58E6-2A04-812BB44D9107}"/>
              </a:ext>
            </a:extLst>
          </p:cNvPr>
          <p:cNvSpPr txBox="1"/>
          <p:nvPr/>
        </p:nvSpPr>
        <p:spPr>
          <a:xfrm>
            <a:off x="3048000" y="308094"/>
            <a:ext cx="6096000"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Что будет напечатано?</a:t>
            </a:r>
          </a:p>
        </p:txBody>
      </p:sp>
      <p:sp>
        <p:nvSpPr>
          <p:cNvPr id="6" name="TextBox 5">
            <a:extLst>
              <a:ext uri="{FF2B5EF4-FFF2-40B4-BE49-F238E27FC236}">
                <a16:creationId xmlns:a16="http://schemas.microsoft.com/office/drawing/2014/main" id="{678AA54F-E105-2CA5-1D5D-CACD0A0B1476}"/>
              </a:ext>
            </a:extLst>
          </p:cNvPr>
          <p:cNvSpPr txBox="1"/>
          <p:nvPr/>
        </p:nvSpPr>
        <p:spPr>
          <a:xfrm>
            <a:off x="701040" y="1026220"/>
            <a:ext cx="6096000" cy="3139321"/>
          </a:xfrm>
          <a:prstGeom prst="rect">
            <a:avLst/>
          </a:prstGeom>
          <a:noFill/>
        </p:spPr>
        <p:txBody>
          <a:bodyPr wrap="square">
            <a:spAutoFit/>
          </a:bodyPr>
          <a:lstStyle/>
          <a:p>
            <a:r>
              <a:rPr lang="en-US" b="0" dirty="0">
                <a:solidFill>
                  <a:srgbClr val="001080"/>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temperature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25</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temperature</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Console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temperature</a:t>
            </a:r>
            <a:r>
              <a:rPr lang="en-US" b="0" dirty="0">
                <a:solidFill>
                  <a:srgbClr val="000000"/>
                </a:solidFill>
                <a:effectLst/>
                <a:latin typeface="Consolas" panose="020B0609020204030204" pitchFamily="49" charset="0"/>
              </a:rPr>
              <a:t> &gt;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Console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else</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Console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Console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a:t>
            </a:r>
            <a:r>
              <a:rPr lang="en-US" b="0" dirty="0">
                <a:solidFill>
                  <a:srgbClr val="000000"/>
                </a:solidFill>
                <a:effectLst/>
                <a:latin typeface="Consolas" panose="020B0609020204030204" pitchFamily="49" charset="0"/>
              </a:rPr>
              <a:t>);</a:t>
            </a:r>
          </a:p>
        </p:txBody>
      </p:sp>
      <p:sp>
        <p:nvSpPr>
          <p:cNvPr id="7" name="Rectangle 2">
            <a:extLst>
              <a:ext uri="{FF2B5EF4-FFF2-40B4-BE49-F238E27FC236}">
                <a16:creationId xmlns:a16="http://schemas.microsoft.com/office/drawing/2014/main" id="{4A589F40-D677-26C1-3845-5F09F4955109}"/>
              </a:ext>
            </a:extLst>
          </p:cNvPr>
          <p:cNvSpPr>
            <a:spLocks noChangeArrowheads="1"/>
          </p:cNvSpPr>
          <p:nvPr/>
        </p:nvSpPr>
        <p:spPr bwMode="auto">
          <a:xfrm>
            <a:off x="6979920" y="3489960"/>
            <a:ext cx="817853" cy="58477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Ответ:</a:t>
            </a:r>
            <a:endPar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ABD</a:t>
            </a:r>
          </a:p>
        </p:txBody>
      </p:sp>
      <p:sp>
        <p:nvSpPr>
          <p:cNvPr id="8" name="Rectangle 3">
            <a:extLst>
              <a:ext uri="{FF2B5EF4-FFF2-40B4-BE49-F238E27FC236}">
                <a16:creationId xmlns:a16="http://schemas.microsoft.com/office/drawing/2014/main" id="{8F7CDDC1-2CBB-B6F1-7F3F-8ED2C1D8B90A}"/>
              </a:ext>
            </a:extLst>
          </p:cNvPr>
          <p:cNvSpPr>
            <a:spLocks noChangeArrowheads="1"/>
          </p:cNvSpPr>
          <p:nvPr/>
        </p:nvSpPr>
        <p:spPr bwMode="auto">
          <a:xfrm>
            <a:off x="3251200" y="5367923"/>
            <a:ext cx="488992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dirty="0">
                <a:latin typeface="Times New Roman" panose="02020603050405020304" pitchFamily="18" charset="0"/>
                <a:cs typeface="Times New Roman" panose="02020603050405020304" pitchFamily="18" charset="0"/>
              </a:rPr>
              <a:t>П</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ервый и второй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if</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две независимые конструкции. </a:t>
            </a:r>
          </a:p>
        </p:txBody>
      </p:sp>
    </p:spTree>
    <p:extLst>
      <p:ext uri="{BB962C8B-B14F-4D97-AF65-F5344CB8AC3E}">
        <p14:creationId xmlns:p14="http://schemas.microsoft.com/office/powerpoint/2010/main" val="401154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B590CD-E554-36C4-CD37-C9CEEDD2D450}"/>
              </a:ext>
            </a:extLst>
          </p:cNvPr>
          <p:cNvSpPr txBox="1"/>
          <p:nvPr/>
        </p:nvSpPr>
        <p:spPr>
          <a:xfrm>
            <a:off x="3048000" y="308094"/>
            <a:ext cx="6096000"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Что будет напечатано?</a:t>
            </a:r>
          </a:p>
        </p:txBody>
      </p:sp>
      <p:sp>
        <p:nvSpPr>
          <p:cNvPr id="4" name="TextBox 3">
            <a:extLst>
              <a:ext uri="{FF2B5EF4-FFF2-40B4-BE49-F238E27FC236}">
                <a16:creationId xmlns:a16="http://schemas.microsoft.com/office/drawing/2014/main" id="{9B8D9B22-357B-6F7F-7545-081FA2A3BF45}"/>
              </a:ext>
            </a:extLst>
          </p:cNvPr>
          <p:cNvSpPr txBox="1"/>
          <p:nvPr/>
        </p:nvSpPr>
        <p:spPr>
          <a:xfrm>
            <a:off x="264160" y="905232"/>
            <a:ext cx="4815840" cy="5047536"/>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switch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3</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"C"</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"D"</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a:t>
            </a:r>
            <a:r>
              <a:rPr lang="en-US" sz="1400" b="0" dirty="0">
                <a:solidFill>
                  <a:srgbClr val="A31515"/>
                </a:solidFill>
                <a:effectLst/>
                <a:latin typeface="Consolas" panose="020B0609020204030204" pitchFamily="49" charset="0"/>
              </a:rPr>
              <a:t>"command = {command}"</a:t>
            </a:r>
            <a:r>
              <a:rPr lang="en-US" sz="1400" b="0" dirty="0">
                <a:solidFill>
                  <a:srgbClr val="000000"/>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A40E8703-5D2C-86E7-C79F-8A57E3F7A5DE}"/>
              </a:ext>
            </a:extLst>
          </p:cNvPr>
          <p:cNvSpPr>
            <a:spLocks noChangeArrowheads="1"/>
          </p:cNvSpPr>
          <p:nvPr/>
        </p:nvSpPr>
        <p:spPr bwMode="auto">
          <a:xfrm>
            <a:off x="7325360" y="4771182"/>
            <a:ext cx="1316386"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Ответ:</a:t>
            </a:r>
            <a:endPar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command</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3</a:t>
            </a:r>
          </a:p>
        </p:txBody>
      </p:sp>
    </p:spTree>
    <p:extLst>
      <p:ext uri="{BB962C8B-B14F-4D97-AF65-F5344CB8AC3E}">
        <p14:creationId xmlns:p14="http://schemas.microsoft.com/office/powerpoint/2010/main" val="408976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D97A70-C761-AFFA-62C9-417FB131370D}"/>
              </a:ext>
            </a:extLst>
          </p:cNvPr>
          <p:cNvSpPr txBox="1"/>
          <p:nvPr/>
        </p:nvSpPr>
        <p:spPr>
          <a:xfrm>
            <a:off x="3048000" y="308094"/>
            <a:ext cx="6096000"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Что будет напечатано?</a:t>
            </a:r>
          </a:p>
        </p:txBody>
      </p:sp>
      <p:sp>
        <p:nvSpPr>
          <p:cNvPr id="4" name="TextBox 3">
            <a:extLst>
              <a:ext uri="{FF2B5EF4-FFF2-40B4-BE49-F238E27FC236}">
                <a16:creationId xmlns:a16="http://schemas.microsoft.com/office/drawing/2014/main" id="{5256B170-EAF9-68F1-D296-748C89BBA3B6}"/>
              </a:ext>
            </a:extLst>
          </p:cNvPr>
          <p:cNvSpPr txBox="1"/>
          <p:nvPr/>
        </p:nvSpPr>
        <p:spPr>
          <a:xfrm>
            <a:off x="589280" y="1228358"/>
            <a:ext cx="6096000" cy="2092881"/>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5</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result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5</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5</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"B"</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"C"</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result</a:t>
            </a:r>
            <a:r>
              <a:rPr lang="en-US" sz="1600" b="0" dirty="0">
                <a:solidFill>
                  <a:srgbClr val="000000"/>
                </a:solidFill>
                <a:effectLst/>
                <a:latin typeface="Consolas" panose="020B0609020204030204" pitchFamily="49" charset="0"/>
              </a:rPr>
              <a:t>);</a:t>
            </a:r>
          </a:p>
          <a:p>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points</a:t>
            </a:r>
            <a:r>
              <a:rPr lang="en-US" sz="1600" b="0" dirty="0">
                <a:solidFill>
                  <a:srgbClr val="000000"/>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43E5F047-E287-1088-A463-C5C8DB33AF7E}"/>
              </a:ext>
            </a:extLst>
          </p:cNvPr>
          <p:cNvSpPr>
            <a:spLocks noChangeArrowheads="1"/>
          </p:cNvSpPr>
          <p:nvPr/>
        </p:nvSpPr>
        <p:spPr bwMode="auto">
          <a:xfrm>
            <a:off x="6096000" y="2274798"/>
            <a:ext cx="817853" cy="830997"/>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Ответ:</a:t>
            </a:r>
            <a:endPar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34201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E4F273-8428-449C-17D2-1A348234AC37}"/>
              </a:ext>
            </a:extLst>
          </p:cNvPr>
          <p:cNvSpPr txBox="1"/>
          <p:nvPr/>
        </p:nvSpPr>
        <p:spPr>
          <a:xfrm>
            <a:off x="2956560" y="247134"/>
            <a:ext cx="6096000"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В какой строчке ошибка и как её исправить?</a:t>
            </a:r>
          </a:p>
        </p:txBody>
      </p:sp>
      <p:sp>
        <p:nvSpPr>
          <p:cNvPr id="5" name="TextBox 4">
            <a:extLst>
              <a:ext uri="{FF2B5EF4-FFF2-40B4-BE49-F238E27FC236}">
                <a16:creationId xmlns:a16="http://schemas.microsoft.com/office/drawing/2014/main" id="{03F14C6B-FBAC-FDE2-EA23-95774C37A732}"/>
              </a:ext>
            </a:extLst>
          </p:cNvPr>
          <p:cNvSpPr txBox="1"/>
          <p:nvPr/>
        </p:nvSpPr>
        <p:spPr>
          <a:xfrm>
            <a:off x="670560" y="958334"/>
            <a:ext cx="6096000" cy="338554"/>
          </a:xfrm>
          <a:prstGeom prst="rect">
            <a:avLst/>
          </a:prstGeom>
          <a:noFill/>
        </p:spPr>
        <p:txBody>
          <a:bodyPr wrap="square">
            <a:spAutoFit/>
          </a:bodyPr>
          <a:lstStyle/>
          <a:p>
            <a:r>
              <a:rPr lang="ru-RU" sz="1600" dirty="0">
                <a:latin typeface="Times New Roman" panose="02020603050405020304" pitchFamily="18" charset="0"/>
                <a:cs typeface="Times New Roman" panose="02020603050405020304" pitchFamily="18" charset="0"/>
              </a:rPr>
              <a:t>Что выведет программа:</a:t>
            </a:r>
          </a:p>
        </p:txBody>
      </p:sp>
      <p:sp>
        <p:nvSpPr>
          <p:cNvPr id="7" name="TextBox 6">
            <a:extLst>
              <a:ext uri="{FF2B5EF4-FFF2-40B4-BE49-F238E27FC236}">
                <a16:creationId xmlns:a16="http://schemas.microsoft.com/office/drawing/2014/main" id="{639F80EB-3BE6-699A-E393-F5B49E7B2FC3}"/>
              </a:ext>
            </a:extLst>
          </p:cNvPr>
          <p:cNvSpPr txBox="1"/>
          <p:nvPr/>
        </p:nvSpPr>
        <p:spPr>
          <a:xfrm>
            <a:off x="670560" y="1493580"/>
            <a:ext cx="7051040" cy="2585323"/>
          </a:xfrm>
          <a:prstGeom prst="rect">
            <a:avLst/>
          </a:prstGeom>
          <a:noFill/>
        </p:spPr>
        <p:txBody>
          <a:bodyPr wrap="square">
            <a:spAutoFit/>
          </a:bodyPr>
          <a:lstStyle/>
          <a:p>
            <a:r>
              <a:rPr lang="en-US" sz="1600" b="0" dirty="0">
                <a:solidFill>
                  <a:srgbClr val="001080"/>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score</a:t>
            </a:r>
            <a:r>
              <a:rPr lang="en-US" sz="1600" b="0" dirty="0">
                <a:solidFill>
                  <a:srgbClr val="000000"/>
                </a:solidFill>
                <a:effectLst/>
                <a:latin typeface="Consolas" panose="020B0609020204030204" pitchFamily="49" charset="0"/>
              </a:rPr>
              <a:t> = </a:t>
            </a:r>
            <a:r>
              <a:rPr lang="ru-RU" sz="1600" b="0" dirty="0">
                <a:solidFill>
                  <a:srgbClr val="000000"/>
                </a:solidFill>
                <a:effectLst/>
                <a:latin typeface="Consolas" panose="020B0609020204030204" pitchFamily="49" charset="0"/>
              </a:rPr>
              <a:t>-10</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score</a:t>
            </a:r>
            <a:r>
              <a:rPr lang="en-US" sz="1600" b="0" dirty="0">
                <a:solidFill>
                  <a:srgbClr val="000000"/>
                </a:solidFill>
                <a:effectLst/>
                <a:latin typeface="Consolas" panose="020B0609020204030204" pitchFamily="49" charset="0"/>
              </a:rPr>
              <a:t> &lt;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&amp;&amp; </a:t>
            </a:r>
            <a:r>
              <a:rPr lang="en-US" sz="1600" b="0" dirty="0">
                <a:solidFill>
                  <a:srgbClr val="001080"/>
                </a:solidFill>
                <a:effectLst/>
                <a:latin typeface="Consolas" panose="020B0609020204030204" pitchFamily="49" charset="0"/>
              </a:rPr>
              <a:t>score</a:t>
            </a:r>
            <a:r>
              <a:rPr lang="en-US" sz="1600" b="0" dirty="0">
                <a:solidFill>
                  <a:srgbClr val="000000"/>
                </a:solidFill>
                <a:effectLst/>
                <a:latin typeface="Consolas" panose="020B0609020204030204" pitchFamily="49" charset="0"/>
              </a:rPr>
              <a:t> &gt; </a:t>
            </a:r>
            <a:r>
              <a:rPr lang="en-US" sz="1600" b="0" dirty="0">
                <a:solidFill>
                  <a:srgbClr val="098658"/>
                </a:solidFill>
                <a:effectLst/>
                <a:latin typeface="Consolas" panose="020B0609020204030204" pitchFamily="49" charset="0"/>
              </a:rPr>
              <a:t>100</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Некорректное количество баллов"</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else</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Console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WriteLine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ru-RU" sz="1600" b="0" dirty="0">
                <a:solidFill>
                  <a:srgbClr val="A31515"/>
                </a:solidFill>
                <a:effectLst/>
                <a:latin typeface="Consolas" panose="020B0609020204030204" pitchFamily="49" charset="0"/>
              </a:rPr>
              <a:t>Баллы приняты"</a:t>
            </a:r>
            <a:r>
              <a:rPr lang="ru-RU" sz="1600" b="0" dirty="0">
                <a:solidFill>
                  <a:srgbClr val="000000"/>
                </a:solidFill>
                <a:effectLst/>
                <a:latin typeface="Consolas" panose="020B0609020204030204" pitchFamily="49" charset="0"/>
              </a:rPr>
              <a:t>);</a:t>
            </a:r>
          </a:p>
          <a:p>
            <a:r>
              <a:rPr lang="ru-RU" sz="1600" b="0" dirty="0">
                <a:solidFill>
                  <a:srgbClr val="000000"/>
                </a:solidFill>
                <a:effectLst/>
                <a:latin typeface="Consolas" panose="020B0609020204030204" pitchFamily="49" charset="0"/>
              </a:rPr>
              <a:t>}</a:t>
            </a:r>
          </a:p>
        </p:txBody>
      </p:sp>
      <p:sp>
        <p:nvSpPr>
          <p:cNvPr id="8" name="Rectangle 1">
            <a:extLst>
              <a:ext uri="{FF2B5EF4-FFF2-40B4-BE49-F238E27FC236}">
                <a16:creationId xmlns:a16="http://schemas.microsoft.com/office/drawing/2014/main" id="{FAEC1D4F-6BB5-E3EE-8ED9-BB4858F620D4}"/>
              </a:ext>
            </a:extLst>
          </p:cNvPr>
          <p:cNvSpPr>
            <a:spLocks noChangeArrowheads="1"/>
          </p:cNvSpPr>
          <p:nvPr/>
        </p:nvSpPr>
        <p:spPr bwMode="auto">
          <a:xfrm>
            <a:off x="6797040" y="3786515"/>
            <a:ext cx="2401619" cy="58477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Ответ:</a:t>
            </a:r>
            <a:endPar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if (score &lt; 0 || score &gt; 100)</a:t>
            </a:r>
          </a:p>
        </p:txBody>
      </p:sp>
    </p:spTree>
    <p:extLst>
      <p:ext uri="{BB962C8B-B14F-4D97-AF65-F5344CB8AC3E}">
        <p14:creationId xmlns:p14="http://schemas.microsoft.com/office/powerpoint/2010/main" val="380245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DB13E4-E611-AA80-3FB5-23B37B596C7D}"/>
              </a:ext>
            </a:extLst>
          </p:cNvPr>
          <p:cNvSpPr txBox="1"/>
          <p:nvPr/>
        </p:nvSpPr>
        <p:spPr>
          <a:xfrm>
            <a:off x="487680" y="1056144"/>
            <a:ext cx="6096000" cy="4185761"/>
          </a:xfrm>
          <a:prstGeom prst="rect">
            <a:avLst/>
          </a:prstGeom>
          <a:noFill/>
        </p:spPr>
        <p:txBody>
          <a:bodyPr wrap="square">
            <a:spAutoFit/>
          </a:bodyPr>
          <a:lstStyle/>
          <a:p>
            <a:r>
              <a:rPr lang="en-US" sz="1400" b="0" dirty="0">
                <a:solidFill>
                  <a:srgbClr val="001080"/>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4</a:t>
            </a:r>
            <a:r>
              <a:rPr lang="en-US" sz="1400" b="0" dirty="0">
                <a:solidFill>
                  <a:srgbClr val="000000"/>
                </a:solidFill>
                <a:effectLst/>
                <a:latin typeface="Consolas" panose="020B0609020204030204" pitchFamily="49" charset="0"/>
              </a:rPr>
              <a:t>;</a:t>
            </a:r>
          </a:p>
          <a:p>
            <a:r>
              <a:rPr lang="en-US" sz="1400" b="0" dirty="0">
                <a:solidFill>
                  <a:srgbClr val="001080"/>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AF00DB"/>
                </a:solidFill>
                <a:effectLst/>
                <a:latin typeface="Consolas" panose="020B0609020204030204" pitchFamily="49" charset="0"/>
              </a:rPr>
              <a:t>switch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command</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Добавить"</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Удалить"</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case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3</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 = </a:t>
            </a:r>
            <a:r>
              <a:rPr lang="en-US" sz="1400" b="0" dirty="0">
                <a:solidFill>
                  <a:srgbClr val="A31515"/>
                </a:solidFill>
                <a:effectLst/>
                <a:latin typeface="Consolas" panose="020B0609020204030204" pitchFamily="49" charset="0"/>
              </a:rPr>
              <a:t>"</a:t>
            </a:r>
            <a:r>
              <a:rPr lang="ru-RU" sz="1400" b="0" dirty="0">
                <a:solidFill>
                  <a:srgbClr val="A31515"/>
                </a:solidFill>
                <a:effectLst/>
                <a:latin typeface="Consolas" panose="020B0609020204030204" pitchFamily="49" charset="0"/>
              </a:rPr>
              <a:t>Изменить"</a:t>
            </a:r>
            <a:r>
              <a:rPr lang="ru-RU" sz="1400" b="0" dirty="0">
                <a:solidFill>
                  <a:srgbClr val="000000"/>
                </a:solidFill>
                <a:effectLst/>
                <a:latin typeface="Consolas" panose="020B0609020204030204" pitchFamily="49" charset="0"/>
              </a:rPr>
              <a:t>;</a:t>
            </a:r>
          </a:p>
          <a:p>
            <a:r>
              <a:rPr lang="ru-RU"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break</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err="1">
                <a:solidFill>
                  <a:srgbClr val="001080"/>
                </a:solidFill>
                <a:effectLst/>
                <a:latin typeface="Consolas" panose="020B0609020204030204" pitchFamily="49" charset="0"/>
              </a:rPr>
              <a:t>Console</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WriteLine</a:t>
            </a:r>
            <a:r>
              <a:rPr lang="en-US" sz="1400" b="0" dirty="0">
                <a:solidFill>
                  <a:srgbClr val="000000"/>
                </a:solidFill>
                <a:effectLst/>
                <a:latin typeface="Consolas" panose="020B0609020204030204" pitchFamily="49" charset="0"/>
              </a:rPr>
              <a:t>(</a:t>
            </a:r>
            <a:r>
              <a:rPr lang="en-US" sz="1400" b="0" dirty="0">
                <a:solidFill>
                  <a:srgbClr val="001080"/>
                </a:solidFill>
                <a:effectLst/>
                <a:latin typeface="Consolas" panose="020B0609020204030204" pitchFamily="49" charset="0"/>
              </a:rPr>
              <a:t>message</a:t>
            </a:r>
            <a:r>
              <a:rPr lang="en-US"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6B473D96-3B56-FAA1-5E41-42E0CBFBABA6}"/>
              </a:ext>
            </a:extLst>
          </p:cNvPr>
          <p:cNvSpPr txBox="1"/>
          <p:nvPr/>
        </p:nvSpPr>
        <p:spPr>
          <a:xfrm>
            <a:off x="3423920" y="247134"/>
            <a:ext cx="6096000" cy="369332"/>
          </a:xfrm>
          <a:prstGeom prst="rect">
            <a:avLst/>
          </a:prstGeom>
          <a:noFill/>
        </p:spPr>
        <p:txBody>
          <a:bodyPr wrap="square">
            <a:spAutoFit/>
          </a:bodyPr>
          <a:lstStyle/>
          <a:p>
            <a:pPr algn="ctr"/>
            <a:r>
              <a:rPr lang="ru-RU" b="1" dirty="0">
                <a:latin typeface="Times New Roman" panose="02020603050405020304" pitchFamily="18" charset="0"/>
                <a:cs typeface="Times New Roman" panose="02020603050405020304" pitchFamily="18" charset="0"/>
              </a:rPr>
              <a:t>Почему программа не компилируется?</a:t>
            </a:r>
          </a:p>
        </p:txBody>
      </p:sp>
      <p:sp>
        <p:nvSpPr>
          <p:cNvPr id="8" name="Rectangle 1">
            <a:extLst>
              <a:ext uri="{FF2B5EF4-FFF2-40B4-BE49-F238E27FC236}">
                <a16:creationId xmlns:a16="http://schemas.microsoft.com/office/drawing/2014/main" id="{2A1464E1-66F8-9134-CD76-0BBE3681A7C6}"/>
              </a:ext>
            </a:extLst>
          </p:cNvPr>
          <p:cNvSpPr>
            <a:spLocks noChangeArrowheads="1"/>
          </p:cNvSpPr>
          <p:nvPr/>
        </p:nvSpPr>
        <p:spPr bwMode="auto">
          <a:xfrm>
            <a:off x="5562282" y="4076363"/>
            <a:ext cx="5573078" cy="1815882"/>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Ответ:</a:t>
            </a:r>
            <a:endPar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Переменная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может остаться без значения, если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command</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не равен 1, 2 или 3.</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Добавить:</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default</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dirty="0">
                <a:solidFill>
                  <a:schemeClr val="tx1"/>
                </a:solidFill>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message</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"Неизвестная команда"; </a:t>
            </a: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600" dirty="0">
                <a:solidFill>
                  <a:schemeClr val="tx1"/>
                </a:solidFill>
                <a:latin typeface="Times New Roman" panose="02020603050405020304" pitchFamily="18" charset="0"/>
                <a:cs typeface="Times New Roman" panose="02020603050405020304" pitchFamily="18" charset="0"/>
              </a:rPr>
              <a:t>        </a:t>
            </a:r>
            <a:r>
              <a:rPr kumimoji="0" lang="ru-RU" altLang="ru-RU"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break</a:t>
            </a:r>
            <a:r>
              <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1688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1_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7807</Words>
  <Application>Microsoft Office PowerPoint</Application>
  <PresentationFormat>Широкоэкранный</PresentationFormat>
  <Paragraphs>810</Paragraphs>
  <Slides>21</Slides>
  <Notes>18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21</vt:i4>
      </vt:variant>
    </vt:vector>
  </HeadingPairs>
  <TitlesOfParts>
    <vt:vector size="28" baseType="lpstr">
      <vt:lpstr>Aptos</vt:lpstr>
      <vt:lpstr>Arial</vt:lpstr>
      <vt:lpstr>Calibri</vt:lpstr>
      <vt:lpstr>Consolas</vt:lpstr>
      <vt:lpstr>KyivType Sans Heavy</vt:lpstr>
      <vt:lpstr>Times New Roman</vt:lpstr>
      <vt:lpstr>1_Тема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LightKey.Store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Наиля Мавлюдова</dc:creator>
  <cp:lastModifiedBy>Преподаватель</cp:lastModifiedBy>
  <cp:revision>5</cp:revision>
  <dcterms:created xsi:type="dcterms:W3CDTF">2026-10-04T12:37:28Z</dcterms:created>
  <dcterms:modified xsi:type="dcterms:W3CDTF">2026-10-07T12:22:31Z</dcterms:modified>
</cp:coreProperties>
</file>